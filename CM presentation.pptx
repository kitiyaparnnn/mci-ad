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Open Sans ExtraBold"/>
      <p:bold r:id="rId21"/>
      <p:boldItalic r:id="rId22"/>
    </p:embeddedFont>
    <p:embeddedFont>
      <p:font typeface="Crimson Text"/>
      <p:regular r:id="rId23"/>
      <p:bold r:id="rId24"/>
      <p:italic r:id="rId25"/>
      <p:boldItalic r:id="rId26"/>
    </p:embeddedFont>
    <p:embeddedFont>
      <p:font typeface="Open Sans Light"/>
      <p:regular r:id="rId27"/>
      <p:bold r:id="rId28"/>
      <p:italic r:id="rId29"/>
      <p:boldItalic r:id="rId30"/>
    </p:embeddedFont>
    <p:embeddedFont>
      <p:font typeface="Open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0A18DF9-EE79-4AF2-9571-923690394596}">
  <a:tblStyle styleId="{10A18DF9-EE79-4AF2-9571-92369039459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OpenSansExtraBold-boldItalic.fntdata"/><Relationship Id="rId21" Type="http://schemas.openxmlformats.org/officeDocument/2006/relationships/font" Target="fonts/OpenSansExtraBold-bold.fntdata"/><Relationship Id="rId24" Type="http://schemas.openxmlformats.org/officeDocument/2006/relationships/font" Target="fonts/CrimsonText-bold.fntdata"/><Relationship Id="rId23" Type="http://schemas.openxmlformats.org/officeDocument/2006/relationships/font" Target="fonts/CrimsonTex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CrimsonText-boldItalic.fntdata"/><Relationship Id="rId25" Type="http://schemas.openxmlformats.org/officeDocument/2006/relationships/font" Target="fonts/CrimsonText-italic.fntdata"/><Relationship Id="rId28" Type="http://schemas.openxmlformats.org/officeDocument/2006/relationships/font" Target="fonts/OpenSansLight-bold.fntdata"/><Relationship Id="rId27" Type="http://schemas.openxmlformats.org/officeDocument/2006/relationships/font" Target="fonts/OpenSansLight-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OpenSansLight-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regular.fntdata"/><Relationship Id="rId30" Type="http://schemas.openxmlformats.org/officeDocument/2006/relationships/font" Target="fonts/OpenSansLight-boldItalic.fntdata"/><Relationship Id="rId11" Type="http://schemas.openxmlformats.org/officeDocument/2006/relationships/slide" Target="slides/slide5.xml"/><Relationship Id="rId33" Type="http://schemas.openxmlformats.org/officeDocument/2006/relationships/font" Target="fonts/OpenSans-italic.fntdata"/><Relationship Id="rId10" Type="http://schemas.openxmlformats.org/officeDocument/2006/relationships/slide" Target="slides/slide4.xml"/><Relationship Id="rId32" Type="http://schemas.openxmlformats.org/officeDocument/2006/relationships/font" Target="fonts/OpenSans-bold.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OpenSans-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684e2e73d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684e2e73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b77fb9e6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b77fb9e6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b77fb9e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b77fb9e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ab546e6be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ab546e6be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684e2e73d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a684e2e73d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Kiti: Collect genes that intersect between train cohort and external cohort </a:t>
            </a:r>
            <a:endParaRPr/>
          </a:p>
          <a:p>
            <a:pPr indent="0" lvl="0" marL="0" rtl="0" algn="l">
              <a:spcBef>
                <a:spcPts val="0"/>
              </a:spcBef>
              <a:spcAft>
                <a:spcPts val="0"/>
              </a:spcAft>
              <a:buNone/>
            </a:pPr>
            <a:r>
              <a:rPr lang="en"/>
              <a:t>Filter out genes that low </a:t>
            </a:r>
            <a:r>
              <a:rPr lang="en"/>
              <a:t>occurrence</a:t>
            </a:r>
            <a:r>
              <a:rPr lang="en"/>
              <a:t> b</a:t>
            </a:r>
            <a:r>
              <a:rPr lang="en"/>
              <a:t> calculating mean and standard deviation for each gene across all samples and use the mean threshold=0.5 and the std threshold=0.8</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684e2e73d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a684e2e73d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684e2e73d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a684e2e73d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Kiti:</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a919dad92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a919dad92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919dad92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a919dad92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a919dad920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a919dad92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a684e2e73d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a684e2e73d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 set enrichment analysis (GSEA)</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a684e2e73d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a684e2e73d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ab77fb9e6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ab77fb9e6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9" name="Shape 9"/>
        <p:cNvGrpSpPr/>
        <p:nvPr/>
      </p:nvGrpSpPr>
      <p:grpSpPr>
        <a:xfrm>
          <a:off x="0" y="0"/>
          <a:ext cx="0" cy="0"/>
          <a:chOff x="0" y="0"/>
          <a:chExt cx="0" cy="0"/>
        </a:xfrm>
      </p:grpSpPr>
      <p:pic>
        <p:nvPicPr>
          <p:cNvPr descr="Picture 6" id="10" name="Google Shape;10;p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1" name="Google Shape;11;p2"/>
          <p:cNvSpPr/>
          <p:nvPr/>
        </p:nvSpPr>
        <p:spPr>
          <a:xfrm>
            <a:off x="3729625" y="0"/>
            <a:ext cx="5414400" cy="5143500"/>
          </a:xfrm>
          <a:prstGeom prst="rect">
            <a:avLst/>
          </a:prstGeom>
          <a:solidFill>
            <a:srgbClr val="F2F2F2"/>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cxnSp>
        <p:nvCxnSpPr>
          <p:cNvPr id="12" name="Google Shape;12;p2"/>
          <p:cNvCxnSpPr/>
          <p:nvPr/>
        </p:nvCxnSpPr>
        <p:spPr>
          <a:xfrm>
            <a:off x="4332173" y="2808962"/>
            <a:ext cx="4265400" cy="0"/>
          </a:xfrm>
          <a:prstGeom prst="straightConnector1">
            <a:avLst/>
          </a:prstGeom>
          <a:noFill/>
          <a:ln cap="flat" cmpd="sng" w="9525">
            <a:solidFill>
              <a:srgbClr val="A5A5A5"/>
            </a:solidFill>
            <a:prstDash val="solid"/>
            <a:miter lim="800000"/>
            <a:headEnd len="sm" w="sm" type="none"/>
            <a:tailEnd len="sm" w="sm" type="none"/>
          </a:ln>
        </p:spPr>
      </p:cxnSp>
      <p:sp>
        <p:nvSpPr>
          <p:cNvPr id="13" name="Google Shape;13;p2"/>
          <p:cNvSpPr txBox="1"/>
          <p:nvPr>
            <p:ph idx="1" type="body"/>
          </p:nvPr>
        </p:nvSpPr>
        <p:spPr>
          <a:xfrm>
            <a:off x="4299347" y="1713310"/>
            <a:ext cx="4298100" cy="900000"/>
          </a:xfrm>
          <a:prstGeom prst="rect">
            <a:avLst/>
          </a:prstGeom>
          <a:noFill/>
          <a:ln>
            <a:noFill/>
          </a:ln>
        </p:spPr>
        <p:txBody>
          <a:bodyPr anchorCtr="0" anchor="ctr" bIns="34275" lIns="34275" spcFirstLastPara="1" rIns="34275" wrap="square" tIns="34275">
            <a:normAutofit/>
          </a:bodyPr>
          <a:lstStyle>
            <a:lvl1pPr indent="-228600" lvl="0" marL="457200" algn="l">
              <a:lnSpc>
                <a:spcPct val="90000"/>
              </a:lnSpc>
              <a:spcBef>
                <a:spcPts val="800"/>
              </a:spcBef>
              <a:spcAft>
                <a:spcPts val="0"/>
              </a:spcAft>
              <a:buClr>
                <a:srgbClr val="5D5D5D"/>
              </a:buClr>
              <a:buSzPts val="2700"/>
              <a:buNone/>
              <a:defRPr sz="2700">
                <a:solidFill>
                  <a:srgbClr val="5D5D5D"/>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23850" lvl="4" marL="2286000" algn="l">
              <a:lnSpc>
                <a:spcPct val="90000"/>
              </a:lnSpc>
              <a:spcBef>
                <a:spcPts val="800"/>
              </a:spcBef>
              <a:spcAft>
                <a:spcPts val="0"/>
              </a:spcAft>
              <a:buClr>
                <a:srgbClr val="5D5D5D"/>
              </a:buClr>
              <a:buSzPts val="15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14" name="Google Shape;14;p2"/>
          <p:cNvSpPr txBox="1"/>
          <p:nvPr>
            <p:ph idx="2" type="body"/>
          </p:nvPr>
        </p:nvSpPr>
        <p:spPr>
          <a:xfrm>
            <a:off x="4341019" y="3020102"/>
            <a:ext cx="2452800" cy="253500"/>
          </a:xfrm>
          <a:prstGeom prst="rect">
            <a:avLst/>
          </a:prstGeom>
          <a:noFill/>
          <a:ln>
            <a:noFill/>
          </a:ln>
        </p:spPr>
        <p:txBody>
          <a:bodyPr anchorCtr="0" anchor="ctr" bIns="34275" lIns="34275" spcFirstLastPara="1" rIns="34275" wrap="square" tIns="34275">
            <a:normAutofit/>
          </a:bodyPr>
          <a:lstStyle>
            <a:lvl1pPr indent="-228600" lvl="0" marL="457200" algn="l">
              <a:lnSpc>
                <a:spcPct val="90000"/>
              </a:lnSpc>
              <a:spcBef>
                <a:spcPts val="800"/>
              </a:spcBef>
              <a:spcAft>
                <a:spcPts val="0"/>
              </a:spcAft>
              <a:buClr>
                <a:srgbClr val="5D5D5D"/>
              </a:buClr>
              <a:buSzPts val="1200"/>
              <a:buNone/>
              <a:defRPr b="1" sz="1200" cap="none">
                <a:solidFill>
                  <a:srgbClr val="5D5D5D"/>
                </a:solidFill>
                <a:latin typeface="Open Sans"/>
                <a:ea typeface="Open Sans"/>
                <a:cs typeface="Open Sans"/>
                <a:sym typeface="Open Sans"/>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pic>
        <p:nvPicPr>
          <p:cNvPr id="15" name="Google Shape;15;p2"/>
          <p:cNvPicPr preferRelativeResize="0"/>
          <p:nvPr/>
        </p:nvPicPr>
        <p:blipFill rotWithShape="1">
          <a:blip r:embed="rId3">
            <a:alphaModFix/>
          </a:blip>
          <a:srcRect b="0" l="0" r="0" t="0"/>
          <a:stretch/>
        </p:blipFill>
        <p:spPr>
          <a:xfrm>
            <a:off x="1953407" y="1917166"/>
            <a:ext cx="1558578" cy="989752"/>
          </a:xfrm>
          <a:prstGeom prst="rect">
            <a:avLst/>
          </a:prstGeom>
          <a:noFill/>
          <a:ln>
            <a:noFill/>
          </a:ln>
        </p:spPr>
      </p:pic>
      <p:sp>
        <p:nvSpPr>
          <p:cNvPr id="16" name="Google Shape;16;p2"/>
          <p:cNvSpPr txBox="1"/>
          <p:nvPr>
            <p:ph idx="3" type="body"/>
          </p:nvPr>
        </p:nvSpPr>
        <p:spPr>
          <a:xfrm>
            <a:off x="4336418" y="3336808"/>
            <a:ext cx="4444500" cy="484500"/>
          </a:xfrm>
          <a:prstGeom prst="rect">
            <a:avLst/>
          </a:prstGeom>
          <a:noFill/>
          <a:ln>
            <a:noFill/>
          </a:ln>
        </p:spPr>
        <p:txBody>
          <a:bodyPr anchorCtr="0" anchor="t" bIns="34275" lIns="34275" spcFirstLastPara="1" rIns="34275" wrap="square" tIns="34275">
            <a:noAutofit/>
          </a:bodyPr>
          <a:lstStyle>
            <a:lvl1pPr indent="-228600" lvl="0" marL="457200" algn="l">
              <a:lnSpc>
                <a:spcPct val="100000"/>
              </a:lnSpc>
              <a:spcBef>
                <a:spcPts val="0"/>
              </a:spcBef>
              <a:spcAft>
                <a:spcPts val="0"/>
              </a:spcAft>
              <a:buClr>
                <a:srgbClr val="5D5D5D"/>
              </a:buClr>
              <a:buSzPts val="1400"/>
              <a:buNone/>
              <a:defRPr sz="1400">
                <a:solidFill>
                  <a:srgbClr val="5D5D5D"/>
                </a:solidFill>
                <a:latin typeface="Open Sans"/>
                <a:ea typeface="Open Sans"/>
                <a:cs typeface="Open Sans"/>
                <a:sym typeface="Open Sans"/>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p:cSld name="Agenda Slide">
    <p:spTree>
      <p:nvGrpSpPr>
        <p:cNvPr id="17" name="Shape 17"/>
        <p:cNvGrpSpPr/>
        <p:nvPr/>
      </p:nvGrpSpPr>
      <p:grpSpPr>
        <a:xfrm>
          <a:off x="0" y="0"/>
          <a:ext cx="0" cy="0"/>
          <a:chOff x="0" y="0"/>
          <a:chExt cx="0" cy="0"/>
        </a:xfrm>
      </p:grpSpPr>
      <p:pic>
        <p:nvPicPr>
          <p:cNvPr descr="Picture 6" id="18" name="Google Shape;18;p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9" name="Google Shape;19;p3"/>
          <p:cNvSpPr/>
          <p:nvPr/>
        </p:nvSpPr>
        <p:spPr>
          <a:xfrm>
            <a:off x="441542" y="441543"/>
            <a:ext cx="8260800" cy="4260300"/>
          </a:xfrm>
          <a:prstGeom prst="rect">
            <a:avLst/>
          </a:prstGeom>
          <a:solidFill>
            <a:srgbClr val="F2F2F2"/>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cxnSp>
        <p:nvCxnSpPr>
          <p:cNvPr id="20" name="Google Shape;20;p3"/>
          <p:cNvCxnSpPr/>
          <p:nvPr/>
        </p:nvCxnSpPr>
        <p:spPr>
          <a:xfrm>
            <a:off x="1318364" y="1526845"/>
            <a:ext cx="6403800" cy="0"/>
          </a:xfrm>
          <a:prstGeom prst="straightConnector1">
            <a:avLst/>
          </a:prstGeom>
          <a:noFill/>
          <a:ln cap="flat" cmpd="sng" w="9525">
            <a:solidFill>
              <a:srgbClr val="A5A5A5"/>
            </a:solidFill>
            <a:prstDash val="solid"/>
            <a:miter lim="800000"/>
            <a:headEnd len="sm" w="sm" type="none"/>
            <a:tailEnd len="sm" w="sm" type="none"/>
          </a:ln>
        </p:spPr>
      </p:cxnSp>
      <p:sp>
        <p:nvSpPr>
          <p:cNvPr id="21" name="Google Shape;21;p3"/>
          <p:cNvSpPr txBox="1"/>
          <p:nvPr>
            <p:ph idx="1" type="body"/>
          </p:nvPr>
        </p:nvSpPr>
        <p:spPr>
          <a:xfrm>
            <a:off x="1290638" y="1828800"/>
            <a:ext cx="6431700" cy="2102700"/>
          </a:xfrm>
          <a:prstGeom prst="rect">
            <a:avLst/>
          </a:prstGeom>
          <a:noFill/>
          <a:ln>
            <a:noFill/>
          </a:ln>
        </p:spPr>
        <p:txBody>
          <a:bodyPr anchorCtr="0" anchor="t" bIns="34275" lIns="34275" spcFirstLastPara="1" rIns="34275" wrap="square" tIns="34275">
            <a:normAutofit/>
          </a:bodyPr>
          <a:lstStyle>
            <a:lvl1pPr indent="-342900" lvl="0" marL="457200" algn="l">
              <a:lnSpc>
                <a:spcPct val="150000"/>
              </a:lnSpc>
              <a:spcBef>
                <a:spcPts val="0"/>
              </a:spcBef>
              <a:spcAft>
                <a:spcPts val="0"/>
              </a:spcAft>
              <a:buClr>
                <a:srgbClr val="5D5D5D"/>
              </a:buClr>
              <a:buSzPts val="1800"/>
              <a:buFont typeface="Open Sans ExtraBold"/>
              <a:buAutoNum type="arabicPeriod"/>
              <a:defRPr sz="1800">
                <a:solidFill>
                  <a:srgbClr val="5D5D5D"/>
                </a:solidFill>
                <a:latin typeface="Open Sans"/>
                <a:ea typeface="Open Sans"/>
                <a:cs typeface="Open Sans"/>
                <a:sym typeface="Open Sans"/>
              </a:defRPr>
            </a:lvl1pPr>
            <a:lvl2pPr indent="-342900" lvl="1" marL="914400" algn="l">
              <a:lnSpc>
                <a:spcPct val="150000"/>
              </a:lnSpc>
              <a:spcBef>
                <a:spcPts val="800"/>
              </a:spcBef>
              <a:spcAft>
                <a:spcPts val="0"/>
              </a:spcAft>
              <a:buClr>
                <a:srgbClr val="828282"/>
              </a:buClr>
              <a:buSzPts val="1800"/>
              <a:buFont typeface="Open Sans ExtraBold"/>
              <a:buAutoNum type="arabicPeriod"/>
              <a:defRPr sz="1800">
                <a:solidFill>
                  <a:srgbClr val="828282"/>
                </a:solidFill>
                <a:latin typeface="Open Sans"/>
                <a:ea typeface="Open Sans"/>
                <a:cs typeface="Open Sans"/>
                <a:sym typeface="Open Sans"/>
              </a:defRPr>
            </a:lvl2pPr>
            <a:lvl3pPr indent="-342900" lvl="2" marL="1371600" algn="l">
              <a:lnSpc>
                <a:spcPct val="150000"/>
              </a:lnSpc>
              <a:spcBef>
                <a:spcPts val="800"/>
              </a:spcBef>
              <a:spcAft>
                <a:spcPts val="0"/>
              </a:spcAft>
              <a:buClr>
                <a:srgbClr val="828282"/>
              </a:buClr>
              <a:buSzPts val="1800"/>
              <a:buFont typeface="Open Sans ExtraBold"/>
              <a:buAutoNum type="arabicPeriod"/>
              <a:defRPr sz="1800">
                <a:solidFill>
                  <a:srgbClr val="828282"/>
                </a:solidFill>
                <a:latin typeface="Open Sans"/>
                <a:ea typeface="Open Sans"/>
                <a:cs typeface="Open Sans"/>
                <a:sym typeface="Open Sans"/>
              </a:defRPr>
            </a:lvl3pPr>
            <a:lvl4pPr indent="-342900" lvl="3" marL="1828800" algn="l">
              <a:lnSpc>
                <a:spcPct val="150000"/>
              </a:lnSpc>
              <a:spcBef>
                <a:spcPts val="800"/>
              </a:spcBef>
              <a:spcAft>
                <a:spcPts val="0"/>
              </a:spcAft>
              <a:buClr>
                <a:srgbClr val="828282"/>
              </a:buClr>
              <a:buSzPts val="1800"/>
              <a:buFont typeface="Open Sans ExtraBold"/>
              <a:buAutoNum type="arabicPeriod"/>
              <a:defRPr sz="1800">
                <a:solidFill>
                  <a:srgbClr val="828282"/>
                </a:solidFill>
                <a:latin typeface="Open Sans"/>
                <a:ea typeface="Open Sans"/>
                <a:cs typeface="Open Sans"/>
                <a:sym typeface="Open Sans"/>
              </a:defRPr>
            </a:lvl4pPr>
            <a:lvl5pPr indent="-342900" lvl="4" marL="2286000" algn="l">
              <a:lnSpc>
                <a:spcPct val="150000"/>
              </a:lnSpc>
              <a:spcBef>
                <a:spcPts val="800"/>
              </a:spcBef>
              <a:spcAft>
                <a:spcPts val="0"/>
              </a:spcAft>
              <a:buClr>
                <a:srgbClr val="828282"/>
              </a:buClr>
              <a:buSzPts val="1800"/>
              <a:buFont typeface="Open Sans ExtraBold"/>
              <a:buAutoNum type="arabicPeriod"/>
              <a:defRPr sz="1800">
                <a:solidFill>
                  <a:srgbClr val="828282"/>
                </a:solidFill>
                <a:latin typeface="Open Sans"/>
                <a:ea typeface="Open Sans"/>
                <a:cs typeface="Open Sans"/>
                <a:sym typeface="Open Sans"/>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22" name="Google Shape;22;p3"/>
          <p:cNvSpPr txBox="1"/>
          <p:nvPr/>
        </p:nvSpPr>
        <p:spPr>
          <a:xfrm>
            <a:off x="1365338" y="915710"/>
            <a:ext cx="4412400" cy="4848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5D5D5D"/>
              </a:buClr>
              <a:buSzPts val="2700"/>
              <a:buFont typeface="Open Sans Light"/>
              <a:buNone/>
            </a:pPr>
            <a:r>
              <a:rPr b="0" i="0" lang="en" sz="2700" u="none" cap="none" strike="noStrike">
                <a:solidFill>
                  <a:srgbClr val="5D5D5D"/>
                </a:solidFill>
                <a:latin typeface="Open Sans Light"/>
                <a:ea typeface="Open Sans Light"/>
                <a:cs typeface="Open Sans Light"/>
                <a:sym typeface="Open Sans Light"/>
              </a:rPr>
              <a:t>Agenda</a:t>
            </a:r>
            <a:endParaRPr b="0" i="0" sz="2700" u="none" cap="none" strike="noStrike">
              <a:solidFill>
                <a:srgbClr val="5D5D5D"/>
              </a:solidFill>
              <a:latin typeface="Open Sans Light"/>
              <a:ea typeface="Open Sans Light"/>
              <a:cs typeface="Open Sans Light"/>
              <a:sym typeface="Open Sans Ligh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Section Title">
    <p:spTree>
      <p:nvGrpSpPr>
        <p:cNvPr id="23" name="Shape 23"/>
        <p:cNvGrpSpPr/>
        <p:nvPr/>
      </p:nvGrpSpPr>
      <p:grpSpPr>
        <a:xfrm>
          <a:off x="0" y="0"/>
          <a:ext cx="0" cy="0"/>
          <a:chOff x="0" y="0"/>
          <a:chExt cx="0" cy="0"/>
        </a:xfrm>
      </p:grpSpPr>
      <p:pic>
        <p:nvPicPr>
          <p:cNvPr descr="Picture 6" id="24" name="Google Shape;24;p4"/>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id="25" name="Google Shape;25;p4"/>
          <p:cNvPicPr preferRelativeResize="0"/>
          <p:nvPr/>
        </p:nvPicPr>
        <p:blipFill rotWithShape="1">
          <a:blip r:embed="rId3">
            <a:alphaModFix/>
          </a:blip>
          <a:srcRect b="0" l="0" r="0" t="0"/>
          <a:stretch/>
        </p:blipFill>
        <p:spPr>
          <a:xfrm>
            <a:off x="6738588" y="4781811"/>
            <a:ext cx="2158020" cy="189716"/>
          </a:xfrm>
          <a:prstGeom prst="rect">
            <a:avLst/>
          </a:prstGeom>
          <a:noFill/>
          <a:ln>
            <a:noFill/>
          </a:ln>
        </p:spPr>
      </p:pic>
      <p:sp>
        <p:nvSpPr>
          <p:cNvPr id="26" name="Google Shape;26;p4"/>
          <p:cNvSpPr txBox="1"/>
          <p:nvPr>
            <p:ph idx="1" type="body"/>
          </p:nvPr>
        </p:nvSpPr>
        <p:spPr>
          <a:xfrm>
            <a:off x="2365772" y="2283619"/>
            <a:ext cx="4412400" cy="576300"/>
          </a:xfrm>
          <a:prstGeom prst="rect">
            <a:avLst/>
          </a:prstGeom>
          <a:noFill/>
          <a:ln>
            <a:noFill/>
          </a:ln>
        </p:spPr>
        <p:txBody>
          <a:bodyPr anchorCtr="0" anchor="ctr" bIns="34275" lIns="34275" spcFirstLastPara="1" rIns="34275" wrap="square" tIns="34275">
            <a:noAutofit/>
          </a:bodyPr>
          <a:lstStyle>
            <a:lvl1pPr indent="-228600" lvl="0" marL="457200" algn="ctr">
              <a:lnSpc>
                <a:spcPct val="100000"/>
              </a:lnSpc>
              <a:spcBef>
                <a:spcPts val="0"/>
              </a:spcBef>
              <a:spcAft>
                <a:spcPts val="0"/>
              </a:spcAft>
              <a:buClr>
                <a:schemeClr val="lt1"/>
              </a:buClr>
              <a:buSzPts val="3300"/>
              <a:buNone/>
              <a:defRPr sz="3300">
                <a:solidFill>
                  <a:schemeClr val="lt1"/>
                </a:solidFill>
              </a:defRPr>
            </a:lvl1pPr>
            <a:lvl2pPr indent="-438150" lvl="1" marL="914400" algn="l">
              <a:lnSpc>
                <a:spcPct val="90000"/>
              </a:lnSpc>
              <a:spcBef>
                <a:spcPts val="800"/>
              </a:spcBef>
              <a:spcAft>
                <a:spcPts val="0"/>
              </a:spcAft>
              <a:buClr>
                <a:srgbClr val="5D5D5D"/>
              </a:buClr>
              <a:buSzPts val="3300"/>
              <a:buChar char="•"/>
              <a:defRPr sz="3300"/>
            </a:lvl2pPr>
            <a:lvl3pPr indent="-438150" lvl="2" marL="1371600" algn="l">
              <a:lnSpc>
                <a:spcPct val="90000"/>
              </a:lnSpc>
              <a:spcBef>
                <a:spcPts val="800"/>
              </a:spcBef>
              <a:spcAft>
                <a:spcPts val="0"/>
              </a:spcAft>
              <a:buClr>
                <a:srgbClr val="5D5D5D"/>
              </a:buClr>
              <a:buSzPts val="3300"/>
              <a:buChar char="•"/>
              <a:defRPr sz="3300"/>
            </a:lvl3pPr>
            <a:lvl4pPr indent="-438150" lvl="3" marL="1828800" algn="l">
              <a:lnSpc>
                <a:spcPct val="90000"/>
              </a:lnSpc>
              <a:spcBef>
                <a:spcPts val="800"/>
              </a:spcBef>
              <a:spcAft>
                <a:spcPts val="0"/>
              </a:spcAft>
              <a:buClr>
                <a:srgbClr val="5D5D5D"/>
              </a:buClr>
              <a:buSzPts val="3300"/>
              <a:buChar char="•"/>
              <a:defRPr sz="3300"/>
            </a:lvl4pPr>
            <a:lvl5pPr indent="-438150" lvl="4" marL="2286000" algn="l">
              <a:lnSpc>
                <a:spcPct val="90000"/>
              </a:lnSpc>
              <a:spcBef>
                <a:spcPts val="800"/>
              </a:spcBef>
              <a:spcAft>
                <a:spcPts val="0"/>
              </a:spcAft>
              <a:buClr>
                <a:srgbClr val="5D5D5D"/>
              </a:buClr>
              <a:buSzPts val="3300"/>
              <a:buChar char="•"/>
              <a:defRPr sz="3300"/>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with Headline">
  <p:cSld name="Text with Headline">
    <p:spTree>
      <p:nvGrpSpPr>
        <p:cNvPr id="27" name="Shape 27"/>
        <p:cNvGrpSpPr/>
        <p:nvPr/>
      </p:nvGrpSpPr>
      <p:grpSpPr>
        <a:xfrm>
          <a:off x="0" y="0"/>
          <a:ext cx="0" cy="0"/>
          <a:chOff x="0" y="0"/>
          <a:chExt cx="0" cy="0"/>
        </a:xfrm>
      </p:grpSpPr>
      <p:pic>
        <p:nvPicPr>
          <p:cNvPr descr="Picture 6" id="28" name="Google Shape;28;p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9" name="Google Shape;29;p5"/>
          <p:cNvSpPr/>
          <p:nvPr/>
        </p:nvSpPr>
        <p:spPr>
          <a:xfrm>
            <a:off x="864296" y="0"/>
            <a:ext cx="8279700" cy="5143500"/>
          </a:xfrm>
          <a:prstGeom prst="rect">
            <a:avLst/>
          </a:prstGeom>
          <a:solidFill>
            <a:schemeClr val="lt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cxnSp>
        <p:nvCxnSpPr>
          <p:cNvPr id="30" name="Google Shape;30;p5"/>
          <p:cNvCxnSpPr/>
          <p:nvPr/>
        </p:nvCxnSpPr>
        <p:spPr>
          <a:xfrm>
            <a:off x="1788091" y="1501329"/>
            <a:ext cx="6883200" cy="0"/>
          </a:xfrm>
          <a:prstGeom prst="straightConnector1">
            <a:avLst/>
          </a:prstGeom>
          <a:noFill/>
          <a:ln cap="flat" cmpd="sng" w="9525">
            <a:solidFill>
              <a:srgbClr val="A5A5A5"/>
            </a:solidFill>
            <a:prstDash val="solid"/>
            <a:miter lim="800000"/>
            <a:headEnd len="sm" w="sm" type="none"/>
            <a:tailEnd len="sm" w="sm" type="none"/>
          </a:ln>
        </p:spPr>
      </p:cxnSp>
      <p:pic>
        <p:nvPicPr>
          <p:cNvPr id="31" name="Google Shape;31;p5"/>
          <p:cNvPicPr preferRelativeResize="0"/>
          <p:nvPr/>
        </p:nvPicPr>
        <p:blipFill rotWithShape="1">
          <a:blip r:embed="rId3">
            <a:alphaModFix/>
          </a:blip>
          <a:srcRect b="0" l="0" r="0" t="0"/>
          <a:stretch/>
        </p:blipFill>
        <p:spPr>
          <a:xfrm>
            <a:off x="6738588" y="4781811"/>
            <a:ext cx="2158020" cy="189716"/>
          </a:xfrm>
          <a:prstGeom prst="rect">
            <a:avLst/>
          </a:prstGeom>
          <a:noFill/>
          <a:ln>
            <a:noFill/>
          </a:ln>
        </p:spPr>
      </p:pic>
      <p:sp>
        <p:nvSpPr>
          <p:cNvPr id="32" name="Google Shape;32;p5"/>
          <p:cNvSpPr txBox="1"/>
          <p:nvPr>
            <p:ph idx="1" type="body"/>
          </p:nvPr>
        </p:nvSpPr>
        <p:spPr>
          <a:xfrm>
            <a:off x="1788319" y="867966"/>
            <a:ext cx="4412400" cy="484500"/>
          </a:xfrm>
          <a:prstGeom prst="rect">
            <a:avLst/>
          </a:prstGeom>
          <a:noFill/>
          <a:ln>
            <a:noFill/>
          </a:ln>
        </p:spPr>
        <p:txBody>
          <a:bodyPr anchorCtr="0" anchor="ctr" bIns="34275" lIns="34275" spcFirstLastPara="1" rIns="34275" wrap="square" tIns="34275">
            <a:normAutofit/>
          </a:bodyPr>
          <a:lstStyle>
            <a:lvl1pPr indent="-228600" lvl="0" marL="457200" algn="l">
              <a:lnSpc>
                <a:spcPct val="90000"/>
              </a:lnSpc>
              <a:spcBef>
                <a:spcPts val="800"/>
              </a:spcBef>
              <a:spcAft>
                <a:spcPts val="0"/>
              </a:spcAft>
              <a:buClr>
                <a:srgbClr val="5D5D5D"/>
              </a:buClr>
              <a:buSzPts val="2700"/>
              <a:buNone/>
              <a:defRPr sz="2700">
                <a:solidFill>
                  <a:srgbClr val="5D5D5D"/>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33" name="Google Shape;33;p5"/>
          <p:cNvSpPr txBox="1"/>
          <p:nvPr>
            <p:ph idx="2" type="body"/>
          </p:nvPr>
        </p:nvSpPr>
        <p:spPr>
          <a:xfrm>
            <a:off x="1759744" y="2311003"/>
            <a:ext cx="5060100" cy="1224000"/>
          </a:xfrm>
          <a:prstGeom prst="rect">
            <a:avLst/>
          </a:prstGeom>
          <a:noFill/>
          <a:ln>
            <a:noFill/>
          </a:ln>
        </p:spPr>
        <p:txBody>
          <a:bodyPr anchorCtr="0" anchor="t" bIns="34275" lIns="34275" spcFirstLastPara="1" rIns="34275" wrap="square" tIns="34275">
            <a:normAutofit/>
          </a:bodyPr>
          <a:lstStyle>
            <a:lvl1pPr indent="-228600" lvl="0" marL="457200" algn="l">
              <a:lnSpc>
                <a:spcPct val="100000"/>
              </a:lnSpc>
              <a:spcBef>
                <a:spcPts val="0"/>
              </a:spcBef>
              <a:spcAft>
                <a:spcPts val="0"/>
              </a:spcAft>
              <a:buClr>
                <a:srgbClr val="5D5D5D"/>
              </a:buClr>
              <a:buSzPts val="1500"/>
              <a:buNone/>
              <a:defRPr>
                <a:solidFill>
                  <a:srgbClr val="5D5D5D"/>
                </a:solidFill>
              </a:defRPr>
            </a:lvl1pPr>
            <a:lvl2pPr indent="-317500" lvl="1" marL="914400" algn="l">
              <a:lnSpc>
                <a:spcPct val="90000"/>
              </a:lnSpc>
              <a:spcBef>
                <a:spcPts val="15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34" name="Google Shape;34;p5"/>
          <p:cNvSpPr txBox="1"/>
          <p:nvPr>
            <p:ph idx="3" type="body"/>
          </p:nvPr>
        </p:nvSpPr>
        <p:spPr>
          <a:xfrm>
            <a:off x="1759744" y="1901429"/>
            <a:ext cx="4979100" cy="300000"/>
          </a:xfrm>
          <a:prstGeom prst="rect">
            <a:avLst/>
          </a:prstGeom>
          <a:noFill/>
          <a:ln>
            <a:noFill/>
          </a:ln>
        </p:spPr>
        <p:txBody>
          <a:bodyPr anchorCtr="0" anchor="ctr" bIns="34275" lIns="34275" spcFirstLastPara="1" rIns="34275" wrap="square" tIns="34275">
            <a:normAutofit/>
          </a:bodyPr>
          <a:lstStyle>
            <a:lvl1pPr indent="-228600" lvl="0" marL="457200" algn="l">
              <a:lnSpc>
                <a:spcPct val="100000"/>
              </a:lnSpc>
              <a:spcBef>
                <a:spcPts val="0"/>
              </a:spcBef>
              <a:spcAft>
                <a:spcPts val="0"/>
              </a:spcAft>
              <a:buClr>
                <a:srgbClr val="5D5D5D"/>
              </a:buClr>
              <a:buSzPts val="1500"/>
              <a:buNone/>
              <a:defRPr b="1">
                <a:solidFill>
                  <a:srgbClr val="5D5D5D"/>
                </a:solidFill>
                <a:latin typeface="Open Sans"/>
                <a:ea typeface="Open Sans"/>
                <a:cs typeface="Open Sans"/>
                <a:sym typeface="Open Sans"/>
              </a:defRPr>
            </a:lvl1pPr>
            <a:lvl2pPr indent="-317500" lvl="1" marL="914400" algn="l">
              <a:lnSpc>
                <a:spcPct val="90000"/>
              </a:lnSpc>
              <a:spcBef>
                <a:spcPts val="15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35" name="Google Shape;35;p5"/>
          <p:cNvSpPr txBox="1"/>
          <p:nvPr>
            <p:ph idx="12" type="sldNum"/>
          </p:nvPr>
        </p:nvSpPr>
        <p:spPr>
          <a:xfrm>
            <a:off x="1759744" y="4738532"/>
            <a:ext cx="262800" cy="253800"/>
          </a:xfrm>
          <a:prstGeom prst="rect">
            <a:avLst/>
          </a:prstGeom>
          <a:noFill/>
          <a:ln>
            <a:noFill/>
          </a:ln>
        </p:spPr>
        <p:txBody>
          <a:bodyPr anchorCtr="0" anchor="ctr" bIns="34275" lIns="34275" spcFirstLastPara="1" rIns="34275" wrap="square" tIns="34275">
            <a:spAutoFit/>
          </a:bodyPr>
          <a:lstStyle>
            <a:lvl1pPr indent="0" lvl="0" marL="0" algn="l">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1pPr>
            <a:lvl2pPr indent="0" lvl="1" marL="0" algn="l">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2pPr>
            <a:lvl3pPr indent="0" lvl="2" marL="0" algn="l">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3pPr>
            <a:lvl4pPr indent="0" lvl="3" marL="0" algn="l">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4pPr>
            <a:lvl5pPr indent="0" lvl="4" marL="0" algn="l">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5pPr>
            <a:lvl6pPr indent="0" lvl="5" marL="0" algn="l">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6pPr>
            <a:lvl7pPr indent="0" lvl="6" marL="0" algn="l">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7pPr>
            <a:lvl8pPr indent="0" lvl="7" marL="0" algn="l">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8pPr>
            <a:lvl9pPr indent="0" lvl="8" marL="0" algn="l">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Column">
  <p:cSld name="Two-Column">
    <p:spTree>
      <p:nvGrpSpPr>
        <p:cNvPr id="36" name="Shape 36"/>
        <p:cNvGrpSpPr/>
        <p:nvPr/>
      </p:nvGrpSpPr>
      <p:grpSpPr>
        <a:xfrm>
          <a:off x="0" y="0"/>
          <a:ext cx="0" cy="0"/>
          <a:chOff x="0" y="0"/>
          <a:chExt cx="0" cy="0"/>
        </a:xfrm>
      </p:grpSpPr>
      <p:pic>
        <p:nvPicPr>
          <p:cNvPr descr="Picture 6" id="37" name="Google Shape;37;p6"/>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8" name="Google Shape;38;p6"/>
          <p:cNvSpPr/>
          <p:nvPr/>
        </p:nvSpPr>
        <p:spPr>
          <a:xfrm>
            <a:off x="864296" y="0"/>
            <a:ext cx="8279700" cy="5143500"/>
          </a:xfrm>
          <a:prstGeom prst="rect">
            <a:avLst/>
          </a:prstGeom>
          <a:solidFill>
            <a:schemeClr val="lt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9" name="Google Shape;39;p6"/>
          <p:cNvSpPr txBox="1"/>
          <p:nvPr>
            <p:ph idx="1" type="body"/>
          </p:nvPr>
        </p:nvSpPr>
        <p:spPr>
          <a:xfrm>
            <a:off x="1759744" y="2233613"/>
            <a:ext cx="3217200" cy="1684800"/>
          </a:xfrm>
          <a:prstGeom prst="rect">
            <a:avLst/>
          </a:prstGeom>
          <a:noFill/>
          <a:ln>
            <a:noFill/>
          </a:ln>
        </p:spPr>
        <p:txBody>
          <a:bodyPr anchorCtr="0" anchor="t" bIns="34275" lIns="34275" spcFirstLastPara="1" rIns="34275" wrap="square" tIns="34275">
            <a:normAutofit/>
          </a:bodyPr>
          <a:lstStyle>
            <a:lvl1pPr indent="-228600" lvl="0" marL="457200" algn="l">
              <a:lnSpc>
                <a:spcPct val="100000"/>
              </a:lnSpc>
              <a:spcBef>
                <a:spcPts val="0"/>
              </a:spcBef>
              <a:spcAft>
                <a:spcPts val="0"/>
              </a:spcAft>
              <a:buClr>
                <a:srgbClr val="5D5D5D"/>
              </a:buClr>
              <a:buSzPts val="1500"/>
              <a:buNone/>
              <a:defRPr>
                <a:solidFill>
                  <a:srgbClr val="5D5D5D"/>
                </a:solidFill>
              </a:defRPr>
            </a:lvl1pPr>
            <a:lvl2pPr indent="-317500" lvl="1" marL="914400" algn="l">
              <a:lnSpc>
                <a:spcPct val="90000"/>
              </a:lnSpc>
              <a:spcBef>
                <a:spcPts val="15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cxnSp>
        <p:nvCxnSpPr>
          <p:cNvPr id="40" name="Google Shape;40;p6"/>
          <p:cNvCxnSpPr/>
          <p:nvPr/>
        </p:nvCxnSpPr>
        <p:spPr>
          <a:xfrm>
            <a:off x="1788091" y="1501329"/>
            <a:ext cx="6883200" cy="0"/>
          </a:xfrm>
          <a:prstGeom prst="straightConnector1">
            <a:avLst/>
          </a:prstGeom>
          <a:noFill/>
          <a:ln cap="flat" cmpd="sng" w="9525">
            <a:solidFill>
              <a:srgbClr val="A5A5A5"/>
            </a:solidFill>
            <a:prstDash val="solid"/>
            <a:miter lim="800000"/>
            <a:headEnd len="sm" w="sm" type="none"/>
            <a:tailEnd len="sm" w="sm" type="none"/>
          </a:ln>
        </p:spPr>
      </p:cxnSp>
      <p:pic>
        <p:nvPicPr>
          <p:cNvPr id="41" name="Google Shape;41;p6"/>
          <p:cNvPicPr preferRelativeResize="0"/>
          <p:nvPr/>
        </p:nvPicPr>
        <p:blipFill rotWithShape="1">
          <a:blip r:embed="rId3">
            <a:alphaModFix/>
          </a:blip>
          <a:srcRect b="0" l="0" r="0" t="0"/>
          <a:stretch/>
        </p:blipFill>
        <p:spPr>
          <a:xfrm>
            <a:off x="6738588" y="4781811"/>
            <a:ext cx="2158020" cy="189716"/>
          </a:xfrm>
          <a:prstGeom prst="rect">
            <a:avLst/>
          </a:prstGeom>
          <a:noFill/>
          <a:ln>
            <a:noFill/>
          </a:ln>
        </p:spPr>
      </p:pic>
      <p:cxnSp>
        <p:nvCxnSpPr>
          <p:cNvPr id="42" name="Google Shape;42;p6"/>
          <p:cNvCxnSpPr/>
          <p:nvPr/>
        </p:nvCxnSpPr>
        <p:spPr>
          <a:xfrm flipH="1">
            <a:off x="5146249" y="1968332"/>
            <a:ext cx="27000" cy="1950000"/>
          </a:xfrm>
          <a:prstGeom prst="straightConnector1">
            <a:avLst/>
          </a:prstGeom>
          <a:noFill/>
          <a:ln cap="flat" cmpd="sng" w="14300">
            <a:solidFill>
              <a:srgbClr val="7F7F7F">
                <a:alpha val="20000"/>
              </a:srgbClr>
            </a:solidFill>
            <a:prstDash val="solid"/>
            <a:miter lim="8000"/>
            <a:headEnd len="sm" w="sm" type="none"/>
            <a:tailEnd len="sm" w="sm" type="none"/>
          </a:ln>
        </p:spPr>
      </p:cxnSp>
      <p:sp>
        <p:nvSpPr>
          <p:cNvPr id="43" name="Google Shape;43;p6"/>
          <p:cNvSpPr txBox="1"/>
          <p:nvPr>
            <p:ph idx="2" type="body"/>
          </p:nvPr>
        </p:nvSpPr>
        <p:spPr>
          <a:xfrm>
            <a:off x="1788319" y="867966"/>
            <a:ext cx="4412400" cy="484500"/>
          </a:xfrm>
          <a:prstGeom prst="rect">
            <a:avLst/>
          </a:prstGeom>
          <a:noFill/>
          <a:ln>
            <a:noFill/>
          </a:ln>
        </p:spPr>
        <p:txBody>
          <a:bodyPr anchorCtr="0" anchor="ctr" bIns="34275" lIns="34275" spcFirstLastPara="1" rIns="34275" wrap="square" tIns="34275">
            <a:normAutofit/>
          </a:bodyPr>
          <a:lstStyle>
            <a:lvl1pPr indent="-228600" lvl="0" marL="457200" algn="l">
              <a:lnSpc>
                <a:spcPct val="90000"/>
              </a:lnSpc>
              <a:spcBef>
                <a:spcPts val="800"/>
              </a:spcBef>
              <a:spcAft>
                <a:spcPts val="0"/>
              </a:spcAft>
              <a:buClr>
                <a:srgbClr val="5D5D5D"/>
              </a:buClr>
              <a:buSzPts val="2700"/>
              <a:buNone/>
              <a:defRPr sz="2700">
                <a:solidFill>
                  <a:srgbClr val="5D5D5D"/>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44" name="Google Shape;44;p6"/>
          <p:cNvSpPr txBox="1"/>
          <p:nvPr>
            <p:ph idx="3" type="body"/>
          </p:nvPr>
        </p:nvSpPr>
        <p:spPr>
          <a:xfrm>
            <a:off x="1759743" y="1901429"/>
            <a:ext cx="3216600" cy="300000"/>
          </a:xfrm>
          <a:prstGeom prst="rect">
            <a:avLst/>
          </a:prstGeom>
          <a:noFill/>
          <a:ln>
            <a:noFill/>
          </a:ln>
        </p:spPr>
        <p:txBody>
          <a:bodyPr anchorCtr="0" anchor="ctr" bIns="34275" lIns="34275" spcFirstLastPara="1" rIns="34275" wrap="square" tIns="34275">
            <a:normAutofit/>
          </a:bodyPr>
          <a:lstStyle>
            <a:lvl1pPr indent="-228600" lvl="0" marL="457200" algn="l">
              <a:lnSpc>
                <a:spcPct val="100000"/>
              </a:lnSpc>
              <a:spcBef>
                <a:spcPts val="0"/>
              </a:spcBef>
              <a:spcAft>
                <a:spcPts val="0"/>
              </a:spcAft>
              <a:buClr>
                <a:srgbClr val="5D5D5D"/>
              </a:buClr>
              <a:buSzPts val="1500"/>
              <a:buNone/>
              <a:defRPr b="1">
                <a:solidFill>
                  <a:srgbClr val="5D5D5D"/>
                </a:solidFill>
                <a:latin typeface="Open Sans"/>
                <a:ea typeface="Open Sans"/>
                <a:cs typeface="Open Sans"/>
                <a:sym typeface="Open Sans"/>
              </a:defRPr>
            </a:lvl1pPr>
            <a:lvl2pPr indent="-317500" lvl="1" marL="914400" algn="l">
              <a:lnSpc>
                <a:spcPct val="90000"/>
              </a:lnSpc>
              <a:spcBef>
                <a:spcPts val="15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45" name="Google Shape;45;p6"/>
          <p:cNvSpPr txBox="1"/>
          <p:nvPr>
            <p:ph idx="4" type="body"/>
          </p:nvPr>
        </p:nvSpPr>
        <p:spPr>
          <a:xfrm>
            <a:off x="5451790" y="1901429"/>
            <a:ext cx="3216600" cy="300000"/>
          </a:xfrm>
          <a:prstGeom prst="rect">
            <a:avLst/>
          </a:prstGeom>
          <a:noFill/>
          <a:ln>
            <a:noFill/>
          </a:ln>
        </p:spPr>
        <p:txBody>
          <a:bodyPr anchorCtr="0" anchor="ctr" bIns="34275" lIns="34275" spcFirstLastPara="1" rIns="34275" wrap="square" tIns="34275">
            <a:normAutofit/>
          </a:bodyPr>
          <a:lstStyle>
            <a:lvl1pPr indent="-228600" lvl="0" marL="457200" algn="l">
              <a:lnSpc>
                <a:spcPct val="100000"/>
              </a:lnSpc>
              <a:spcBef>
                <a:spcPts val="0"/>
              </a:spcBef>
              <a:spcAft>
                <a:spcPts val="0"/>
              </a:spcAft>
              <a:buClr>
                <a:srgbClr val="5D5D5D"/>
              </a:buClr>
              <a:buSzPts val="1500"/>
              <a:buNone/>
              <a:defRPr b="1">
                <a:solidFill>
                  <a:srgbClr val="5D5D5D"/>
                </a:solidFill>
                <a:latin typeface="Open Sans"/>
                <a:ea typeface="Open Sans"/>
                <a:cs typeface="Open Sans"/>
                <a:sym typeface="Open Sans"/>
              </a:defRPr>
            </a:lvl1pPr>
            <a:lvl2pPr indent="-317500" lvl="1" marL="914400" algn="l">
              <a:lnSpc>
                <a:spcPct val="90000"/>
              </a:lnSpc>
              <a:spcBef>
                <a:spcPts val="15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46" name="Google Shape;46;p6"/>
          <p:cNvSpPr txBox="1"/>
          <p:nvPr>
            <p:ph idx="5" type="body"/>
          </p:nvPr>
        </p:nvSpPr>
        <p:spPr>
          <a:xfrm>
            <a:off x="5454074" y="2231231"/>
            <a:ext cx="3217200" cy="1684800"/>
          </a:xfrm>
          <a:prstGeom prst="rect">
            <a:avLst/>
          </a:prstGeom>
          <a:noFill/>
          <a:ln>
            <a:noFill/>
          </a:ln>
        </p:spPr>
        <p:txBody>
          <a:bodyPr anchorCtr="0" anchor="t" bIns="34275" lIns="34275" spcFirstLastPara="1" rIns="34275" wrap="square" tIns="34275">
            <a:normAutofit/>
          </a:bodyPr>
          <a:lstStyle>
            <a:lvl1pPr indent="-228600" lvl="0" marL="457200" algn="l">
              <a:lnSpc>
                <a:spcPct val="100000"/>
              </a:lnSpc>
              <a:spcBef>
                <a:spcPts val="0"/>
              </a:spcBef>
              <a:spcAft>
                <a:spcPts val="0"/>
              </a:spcAft>
              <a:buClr>
                <a:srgbClr val="5D5D5D"/>
              </a:buClr>
              <a:buSzPts val="1500"/>
              <a:buNone/>
              <a:defRPr>
                <a:solidFill>
                  <a:srgbClr val="5D5D5D"/>
                </a:solidFill>
              </a:defRPr>
            </a:lvl1pPr>
            <a:lvl2pPr indent="-317500" lvl="1" marL="914400" algn="l">
              <a:lnSpc>
                <a:spcPct val="90000"/>
              </a:lnSpc>
              <a:spcBef>
                <a:spcPts val="15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47" name="Google Shape;47;p6"/>
          <p:cNvSpPr txBox="1"/>
          <p:nvPr>
            <p:ph idx="12" type="sldNum"/>
          </p:nvPr>
        </p:nvSpPr>
        <p:spPr>
          <a:xfrm>
            <a:off x="1760374" y="4738688"/>
            <a:ext cx="262800" cy="253800"/>
          </a:xfrm>
          <a:prstGeom prst="rect">
            <a:avLst/>
          </a:prstGeom>
          <a:noFill/>
          <a:ln>
            <a:noFill/>
          </a:ln>
        </p:spPr>
        <p:txBody>
          <a:bodyPr anchorCtr="0" anchor="ctr" bIns="34275" lIns="34275" spcFirstLastPara="1" rIns="34275" wrap="square" tIns="34275">
            <a:spAutoFit/>
          </a:bodyPr>
          <a:lstStyle>
            <a:lvl1pPr indent="0" lvl="0"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1pPr>
            <a:lvl2pPr indent="0" lvl="1"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2pPr>
            <a:lvl3pPr indent="0" lvl="2"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3pPr>
            <a:lvl4pPr indent="0" lvl="3"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4pPr>
            <a:lvl5pPr indent="0" lvl="4"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5pPr>
            <a:lvl6pPr indent="0" lvl="5"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6pPr>
            <a:lvl7pPr indent="0" lvl="6"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7pPr>
            <a:lvl8pPr indent="0" lvl="7"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8pPr>
            <a:lvl9pPr indent="0" lvl="8"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48" name="Shape 48"/>
        <p:cNvGrpSpPr/>
        <p:nvPr/>
      </p:nvGrpSpPr>
      <p:grpSpPr>
        <a:xfrm>
          <a:off x="0" y="0"/>
          <a:ext cx="0" cy="0"/>
          <a:chOff x="0" y="0"/>
          <a:chExt cx="0" cy="0"/>
        </a:xfrm>
      </p:grpSpPr>
      <p:pic>
        <p:nvPicPr>
          <p:cNvPr descr="Picture 6" id="49" name="Google Shape;49;p7"/>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0" name="Google Shape;50;p7"/>
          <p:cNvSpPr/>
          <p:nvPr/>
        </p:nvSpPr>
        <p:spPr>
          <a:xfrm>
            <a:off x="864296" y="0"/>
            <a:ext cx="8279700" cy="5143500"/>
          </a:xfrm>
          <a:prstGeom prst="rect">
            <a:avLst/>
          </a:prstGeom>
          <a:solidFill>
            <a:schemeClr val="lt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cxnSp>
        <p:nvCxnSpPr>
          <p:cNvPr id="51" name="Google Shape;51;p7"/>
          <p:cNvCxnSpPr/>
          <p:nvPr/>
        </p:nvCxnSpPr>
        <p:spPr>
          <a:xfrm>
            <a:off x="1788091" y="1501329"/>
            <a:ext cx="6883200" cy="0"/>
          </a:xfrm>
          <a:prstGeom prst="straightConnector1">
            <a:avLst/>
          </a:prstGeom>
          <a:noFill/>
          <a:ln cap="flat" cmpd="sng" w="9525">
            <a:solidFill>
              <a:srgbClr val="A5A5A5"/>
            </a:solidFill>
            <a:prstDash val="solid"/>
            <a:miter lim="800000"/>
            <a:headEnd len="sm" w="sm" type="none"/>
            <a:tailEnd len="sm" w="sm" type="none"/>
          </a:ln>
        </p:spPr>
      </p:cxnSp>
      <p:pic>
        <p:nvPicPr>
          <p:cNvPr id="52" name="Google Shape;52;p7"/>
          <p:cNvPicPr preferRelativeResize="0"/>
          <p:nvPr/>
        </p:nvPicPr>
        <p:blipFill rotWithShape="1">
          <a:blip r:embed="rId3">
            <a:alphaModFix/>
          </a:blip>
          <a:srcRect b="0" l="0" r="0" t="0"/>
          <a:stretch/>
        </p:blipFill>
        <p:spPr>
          <a:xfrm>
            <a:off x="6738588" y="4781811"/>
            <a:ext cx="2158020" cy="189716"/>
          </a:xfrm>
          <a:prstGeom prst="rect">
            <a:avLst/>
          </a:prstGeom>
          <a:noFill/>
          <a:ln>
            <a:noFill/>
          </a:ln>
        </p:spPr>
      </p:pic>
      <p:sp>
        <p:nvSpPr>
          <p:cNvPr id="53" name="Google Shape;53;p7"/>
          <p:cNvSpPr/>
          <p:nvPr/>
        </p:nvSpPr>
        <p:spPr>
          <a:xfrm>
            <a:off x="1759908" y="1947715"/>
            <a:ext cx="294900" cy="6924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A5A5A5"/>
              </a:buClr>
              <a:buSzPts val="4100"/>
              <a:buFont typeface="Crimson Text"/>
              <a:buNone/>
            </a:pPr>
            <a:r>
              <a:rPr b="0" i="0" lang="en" sz="4100" u="none" cap="none" strike="noStrike">
                <a:solidFill>
                  <a:srgbClr val="A5A5A5"/>
                </a:solidFill>
                <a:latin typeface="Crimson Text"/>
                <a:ea typeface="Crimson Text"/>
                <a:cs typeface="Crimson Text"/>
                <a:sym typeface="Crimson Text"/>
              </a:rPr>
              <a:t>“</a:t>
            </a:r>
            <a:endParaRPr b="0" i="0" sz="4100" u="none" cap="none" strike="noStrike">
              <a:solidFill>
                <a:srgbClr val="A5A5A5"/>
              </a:solidFill>
              <a:latin typeface="Crimson Text"/>
              <a:ea typeface="Crimson Text"/>
              <a:cs typeface="Crimson Text"/>
              <a:sym typeface="Crimson Text"/>
            </a:endParaRPr>
          </a:p>
        </p:txBody>
      </p:sp>
      <p:sp>
        <p:nvSpPr>
          <p:cNvPr id="54" name="Google Shape;54;p7"/>
          <p:cNvSpPr/>
          <p:nvPr>
            <p:ph idx="2" type="pic"/>
          </p:nvPr>
        </p:nvSpPr>
        <p:spPr>
          <a:xfrm rot="429228">
            <a:off x="6536402" y="1187067"/>
            <a:ext cx="1999465" cy="3131443"/>
          </a:xfrm>
          <a:prstGeom prst="rect">
            <a:avLst/>
          </a:prstGeom>
          <a:noFill/>
          <a:ln>
            <a:noFill/>
          </a:ln>
        </p:spPr>
      </p:sp>
      <p:sp>
        <p:nvSpPr>
          <p:cNvPr id="55" name="Google Shape;55;p7"/>
          <p:cNvSpPr txBox="1"/>
          <p:nvPr>
            <p:ph idx="1" type="body"/>
          </p:nvPr>
        </p:nvSpPr>
        <p:spPr>
          <a:xfrm>
            <a:off x="2007075" y="4025561"/>
            <a:ext cx="3309900" cy="277500"/>
          </a:xfrm>
          <a:prstGeom prst="rect">
            <a:avLst/>
          </a:prstGeom>
          <a:noFill/>
          <a:ln>
            <a:noFill/>
          </a:ln>
        </p:spPr>
        <p:txBody>
          <a:bodyPr anchorCtr="0" anchor="ctr" bIns="34275" lIns="34275" spcFirstLastPara="1" rIns="34275" wrap="square" tIns="34275">
            <a:normAutofit/>
          </a:bodyPr>
          <a:lstStyle>
            <a:lvl1pPr indent="-228600" lvl="0" marL="457200" algn="l">
              <a:lnSpc>
                <a:spcPct val="90000"/>
              </a:lnSpc>
              <a:spcBef>
                <a:spcPts val="800"/>
              </a:spcBef>
              <a:spcAft>
                <a:spcPts val="0"/>
              </a:spcAft>
              <a:buClr>
                <a:srgbClr val="5D5D5D"/>
              </a:buClr>
              <a:buSzPts val="1400"/>
              <a:buNone/>
              <a:defRPr sz="1400" cap="none">
                <a:solidFill>
                  <a:srgbClr val="5D5D5D"/>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56" name="Google Shape;56;p7"/>
          <p:cNvSpPr txBox="1"/>
          <p:nvPr>
            <p:ph idx="3" type="body"/>
          </p:nvPr>
        </p:nvSpPr>
        <p:spPr>
          <a:xfrm>
            <a:off x="2007394" y="2084785"/>
            <a:ext cx="3964800" cy="1662000"/>
          </a:xfrm>
          <a:prstGeom prst="rect">
            <a:avLst/>
          </a:prstGeom>
          <a:noFill/>
          <a:ln>
            <a:noFill/>
          </a:ln>
        </p:spPr>
        <p:txBody>
          <a:bodyPr anchorCtr="0" anchor="t" bIns="34275" lIns="34275" spcFirstLastPara="1" rIns="34275" wrap="square" tIns="34275">
            <a:noAutofit/>
          </a:bodyPr>
          <a:lstStyle>
            <a:lvl1pPr indent="-228600" lvl="0" marL="457200" algn="l">
              <a:lnSpc>
                <a:spcPct val="90000"/>
              </a:lnSpc>
              <a:spcBef>
                <a:spcPts val="800"/>
              </a:spcBef>
              <a:spcAft>
                <a:spcPts val="0"/>
              </a:spcAft>
              <a:buClr>
                <a:srgbClr val="5D5D5D"/>
              </a:buClr>
              <a:buSzPts val="1800"/>
              <a:buNone/>
              <a:defRPr sz="1800">
                <a:solidFill>
                  <a:srgbClr val="5D5D5D"/>
                </a:solidFill>
              </a:defRPr>
            </a:lvl1pPr>
            <a:lvl2pPr indent="-342900" lvl="1" marL="914400" algn="l">
              <a:lnSpc>
                <a:spcPct val="90000"/>
              </a:lnSpc>
              <a:spcBef>
                <a:spcPts val="800"/>
              </a:spcBef>
              <a:spcAft>
                <a:spcPts val="0"/>
              </a:spcAft>
              <a:buClr>
                <a:srgbClr val="828282"/>
              </a:buClr>
              <a:buSzPts val="1800"/>
              <a:buChar char="•"/>
              <a:defRPr sz="1800">
                <a:solidFill>
                  <a:srgbClr val="828282"/>
                </a:solidFill>
              </a:defRPr>
            </a:lvl2pPr>
            <a:lvl3pPr indent="-342900" lvl="2" marL="1371600" algn="l">
              <a:lnSpc>
                <a:spcPct val="90000"/>
              </a:lnSpc>
              <a:spcBef>
                <a:spcPts val="800"/>
              </a:spcBef>
              <a:spcAft>
                <a:spcPts val="0"/>
              </a:spcAft>
              <a:buClr>
                <a:srgbClr val="828282"/>
              </a:buClr>
              <a:buSzPts val="1800"/>
              <a:buChar char="•"/>
              <a:defRPr sz="1800">
                <a:solidFill>
                  <a:srgbClr val="828282"/>
                </a:solidFill>
              </a:defRPr>
            </a:lvl3pPr>
            <a:lvl4pPr indent="-342900" lvl="3" marL="1828800" algn="l">
              <a:lnSpc>
                <a:spcPct val="90000"/>
              </a:lnSpc>
              <a:spcBef>
                <a:spcPts val="800"/>
              </a:spcBef>
              <a:spcAft>
                <a:spcPts val="0"/>
              </a:spcAft>
              <a:buClr>
                <a:srgbClr val="828282"/>
              </a:buClr>
              <a:buSzPts val="1800"/>
              <a:buChar char="•"/>
              <a:defRPr sz="1800">
                <a:solidFill>
                  <a:srgbClr val="828282"/>
                </a:solidFill>
              </a:defRPr>
            </a:lvl4pPr>
            <a:lvl5pPr indent="-342900" lvl="4" marL="2286000" algn="l">
              <a:lnSpc>
                <a:spcPct val="90000"/>
              </a:lnSpc>
              <a:spcBef>
                <a:spcPts val="800"/>
              </a:spcBef>
              <a:spcAft>
                <a:spcPts val="0"/>
              </a:spcAft>
              <a:buClr>
                <a:srgbClr val="828282"/>
              </a:buClr>
              <a:buSzPts val="1800"/>
              <a:buChar char="•"/>
              <a:defRPr sz="1800">
                <a:solidFill>
                  <a:srgbClr val="828282"/>
                </a:solidFill>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57" name="Google Shape;57;p7"/>
          <p:cNvSpPr txBox="1"/>
          <p:nvPr>
            <p:ph idx="4" type="body"/>
          </p:nvPr>
        </p:nvSpPr>
        <p:spPr>
          <a:xfrm>
            <a:off x="1788319" y="867966"/>
            <a:ext cx="4412400" cy="484500"/>
          </a:xfrm>
          <a:prstGeom prst="rect">
            <a:avLst/>
          </a:prstGeom>
          <a:noFill/>
          <a:ln>
            <a:noFill/>
          </a:ln>
        </p:spPr>
        <p:txBody>
          <a:bodyPr anchorCtr="0" anchor="ctr" bIns="34275" lIns="34275" spcFirstLastPara="1" rIns="34275" wrap="square" tIns="34275">
            <a:normAutofit/>
          </a:bodyPr>
          <a:lstStyle>
            <a:lvl1pPr indent="-228600" lvl="0" marL="457200" algn="l">
              <a:lnSpc>
                <a:spcPct val="90000"/>
              </a:lnSpc>
              <a:spcBef>
                <a:spcPts val="800"/>
              </a:spcBef>
              <a:spcAft>
                <a:spcPts val="0"/>
              </a:spcAft>
              <a:buClr>
                <a:srgbClr val="5D5D5D"/>
              </a:buClr>
              <a:buSzPts val="2700"/>
              <a:buNone/>
              <a:defRPr sz="2700">
                <a:solidFill>
                  <a:srgbClr val="5D5D5D"/>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58" name="Google Shape;58;p7"/>
          <p:cNvSpPr txBox="1"/>
          <p:nvPr>
            <p:ph idx="12" type="sldNum"/>
          </p:nvPr>
        </p:nvSpPr>
        <p:spPr>
          <a:xfrm>
            <a:off x="1744264" y="4749711"/>
            <a:ext cx="262800" cy="253800"/>
          </a:xfrm>
          <a:prstGeom prst="rect">
            <a:avLst/>
          </a:prstGeom>
          <a:noFill/>
          <a:ln>
            <a:noFill/>
          </a:ln>
        </p:spPr>
        <p:txBody>
          <a:bodyPr anchorCtr="0" anchor="ctr" bIns="34275" lIns="34275" spcFirstLastPara="1" rIns="34275" wrap="square" tIns="34275">
            <a:spAutoFit/>
          </a:bodyPr>
          <a:lstStyle>
            <a:lvl1pPr indent="0" lvl="0"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1pPr>
            <a:lvl2pPr indent="0" lvl="1"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2pPr>
            <a:lvl3pPr indent="0" lvl="2"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3pPr>
            <a:lvl4pPr indent="0" lvl="3"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4pPr>
            <a:lvl5pPr indent="0" lvl="4"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5pPr>
            <a:lvl6pPr indent="0" lvl="5"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6pPr>
            <a:lvl7pPr indent="0" lvl="6"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7pPr>
            <a:lvl8pPr indent="0" lvl="7"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8pPr>
            <a:lvl9pPr indent="0" lvl="8"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ed List">
  <p:cSld name="Bulleted List">
    <p:spTree>
      <p:nvGrpSpPr>
        <p:cNvPr id="59" name="Shape 59"/>
        <p:cNvGrpSpPr/>
        <p:nvPr/>
      </p:nvGrpSpPr>
      <p:grpSpPr>
        <a:xfrm>
          <a:off x="0" y="0"/>
          <a:ext cx="0" cy="0"/>
          <a:chOff x="0" y="0"/>
          <a:chExt cx="0" cy="0"/>
        </a:xfrm>
      </p:grpSpPr>
      <p:pic>
        <p:nvPicPr>
          <p:cNvPr descr="Picture 6" id="60" name="Google Shape;60;p8"/>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61" name="Google Shape;61;p8"/>
          <p:cNvSpPr/>
          <p:nvPr/>
        </p:nvSpPr>
        <p:spPr>
          <a:xfrm>
            <a:off x="864296" y="0"/>
            <a:ext cx="8279700" cy="5143500"/>
          </a:xfrm>
          <a:prstGeom prst="rect">
            <a:avLst/>
          </a:prstGeom>
          <a:solidFill>
            <a:schemeClr val="lt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2" name="Google Shape;62;p8"/>
          <p:cNvSpPr txBox="1"/>
          <p:nvPr>
            <p:ph idx="12" type="sldNum"/>
          </p:nvPr>
        </p:nvSpPr>
        <p:spPr>
          <a:xfrm>
            <a:off x="1751676" y="4746371"/>
            <a:ext cx="262800" cy="253800"/>
          </a:xfrm>
          <a:prstGeom prst="rect">
            <a:avLst/>
          </a:prstGeom>
          <a:noFill/>
          <a:ln>
            <a:noFill/>
          </a:ln>
        </p:spPr>
        <p:txBody>
          <a:bodyPr anchorCtr="0" anchor="ctr" bIns="34275" lIns="34275" spcFirstLastPara="1" rIns="34275" wrap="square" tIns="34275">
            <a:spAutoFit/>
          </a:bodyPr>
          <a:lstStyle>
            <a:lvl1pPr indent="0" lvl="0"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1pPr>
            <a:lvl2pPr indent="0" lvl="1"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2pPr>
            <a:lvl3pPr indent="0" lvl="2"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3pPr>
            <a:lvl4pPr indent="0" lvl="3"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4pPr>
            <a:lvl5pPr indent="0" lvl="4"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5pPr>
            <a:lvl6pPr indent="0" lvl="5"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6pPr>
            <a:lvl7pPr indent="0" lvl="6"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7pPr>
            <a:lvl8pPr indent="0" lvl="7"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8pPr>
            <a:lvl9pPr indent="0" lvl="8"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cxnSp>
        <p:nvCxnSpPr>
          <p:cNvPr id="63" name="Google Shape;63;p8"/>
          <p:cNvCxnSpPr/>
          <p:nvPr/>
        </p:nvCxnSpPr>
        <p:spPr>
          <a:xfrm>
            <a:off x="1788091" y="1501329"/>
            <a:ext cx="6883200" cy="0"/>
          </a:xfrm>
          <a:prstGeom prst="straightConnector1">
            <a:avLst/>
          </a:prstGeom>
          <a:noFill/>
          <a:ln cap="flat" cmpd="sng" w="9525">
            <a:solidFill>
              <a:srgbClr val="A5A5A5"/>
            </a:solidFill>
            <a:prstDash val="solid"/>
            <a:miter lim="800000"/>
            <a:headEnd len="sm" w="sm" type="none"/>
            <a:tailEnd len="sm" w="sm" type="none"/>
          </a:ln>
        </p:spPr>
      </p:cxnSp>
      <p:pic>
        <p:nvPicPr>
          <p:cNvPr id="64" name="Google Shape;64;p8"/>
          <p:cNvPicPr preferRelativeResize="0"/>
          <p:nvPr/>
        </p:nvPicPr>
        <p:blipFill rotWithShape="1">
          <a:blip r:embed="rId3">
            <a:alphaModFix/>
          </a:blip>
          <a:srcRect b="0" l="0" r="0" t="0"/>
          <a:stretch/>
        </p:blipFill>
        <p:spPr>
          <a:xfrm>
            <a:off x="6738588" y="4781811"/>
            <a:ext cx="2158020" cy="189716"/>
          </a:xfrm>
          <a:prstGeom prst="rect">
            <a:avLst/>
          </a:prstGeom>
          <a:noFill/>
          <a:ln>
            <a:noFill/>
          </a:ln>
        </p:spPr>
      </p:pic>
      <p:sp>
        <p:nvSpPr>
          <p:cNvPr id="65" name="Google Shape;65;p8"/>
          <p:cNvSpPr txBox="1"/>
          <p:nvPr>
            <p:ph idx="1" type="body"/>
          </p:nvPr>
        </p:nvSpPr>
        <p:spPr>
          <a:xfrm>
            <a:off x="1788319" y="867966"/>
            <a:ext cx="4412400" cy="484500"/>
          </a:xfrm>
          <a:prstGeom prst="rect">
            <a:avLst/>
          </a:prstGeom>
          <a:noFill/>
          <a:ln>
            <a:noFill/>
          </a:ln>
        </p:spPr>
        <p:txBody>
          <a:bodyPr anchorCtr="0" anchor="ctr" bIns="34275" lIns="34275" spcFirstLastPara="1" rIns="34275" wrap="square" tIns="34275">
            <a:normAutofit/>
          </a:bodyPr>
          <a:lstStyle>
            <a:lvl1pPr indent="-228600" lvl="0" marL="457200" algn="l">
              <a:lnSpc>
                <a:spcPct val="90000"/>
              </a:lnSpc>
              <a:spcBef>
                <a:spcPts val="800"/>
              </a:spcBef>
              <a:spcAft>
                <a:spcPts val="0"/>
              </a:spcAft>
              <a:buClr>
                <a:srgbClr val="5D5D5D"/>
              </a:buClr>
              <a:buSzPts val="2700"/>
              <a:buNone/>
              <a:defRPr sz="2700">
                <a:solidFill>
                  <a:srgbClr val="5D5D5D"/>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66" name="Google Shape;66;p8"/>
          <p:cNvSpPr txBox="1"/>
          <p:nvPr>
            <p:ph idx="2" type="body"/>
          </p:nvPr>
        </p:nvSpPr>
        <p:spPr>
          <a:xfrm>
            <a:off x="1795463" y="1901428"/>
            <a:ext cx="5112600" cy="2300400"/>
          </a:xfrm>
          <a:prstGeom prst="rect">
            <a:avLst/>
          </a:prstGeom>
          <a:noFill/>
          <a:ln>
            <a:noFill/>
          </a:ln>
        </p:spPr>
        <p:txBody>
          <a:bodyPr anchorCtr="0" anchor="t" bIns="34275" lIns="34275" spcFirstLastPara="1" rIns="34275" wrap="square" tIns="34275">
            <a:normAutofit/>
          </a:bodyPr>
          <a:lstStyle>
            <a:lvl1pPr indent="-323850" lvl="0" marL="457200" algn="l">
              <a:lnSpc>
                <a:spcPct val="100000"/>
              </a:lnSpc>
              <a:spcBef>
                <a:spcPts val="0"/>
              </a:spcBef>
              <a:spcAft>
                <a:spcPts val="0"/>
              </a:spcAft>
              <a:buClr>
                <a:srgbClr val="5D5D5D"/>
              </a:buClr>
              <a:buSzPts val="1500"/>
              <a:buChar char="•"/>
              <a:defRPr>
                <a:solidFill>
                  <a:srgbClr val="5D5D5D"/>
                </a:solidFill>
              </a:defRPr>
            </a:lvl1pPr>
            <a:lvl2pPr indent="-317500" lvl="1" marL="914400" algn="l">
              <a:lnSpc>
                <a:spcPct val="90000"/>
              </a:lnSpc>
              <a:spcBef>
                <a:spcPts val="15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67" name="Google Shape;67;p8"/>
          <p:cNvSpPr txBox="1"/>
          <p:nvPr>
            <p:ph idx="3" type="body"/>
          </p:nvPr>
        </p:nvSpPr>
        <p:spPr>
          <a:xfrm>
            <a:off x="2031206" y="4756547"/>
            <a:ext cx="4326000" cy="207300"/>
          </a:xfrm>
          <a:prstGeom prst="rect">
            <a:avLst/>
          </a:prstGeom>
          <a:noFill/>
          <a:ln>
            <a:noFill/>
          </a:ln>
        </p:spPr>
        <p:txBody>
          <a:bodyPr anchorCtr="0" anchor="ctr" bIns="34275" lIns="34275" spcFirstLastPara="1" rIns="34275" wrap="square" tIns="34275">
            <a:normAutofit/>
          </a:bodyPr>
          <a:lstStyle>
            <a:lvl1pPr indent="-228600" lvl="0" marL="457200" algn="l">
              <a:lnSpc>
                <a:spcPct val="100000"/>
              </a:lnSpc>
              <a:spcBef>
                <a:spcPts val="0"/>
              </a:spcBef>
              <a:spcAft>
                <a:spcPts val="0"/>
              </a:spcAft>
              <a:buClr>
                <a:srgbClr val="7F7F7F"/>
              </a:buClr>
              <a:buSzPts val="900"/>
              <a:buNone/>
              <a:defRPr i="1" sz="900">
                <a:solidFill>
                  <a:srgbClr val="7F7F7F"/>
                </a:solidFill>
                <a:latin typeface="Calibri"/>
                <a:ea typeface="Calibri"/>
                <a:cs typeface="Calibri"/>
                <a:sym typeface="Calibri"/>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ll-Out">
  <p:cSld name="Call-Out">
    <p:spTree>
      <p:nvGrpSpPr>
        <p:cNvPr id="68" name="Shape 68"/>
        <p:cNvGrpSpPr/>
        <p:nvPr/>
      </p:nvGrpSpPr>
      <p:grpSpPr>
        <a:xfrm>
          <a:off x="0" y="0"/>
          <a:ext cx="0" cy="0"/>
          <a:chOff x="0" y="0"/>
          <a:chExt cx="0" cy="0"/>
        </a:xfrm>
      </p:grpSpPr>
      <p:pic>
        <p:nvPicPr>
          <p:cNvPr descr="Picture 6" id="69" name="Google Shape;69;p9"/>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70" name="Google Shape;70;p9"/>
          <p:cNvSpPr/>
          <p:nvPr/>
        </p:nvSpPr>
        <p:spPr>
          <a:xfrm>
            <a:off x="864296" y="0"/>
            <a:ext cx="8279700" cy="5143500"/>
          </a:xfrm>
          <a:prstGeom prst="rect">
            <a:avLst/>
          </a:prstGeom>
          <a:solidFill>
            <a:schemeClr val="lt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cxnSp>
        <p:nvCxnSpPr>
          <p:cNvPr id="71" name="Google Shape;71;p9"/>
          <p:cNvCxnSpPr/>
          <p:nvPr/>
        </p:nvCxnSpPr>
        <p:spPr>
          <a:xfrm>
            <a:off x="1788091" y="1501329"/>
            <a:ext cx="6883200" cy="0"/>
          </a:xfrm>
          <a:prstGeom prst="straightConnector1">
            <a:avLst/>
          </a:prstGeom>
          <a:noFill/>
          <a:ln cap="flat" cmpd="sng" w="9525">
            <a:solidFill>
              <a:srgbClr val="A5A5A5"/>
            </a:solidFill>
            <a:prstDash val="solid"/>
            <a:miter lim="800000"/>
            <a:headEnd len="sm" w="sm" type="none"/>
            <a:tailEnd len="sm" w="sm" type="none"/>
          </a:ln>
        </p:spPr>
      </p:cxnSp>
      <p:pic>
        <p:nvPicPr>
          <p:cNvPr id="72" name="Google Shape;72;p9"/>
          <p:cNvPicPr preferRelativeResize="0"/>
          <p:nvPr/>
        </p:nvPicPr>
        <p:blipFill rotWithShape="1">
          <a:blip r:embed="rId3">
            <a:alphaModFix/>
          </a:blip>
          <a:srcRect b="0" l="0" r="0" t="0"/>
          <a:stretch/>
        </p:blipFill>
        <p:spPr>
          <a:xfrm>
            <a:off x="6738588" y="4781811"/>
            <a:ext cx="2158020" cy="189716"/>
          </a:xfrm>
          <a:prstGeom prst="rect">
            <a:avLst/>
          </a:prstGeom>
          <a:noFill/>
          <a:ln>
            <a:noFill/>
          </a:ln>
        </p:spPr>
      </p:pic>
      <p:cxnSp>
        <p:nvCxnSpPr>
          <p:cNvPr id="73" name="Google Shape;73;p9"/>
          <p:cNvCxnSpPr/>
          <p:nvPr/>
        </p:nvCxnSpPr>
        <p:spPr>
          <a:xfrm>
            <a:off x="1787014" y="2542278"/>
            <a:ext cx="6902100" cy="0"/>
          </a:xfrm>
          <a:prstGeom prst="straightConnector1">
            <a:avLst/>
          </a:prstGeom>
          <a:noFill/>
          <a:ln cap="flat" cmpd="sng" w="14300">
            <a:solidFill>
              <a:srgbClr val="7F7F7F">
                <a:alpha val="20000"/>
              </a:srgbClr>
            </a:solidFill>
            <a:prstDash val="solid"/>
            <a:miter lim="8000"/>
            <a:headEnd len="sm" w="sm" type="none"/>
            <a:tailEnd len="sm" w="sm" type="none"/>
          </a:ln>
        </p:spPr>
      </p:cxnSp>
      <p:cxnSp>
        <p:nvCxnSpPr>
          <p:cNvPr id="74" name="Google Shape;74;p9"/>
          <p:cNvCxnSpPr/>
          <p:nvPr/>
        </p:nvCxnSpPr>
        <p:spPr>
          <a:xfrm>
            <a:off x="1787014" y="3506801"/>
            <a:ext cx="6902100" cy="0"/>
          </a:xfrm>
          <a:prstGeom prst="straightConnector1">
            <a:avLst/>
          </a:prstGeom>
          <a:noFill/>
          <a:ln cap="flat" cmpd="sng" w="14300">
            <a:solidFill>
              <a:srgbClr val="7F7F7F">
                <a:alpha val="20000"/>
              </a:srgbClr>
            </a:solidFill>
            <a:prstDash val="solid"/>
            <a:miter lim="8000"/>
            <a:headEnd len="sm" w="sm" type="none"/>
            <a:tailEnd len="sm" w="sm" type="none"/>
          </a:ln>
        </p:spPr>
      </p:cxnSp>
      <p:cxnSp>
        <p:nvCxnSpPr>
          <p:cNvPr id="75" name="Google Shape;75;p9"/>
          <p:cNvCxnSpPr/>
          <p:nvPr/>
        </p:nvCxnSpPr>
        <p:spPr>
          <a:xfrm>
            <a:off x="1787014" y="4513141"/>
            <a:ext cx="6902100" cy="0"/>
          </a:xfrm>
          <a:prstGeom prst="straightConnector1">
            <a:avLst/>
          </a:prstGeom>
          <a:noFill/>
          <a:ln cap="flat" cmpd="sng" w="14300">
            <a:solidFill>
              <a:srgbClr val="7F7F7F">
                <a:alpha val="20000"/>
              </a:srgbClr>
            </a:solidFill>
            <a:prstDash val="solid"/>
            <a:miter lim="8000"/>
            <a:headEnd len="sm" w="sm" type="none"/>
            <a:tailEnd len="sm" w="sm" type="none"/>
          </a:ln>
        </p:spPr>
      </p:cxnSp>
      <p:sp>
        <p:nvSpPr>
          <p:cNvPr id="76" name="Google Shape;76;p9"/>
          <p:cNvSpPr txBox="1"/>
          <p:nvPr>
            <p:ph idx="1" type="body"/>
          </p:nvPr>
        </p:nvSpPr>
        <p:spPr>
          <a:xfrm>
            <a:off x="1788319" y="867966"/>
            <a:ext cx="4412400" cy="484500"/>
          </a:xfrm>
          <a:prstGeom prst="rect">
            <a:avLst/>
          </a:prstGeom>
          <a:noFill/>
          <a:ln>
            <a:noFill/>
          </a:ln>
        </p:spPr>
        <p:txBody>
          <a:bodyPr anchorCtr="0" anchor="ctr" bIns="34275" lIns="34275" spcFirstLastPara="1" rIns="34275" wrap="square" tIns="34275">
            <a:normAutofit/>
          </a:bodyPr>
          <a:lstStyle>
            <a:lvl1pPr indent="-228600" lvl="0" marL="457200" algn="l">
              <a:lnSpc>
                <a:spcPct val="90000"/>
              </a:lnSpc>
              <a:spcBef>
                <a:spcPts val="800"/>
              </a:spcBef>
              <a:spcAft>
                <a:spcPts val="0"/>
              </a:spcAft>
              <a:buClr>
                <a:srgbClr val="5D5D5D"/>
              </a:buClr>
              <a:buSzPts val="2700"/>
              <a:buNone/>
              <a:defRPr sz="2700">
                <a:solidFill>
                  <a:srgbClr val="5D5D5D"/>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77" name="Google Shape;77;p9"/>
          <p:cNvSpPr txBox="1"/>
          <p:nvPr>
            <p:ph idx="2" type="body"/>
          </p:nvPr>
        </p:nvSpPr>
        <p:spPr>
          <a:xfrm>
            <a:off x="1843088" y="1784003"/>
            <a:ext cx="1127400" cy="692400"/>
          </a:xfrm>
          <a:prstGeom prst="rect">
            <a:avLst/>
          </a:prstGeom>
          <a:noFill/>
          <a:ln>
            <a:noFill/>
          </a:ln>
        </p:spPr>
        <p:txBody>
          <a:bodyPr anchorCtr="0" anchor="b" bIns="34275" lIns="34275" spcFirstLastPara="1" rIns="34275" wrap="square" tIns="34275">
            <a:spAutoFit/>
          </a:bodyPr>
          <a:lstStyle>
            <a:lvl1pPr indent="-228600" lvl="0" marL="457200" algn="r">
              <a:lnSpc>
                <a:spcPct val="100000"/>
              </a:lnSpc>
              <a:spcBef>
                <a:spcPts val="0"/>
              </a:spcBef>
              <a:spcAft>
                <a:spcPts val="0"/>
              </a:spcAft>
              <a:buClr>
                <a:schemeClr val="accent1"/>
              </a:buClr>
              <a:buSzPts val="4100"/>
              <a:buNone/>
              <a:defRPr sz="4100">
                <a:solidFill>
                  <a:schemeClr val="accent1"/>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78" name="Google Shape;78;p9"/>
          <p:cNvSpPr txBox="1"/>
          <p:nvPr>
            <p:ph idx="3" type="body"/>
          </p:nvPr>
        </p:nvSpPr>
        <p:spPr>
          <a:xfrm>
            <a:off x="3226594" y="1836019"/>
            <a:ext cx="5124600" cy="415500"/>
          </a:xfrm>
          <a:prstGeom prst="rect">
            <a:avLst/>
          </a:prstGeom>
          <a:noFill/>
          <a:ln>
            <a:noFill/>
          </a:ln>
        </p:spPr>
        <p:txBody>
          <a:bodyPr anchorCtr="0" anchor="t" bIns="34275" lIns="34275" spcFirstLastPara="1" rIns="34275" wrap="square" tIns="34275">
            <a:normAutofit/>
          </a:bodyPr>
          <a:lstStyle>
            <a:lvl1pPr indent="-228600" lvl="0" marL="457200" algn="l">
              <a:lnSpc>
                <a:spcPct val="100000"/>
              </a:lnSpc>
              <a:spcBef>
                <a:spcPts val="0"/>
              </a:spcBef>
              <a:spcAft>
                <a:spcPts val="0"/>
              </a:spcAft>
              <a:buClr>
                <a:srgbClr val="5D5D5D"/>
              </a:buClr>
              <a:buSzPts val="1400"/>
              <a:buNone/>
              <a:defRPr sz="1400">
                <a:solidFill>
                  <a:srgbClr val="5D5D5D"/>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79" name="Google Shape;79;p9"/>
          <p:cNvSpPr txBox="1"/>
          <p:nvPr>
            <p:ph idx="4" type="body"/>
          </p:nvPr>
        </p:nvSpPr>
        <p:spPr>
          <a:xfrm>
            <a:off x="1843088" y="2700878"/>
            <a:ext cx="1127400" cy="692400"/>
          </a:xfrm>
          <a:prstGeom prst="rect">
            <a:avLst/>
          </a:prstGeom>
          <a:noFill/>
          <a:ln>
            <a:noFill/>
          </a:ln>
        </p:spPr>
        <p:txBody>
          <a:bodyPr anchorCtr="0" anchor="b" bIns="34275" lIns="34275" spcFirstLastPara="1" rIns="34275" wrap="square" tIns="34275">
            <a:spAutoFit/>
          </a:bodyPr>
          <a:lstStyle>
            <a:lvl1pPr indent="-228600" lvl="0" marL="457200" algn="r">
              <a:lnSpc>
                <a:spcPct val="100000"/>
              </a:lnSpc>
              <a:spcBef>
                <a:spcPts val="0"/>
              </a:spcBef>
              <a:spcAft>
                <a:spcPts val="0"/>
              </a:spcAft>
              <a:buClr>
                <a:schemeClr val="accent1"/>
              </a:buClr>
              <a:buSzPts val="4100"/>
              <a:buNone/>
              <a:defRPr sz="4100">
                <a:solidFill>
                  <a:schemeClr val="accent1"/>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80" name="Google Shape;80;p9"/>
          <p:cNvSpPr txBox="1"/>
          <p:nvPr>
            <p:ph idx="5" type="body"/>
          </p:nvPr>
        </p:nvSpPr>
        <p:spPr>
          <a:xfrm>
            <a:off x="3226594" y="2752894"/>
            <a:ext cx="5124600" cy="415500"/>
          </a:xfrm>
          <a:prstGeom prst="rect">
            <a:avLst/>
          </a:prstGeom>
          <a:noFill/>
          <a:ln>
            <a:noFill/>
          </a:ln>
        </p:spPr>
        <p:txBody>
          <a:bodyPr anchorCtr="0" anchor="t" bIns="34275" lIns="34275" spcFirstLastPara="1" rIns="34275" wrap="square" tIns="34275">
            <a:normAutofit/>
          </a:bodyPr>
          <a:lstStyle>
            <a:lvl1pPr indent="-228600" lvl="0" marL="457200" algn="l">
              <a:lnSpc>
                <a:spcPct val="100000"/>
              </a:lnSpc>
              <a:spcBef>
                <a:spcPts val="0"/>
              </a:spcBef>
              <a:spcAft>
                <a:spcPts val="0"/>
              </a:spcAft>
              <a:buClr>
                <a:srgbClr val="5D5D5D"/>
              </a:buClr>
              <a:buSzPts val="1400"/>
              <a:buNone/>
              <a:defRPr sz="1400">
                <a:solidFill>
                  <a:srgbClr val="5D5D5D"/>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81" name="Google Shape;81;p9"/>
          <p:cNvSpPr txBox="1"/>
          <p:nvPr>
            <p:ph idx="6" type="body"/>
          </p:nvPr>
        </p:nvSpPr>
        <p:spPr>
          <a:xfrm>
            <a:off x="1843088" y="3663019"/>
            <a:ext cx="1127400" cy="692400"/>
          </a:xfrm>
          <a:prstGeom prst="rect">
            <a:avLst/>
          </a:prstGeom>
          <a:noFill/>
          <a:ln>
            <a:noFill/>
          </a:ln>
        </p:spPr>
        <p:txBody>
          <a:bodyPr anchorCtr="0" anchor="b" bIns="34275" lIns="34275" spcFirstLastPara="1" rIns="34275" wrap="square" tIns="34275">
            <a:spAutoFit/>
          </a:bodyPr>
          <a:lstStyle>
            <a:lvl1pPr indent="-228600" lvl="0" marL="457200" algn="r">
              <a:lnSpc>
                <a:spcPct val="100000"/>
              </a:lnSpc>
              <a:spcBef>
                <a:spcPts val="0"/>
              </a:spcBef>
              <a:spcAft>
                <a:spcPts val="0"/>
              </a:spcAft>
              <a:buClr>
                <a:schemeClr val="accent1"/>
              </a:buClr>
              <a:buSzPts val="4100"/>
              <a:buNone/>
              <a:defRPr sz="4100">
                <a:solidFill>
                  <a:schemeClr val="accent1"/>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82" name="Google Shape;82;p9"/>
          <p:cNvSpPr txBox="1"/>
          <p:nvPr>
            <p:ph idx="7" type="body"/>
          </p:nvPr>
        </p:nvSpPr>
        <p:spPr>
          <a:xfrm>
            <a:off x="3226594" y="3715035"/>
            <a:ext cx="5124600" cy="415500"/>
          </a:xfrm>
          <a:prstGeom prst="rect">
            <a:avLst/>
          </a:prstGeom>
          <a:noFill/>
          <a:ln>
            <a:noFill/>
          </a:ln>
        </p:spPr>
        <p:txBody>
          <a:bodyPr anchorCtr="0" anchor="t" bIns="34275" lIns="34275" spcFirstLastPara="1" rIns="34275" wrap="square" tIns="34275">
            <a:normAutofit/>
          </a:bodyPr>
          <a:lstStyle>
            <a:lvl1pPr indent="-228600" lvl="0" marL="457200" algn="l">
              <a:lnSpc>
                <a:spcPct val="100000"/>
              </a:lnSpc>
              <a:spcBef>
                <a:spcPts val="0"/>
              </a:spcBef>
              <a:spcAft>
                <a:spcPts val="0"/>
              </a:spcAft>
              <a:buClr>
                <a:srgbClr val="5D5D5D"/>
              </a:buClr>
              <a:buSzPts val="1400"/>
              <a:buNone/>
              <a:defRPr sz="1400">
                <a:solidFill>
                  <a:srgbClr val="5D5D5D"/>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83" name="Google Shape;83;p9"/>
          <p:cNvSpPr txBox="1"/>
          <p:nvPr>
            <p:ph idx="12" type="sldNum"/>
          </p:nvPr>
        </p:nvSpPr>
        <p:spPr>
          <a:xfrm>
            <a:off x="1756273" y="4737354"/>
            <a:ext cx="262800" cy="253800"/>
          </a:xfrm>
          <a:prstGeom prst="rect">
            <a:avLst/>
          </a:prstGeom>
          <a:noFill/>
          <a:ln>
            <a:noFill/>
          </a:ln>
        </p:spPr>
        <p:txBody>
          <a:bodyPr anchorCtr="0" anchor="ctr" bIns="34275" lIns="34275" spcFirstLastPara="1" rIns="34275" wrap="square" tIns="34275">
            <a:spAutoFit/>
          </a:bodyPr>
          <a:lstStyle>
            <a:lvl1pPr indent="0" lvl="0"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1pPr>
            <a:lvl2pPr indent="0" lvl="1"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2pPr>
            <a:lvl3pPr indent="0" lvl="2"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3pPr>
            <a:lvl4pPr indent="0" lvl="3"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4pPr>
            <a:lvl5pPr indent="0" lvl="4"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5pPr>
            <a:lvl6pPr indent="0" lvl="5"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6pPr>
            <a:lvl7pPr indent="0" lvl="6"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7pPr>
            <a:lvl8pPr indent="0" lvl="7"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8pPr>
            <a:lvl9pPr indent="0" lvl="8"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hart">
    <p:spTree>
      <p:nvGrpSpPr>
        <p:cNvPr id="84" name="Shape 84"/>
        <p:cNvGrpSpPr/>
        <p:nvPr/>
      </p:nvGrpSpPr>
      <p:grpSpPr>
        <a:xfrm>
          <a:off x="0" y="0"/>
          <a:ext cx="0" cy="0"/>
          <a:chOff x="0" y="0"/>
          <a:chExt cx="0" cy="0"/>
        </a:xfrm>
      </p:grpSpPr>
      <p:pic>
        <p:nvPicPr>
          <p:cNvPr descr="Picture 6" id="85" name="Google Shape;85;p10"/>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86" name="Google Shape;86;p10"/>
          <p:cNvSpPr/>
          <p:nvPr/>
        </p:nvSpPr>
        <p:spPr>
          <a:xfrm>
            <a:off x="864296" y="0"/>
            <a:ext cx="8279700" cy="5143500"/>
          </a:xfrm>
          <a:prstGeom prst="rect">
            <a:avLst/>
          </a:prstGeom>
          <a:solidFill>
            <a:schemeClr val="lt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87" name="Google Shape;87;p10"/>
          <p:cNvSpPr txBox="1"/>
          <p:nvPr>
            <p:ph idx="12" type="sldNum"/>
          </p:nvPr>
        </p:nvSpPr>
        <p:spPr>
          <a:xfrm>
            <a:off x="1731169" y="4740695"/>
            <a:ext cx="262800" cy="253800"/>
          </a:xfrm>
          <a:prstGeom prst="rect">
            <a:avLst/>
          </a:prstGeom>
          <a:noFill/>
          <a:ln>
            <a:noFill/>
          </a:ln>
        </p:spPr>
        <p:txBody>
          <a:bodyPr anchorCtr="0" anchor="ctr" bIns="34275" lIns="34275" spcFirstLastPara="1" rIns="34275" wrap="square" tIns="34275">
            <a:spAutoFit/>
          </a:bodyPr>
          <a:lstStyle>
            <a:lvl1pPr indent="0" lvl="0"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1pPr>
            <a:lvl2pPr indent="0" lvl="1"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2pPr>
            <a:lvl3pPr indent="0" lvl="2"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3pPr>
            <a:lvl4pPr indent="0" lvl="3"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4pPr>
            <a:lvl5pPr indent="0" lvl="4"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5pPr>
            <a:lvl6pPr indent="0" lvl="5"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6pPr>
            <a:lvl7pPr indent="0" lvl="6"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7pPr>
            <a:lvl8pPr indent="0" lvl="7"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8pPr>
            <a:lvl9pPr indent="0" lvl="8"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pic>
        <p:nvPicPr>
          <p:cNvPr id="88" name="Google Shape;88;p10"/>
          <p:cNvPicPr preferRelativeResize="0"/>
          <p:nvPr/>
        </p:nvPicPr>
        <p:blipFill rotWithShape="1">
          <a:blip r:embed="rId3">
            <a:alphaModFix/>
          </a:blip>
          <a:srcRect b="0" l="0" r="0" t="0"/>
          <a:stretch/>
        </p:blipFill>
        <p:spPr>
          <a:xfrm>
            <a:off x="6738588" y="4781811"/>
            <a:ext cx="2158020" cy="189716"/>
          </a:xfrm>
          <a:prstGeom prst="rect">
            <a:avLst/>
          </a:prstGeom>
          <a:noFill/>
          <a:ln>
            <a:noFill/>
          </a:ln>
        </p:spPr>
      </p:pic>
      <p:sp>
        <p:nvSpPr>
          <p:cNvPr id="89" name="Google Shape;89;p10"/>
          <p:cNvSpPr/>
          <p:nvPr>
            <p:ph idx="2" type="chart"/>
          </p:nvPr>
        </p:nvSpPr>
        <p:spPr>
          <a:xfrm>
            <a:off x="1731169" y="2012156"/>
            <a:ext cx="5326800" cy="2391900"/>
          </a:xfrm>
          <a:prstGeom prst="rect">
            <a:avLst/>
          </a:prstGeom>
          <a:noFill/>
          <a:ln>
            <a:noFill/>
          </a:ln>
        </p:spPr>
        <p:txBody>
          <a:bodyPr anchorCtr="0" anchor="t" bIns="34275" lIns="34275" spcFirstLastPara="1" rIns="34275" wrap="square" tIns="34275">
            <a:noAutofit/>
          </a:bodyPr>
          <a:lstStyle>
            <a:lvl1pPr lvl="0" marR="0" rtl="0" algn="l">
              <a:lnSpc>
                <a:spcPct val="90000"/>
              </a:lnSpc>
              <a:spcBef>
                <a:spcPts val="800"/>
              </a:spcBef>
              <a:spcAft>
                <a:spcPts val="0"/>
              </a:spcAft>
              <a:buClr>
                <a:srgbClr val="5D5D5D"/>
              </a:buClr>
              <a:buSzPts val="1500"/>
              <a:buFont typeface="Arial"/>
              <a:buNone/>
              <a:defRPr b="0" i="0" sz="1500" u="none" cap="none" strike="noStrike">
                <a:solidFill>
                  <a:srgbClr val="5D5D5D"/>
                </a:solidFill>
                <a:latin typeface="Open Sans Light"/>
                <a:ea typeface="Open Sans Light"/>
                <a:cs typeface="Open Sans Light"/>
                <a:sym typeface="Open Sans Light"/>
              </a:defRPr>
            </a:lvl1pPr>
            <a:lvl2pPr lvl="1" marR="0" rtl="0" algn="l">
              <a:lnSpc>
                <a:spcPct val="90000"/>
              </a:lnSpc>
              <a:spcBef>
                <a:spcPts val="800"/>
              </a:spcBef>
              <a:spcAft>
                <a:spcPts val="0"/>
              </a:spcAft>
              <a:buClr>
                <a:srgbClr val="5D5D5D"/>
              </a:buClr>
              <a:buSzPts val="1500"/>
              <a:buFont typeface="Arial"/>
              <a:buChar char="•"/>
              <a:defRPr b="0" i="0" sz="1500" u="none" cap="none" strike="noStrike">
                <a:solidFill>
                  <a:srgbClr val="5D5D5D"/>
                </a:solidFill>
                <a:latin typeface="Open Sans Light"/>
                <a:ea typeface="Open Sans Light"/>
                <a:cs typeface="Open Sans Light"/>
                <a:sym typeface="Open Sans Light"/>
              </a:defRPr>
            </a:lvl2pPr>
            <a:lvl3pPr lvl="2" marR="0" rtl="0" algn="l">
              <a:lnSpc>
                <a:spcPct val="90000"/>
              </a:lnSpc>
              <a:spcBef>
                <a:spcPts val="800"/>
              </a:spcBef>
              <a:spcAft>
                <a:spcPts val="0"/>
              </a:spcAft>
              <a:buClr>
                <a:srgbClr val="5D5D5D"/>
              </a:buClr>
              <a:buSzPts val="1500"/>
              <a:buFont typeface="Arial"/>
              <a:buChar char="•"/>
              <a:defRPr b="0" i="0" sz="1500" u="none" cap="none" strike="noStrike">
                <a:solidFill>
                  <a:srgbClr val="5D5D5D"/>
                </a:solidFill>
                <a:latin typeface="Open Sans Light"/>
                <a:ea typeface="Open Sans Light"/>
                <a:cs typeface="Open Sans Light"/>
                <a:sym typeface="Open Sans Light"/>
              </a:defRPr>
            </a:lvl3pPr>
            <a:lvl4pPr lvl="3" marR="0" rtl="0" algn="l">
              <a:lnSpc>
                <a:spcPct val="90000"/>
              </a:lnSpc>
              <a:spcBef>
                <a:spcPts val="800"/>
              </a:spcBef>
              <a:spcAft>
                <a:spcPts val="0"/>
              </a:spcAft>
              <a:buClr>
                <a:srgbClr val="5D5D5D"/>
              </a:buClr>
              <a:buSzPts val="1500"/>
              <a:buFont typeface="Arial"/>
              <a:buChar char="•"/>
              <a:defRPr b="0" i="0" sz="1500" u="none" cap="none" strike="noStrike">
                <a:solidFill>
                  <a:srgbClr val="5D5D5D"/>
                </a:solidFill>
                <a:latin typeface="Open Sans Light"/>
                <a:ea typeface="Open Sans Light"/>
                <a:cs typeface="Open Sans Light"/>
                <a:sym typeface="Open Sans Light"/>
              </a:defRPr>
            </a:lvl4pPr>
            <a:lvl5pPr lvl="4" marR="0" rtl="0" algn="l">
              <a:lnSpc>
                <a:spcPct val="90000"/>
              </a:lnSpc>
              <a:spcBef>
                <a:spcPts val="800"/>
              </a:spcBef>
              <a:spcAft>
                <a:spcPts val="0"/>
              </a:spcAft>
              <a:buClr>
                <a:srgbClr val="5D5D5D"/>
              </a:buClr>
              <a:buSzPts val="1500"/>
              <a:buFont typeface="Arial"/>
              <a:buChar char="•"/>
              <a:defRPr b="0" i="0" sz="1500" u="none" cap="none" strike="noStrike">
                <a:solidFill>
                  <a:srgbClr val="5D5D5D"/>
                </a:solidFill>
                <a:latin typeface="Open Sans Light"/>
                <a:ea typeface="Open Sans Light"/>
                <a:cs typeface="Open Sans Light"/>
                <a:sym typeface="Open Sans Light"/>
              </a:defRPr>
            </a:lvl5pPr>
            <a:lvl6pPr lvl="5" marR="0" rtl="0" algn="l">
              <a:lnSpc>
                <a:spcPct val="90000"/>
              </a:lnSpc>
              <a:spcBef>
                <a:spcPts val="800"/>
              </a:spcBef>
              <a:spcAft>
                <a:spcPts val="0"/>
              </a:spcAft>
              <a:buClr>
                <a:srgbClr val="000000"/>
              </a:buClr>
              <a:buSzPts val="2100"/>
              <a:buFont typeface="Arial"/>
              <a:buChar char="•"/>
              <a:defRPr b="0" i="0" sz="2100" u="none" cap="none" strike="noStrike">
                <a:solidFill>
                  <a:srgbClr val="000000"/>
                </a:solidFill>
                <a:latin typeface="Open Sans ExtraBold"/>
                <a:ea typeface="Open Sans ExtraBold"/>
                <a:cs typeface="Open Sans ExtraBold"/>
                <a:sym typeface="Open Sans ExtraBold"/>
              </a:defRPr>
            </a:lvl6pPr>
            <a:lvl7pPr lvl="6" marR="0" rtl="0" algn="l">
              <a:lnSpc>
                <a:spcPct val="90000"/>
              </a:lnSpc>
              <a:spcBef>
                <a:spcPts val="800"/>
              </a:spcBef>
              <a:spcAft>
                <a:spcPts val="0"/>
              </a:spcAft>
              <a:buClr>
                <a:srgbClr val="000000"/>
              </a:buClr>
              <a:buSzPts val="2100"/>
              <a:buFont typeface="Arial"/>
              <a:buChar char="•"/>
              <a:defRPr b="0" i="0" sz="2100" u="none" cap="none" strike="noStrike">
                <a:solidFill>
                  <a:srgbClr val="000000"/>
                </a:solidFill>
                <a:latin typeface="Open Sans ExtraBold"/>
                <a:ea typeface="Open Sans ExtraBold"/>
                <a:cs typeface="Open Sans ExtraBold"/>
                <a:sym typeface="Open Sans ExtraBold"/>
              </a:defRPr>
            </a:lvl7pPr>
            <a:lvl8pPr lvl="7" marR="0" rtl="0" algn="l">
              <a:lnSpc>
                <a:spcPct val="90000"/>
              </a:lnSpc>
              <a:spcBef>
                <a:spcPts val="800"/>
              </a:spcBef>
              <a:spcAft>
                <a:spcPts val="0"/>
              </a:spcAft>
              <a:buClr>
                <a:srgbClr val="000000"/>
              </a:buClr>
              <a:buSzPts val="2100"/>
              <a:buFont typeface="Arial"/>
              <a:buChar char="•"/>
              <a:defRPr b="0" i="0" sz="2100" u="none" cap="none" strike="noStrike">
                <a:solidFill>
                  <a:srgbClr val="000000"/>
                </a:solidFill>
                <a:latin typeface="Open Sans ExtraBold"/>
                <a:ea typeface="Open Sans ExtraBold"/>
                <a:cs typeface="Open Sans ExtraBold"/>
                <a:sym typeface="Open Sans ExtraBold"/>
              </a:defRPr>
            </a:lvl8pPr>
            <a:lvl9pPr lvl="8" marR="0" rtl="0" algn="l">
              <a:lnSpc>
                <a:spcPct val="90000"/>
              </a:lnSpc>
              <a:spcBef>
                <a:spcPts val="800"/>
              </a:spcBef>
              <a:spcAft>
                <a:spcPts val="0"/>
              </a:spcAft>
              <a:buClr>
                <a:srgbClr val="000000"/>
              </a:buClr>
              <a:buSzPts val="2100"/>
              <a:buFont typeface="Arial"/>
              <a:buChar char="•"/>
              <a:defRPr b="0" i="0" sz="2100" u="none" cap="none" strike="noStrike">
                <a:solidFill>
                  <a:srgbClr val="000000"/>
                </a:solidFill>
                <a:latin typeface="Open Sans ExtraBold"/>
                <a:ea typeface="Open Sans ExtraBold"/>
                <a:cs typeface="Open Sans ExtraBold"/>
                <a:sym typeface="Open Sans ExtraBold"/>
              </a:defRPr>
            </a:lvl9pPr>
          </a:lstStyle>
          <a:p/>
        </p:txBody>
      </p:sp>
      <p:cxnSp>
        <p:nvCxnSpPr>
          <p:cNvPr id="90" name="Google Shape;90;p10"/>
          <p:cNvCxnSpPr/>
          <p:nvPr/>
        </p:nvCxnSpPr>
        <p:spPr>
          <a:xfrm>
            <a:off x="1788091" y="1211792"/>
            <a:ext cx="6883200" cy="0"/>
          </a:xfrm>
          <a:prstGeom prst="straightConnector1">
            <a:avLst/>
          </a:prstGeom>
          <a:noFill/>
          <a:ln cap="flat" cmpd="sng" w="9525">
            <a:solidFill>
              <a:srgbClr val="A5A5A5"/>
            </a:solidFill>
            <a:prstDash val="solid"/>
            <a:miter lim="800000"/>
            <a:headEnd len="sm" w="sm" type="none"/>
            <a:tailEnd len="sm" w="sm" type="none"/>
          </a:ln>
        </p:spPr>
      </p:cxnSp>
      <p:pic>
        <p:nvPicPr>
          <p:cNvPr id="91" name="Google Shape;91;p10"/>
          <p:cNvPicPr preferRelativeResize="0"/>
          <p:nvPr/>
        </p:nvPicPr>
        <p:blipFill rotWithShape="1">
          <a:blip r:embed="rId4">
            <a:alphaModFix/>
          </a:blip>
          <a:srcRect b="0" l="0" r="0" t="0"/>
          <a:stretch/>
        </p:blipFill>
        <p:spPr>
          <a:xfrm>
            <a:off x="2778479" y="2012440"/>
            <a:ext cx="3587100" cy="2391300"/>
          </a:xfrm>
          <a:prstGeom prst="rect">
            <a:avLst/>
          </a:prstGeom>
          <a:noFill/>
          <a:ln>
            <a:noFill/>
          </a:ln>
        </p:spPr>
      </p:pic>
      <p:sp>
        <p:nvSpPr>
          <p:cNvPr id="92" name="Google Shape;92;p10"/>
          <p:cNvSpPr txBox="1"/>
          <p:nvPr>
            <p:ph idx="1" type="body"/>
          </p:nvPr>
        </p:nvSpPr>
        <p:spPr>
          <a:xfrm>
            <a:off x="1788319" y="617935"/>
            <a:ext cx="4412400" cy="484500"/>
          </a:xfrm>
          <a:prstGeom prst="rect">
            <a:avLst/>
          </a:prstGeom>
          <a:noFill/>
          <a:ln>
            <a:noFill/>
          </a:ln>
        </p:spPr>
        <p:txBody>
          <a:bodyPr anchorCtr="0" anchor="ctr" bIns="34275" lIns="34275" spcFirstLastPara="1" rIns="34275" wrap="square" tIns="34275">
            <a:normAutofit/>
          </a:bodyPr>
          <a:lstStyle>
            <a:lvl1pPr indent="-228600" lvl="0" marL="457200" algn="l">
              <a:lnSpc>
                <a:spcPct val="90000"/>
              </a:lnSpc>
              <a:spcBef>
                <a:spcPts val="800"/>
              </a:spcBef>
              <a:spcAft>
                <a:spcPts val="0"/>
              </a:spcAft>
              <a:buClr>
                <a:srgbClr val="5D5D5D"/>
              </a:buClr>
              <a:buSzPts val="2700"/>
              <a:buNone/>
              <a:defRPr sz="2700">
                <a:solidFill>
                  <a:srgbClr val="5D5D5D"/>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93" name="Google Shape;93;p10"/>
          <p:cNvSpPr txBox="1"/>
          <p:nvPr>
            <p:ph idx="3" type="body"/>
          </p:nvPr>
        </p:nvSpPr>
        <p:spPr>
          <a:xfrm>
            <a:off x="1731169" y="1634729"/>
            <a:ext cx="5007300" cy="276300"/>
          </a:xfrm>
          <a:prstGeom prst="rect">
            <a:avLst/>
          </a:prstGeom>
          <a:noFill/>
          <a:ln>
            <a:noFill/>
          </a:ln>
        </p:spPr>
        <p:txBody>
          <a:bodyPr anchorCtr="0" anchor="t" bIns="34275" lIns="34275" spcFirstLastPara="1" rIns="34275" wrap="square" tIns="34275">
            <a:normAutofit/>
          </a:bodyPr>
          <a:lstStyle>
            <a:lvl1pPr indent="-228600" lvl="0" marL="457200" algn="l">
              <a:lnSpc>
                <a:spcPct val="100000"/>
              </a:lnSpc>
              <a:spcBef>
                <a:spcPts val="0"/>
              </a:spcBef>
              <a:spcAft>
                <a:spcPts val="0"/>
              </a:spcAft>
              <a:buClr>
                <a:srgbClr val="5D5D5D"/>
              </a:buClr>
              <a:buSzPts val="1400"/>
              <a:buNone/>
              <a:defRPr b="1" sz="1400">
                <a:solidFill>
                  <a:srgbClr val="5D5D5D"/>
                </a:solidFill>
                <a:latin typeface="Open Sans"/>
                <a:ea typeface="Open Sans"/>
                <a:cs typeface="Open Sans"/>
                <a:sym typeface="Open Sans"/>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 and Photo">
  <p:cSld name="Column and Photo">
    <p:spTree>
      <p:nvGrpSpPr>
        <p:cNvPr id="94" name="Shape 94"/>
        <p:cNvGrpSpPr/>
        <p:nvPr/>
      </p:nvGrpSpPr>
      <p:grpSpPr>
        <a:xfrm>
          <a:off x="0" y="0"/>
          <a:ext cx="0" cy="0"/>
          <a:chOff x="0" y="0"/>
          <a:chExt cx="0" cy="0"/>
        </a:xfrm>
      </p:grpSpPr>
      <p:pic>
        <p:nvPicPr>
          <p:cNvPr descr="Picture 6" id="95" name="Google Shape;95;p11"/>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96" name="Google Shape;96;p11"/>
          <p:cNvSpPr/>
          <p:nvPr/>
        </p:nvSpPr>
        <p:spPr>
          <a:xfrm>
            <a:off x="0" y="0"/>
            <a:ext cx="9144000" cy="5143500"/>
          </a:xfrm>
          <a:prstGeom prst="rect">
            <a:avLst/>
          </a:prstGeom>
          <a:solidFill>
            <a:schemeClr val="lt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cxnSp>
        <p:nvCxnSpPr>
          <p:cNvPr id="97" name="Google Shape;97;p11"/>
          <p:cNvCxnSpPr/>
          <p:nvPr/>
        </p:nvCxnSpPr>
        <p:spPr>
          <a:xfrm>
            <a:off x="609803" y="1501329"/>
            <a:ext cx="2471700" cy="0"/>
          </a:xfrm>
          <a:prstGeom prst="straightConnector1">
            <a:avLst/>
          </a:prstGeom>
          <a:noFill/>
          <a:ln cap="flat" cmpd="sng" w="9525">
            <a:solidFill>
              <a:srgbClr val="A5A5A5"/>
            </a:solidFill>
            <a:prstDash val="solid"/>
            <a:miter lim="800000"/>
            <a:headEnd len="sm" w="sm" type="none"/>
            <a:tailEnd len="sm" w="sm" type="none"/>
          </a:ln>
        </p:spPr>
      </p:cxnSp>
      <p:pic>
        <p:nvPicPr>
          <p:cNvPr id="98" name="Google Shape;98;p11"/>
          <p:cNvPicPr preferRelativeResize="0"/>
          <p:nvPr/>
        </p:nvPicPr>
        <p:blipFill rotWithShape="1">
          <a:blip r:embed="rId3">
            <a:alphaModFix/>
          </a:blip>
          <a:srcRect b="0" l="0" r="0" t="0"/>
          <a:stretch/>
        </p:blipFill>
        <p:spPr>
          <a:xfrm>
            <a:off x="6738588" y="4781811"/>
            <a:ext cx="2158020" cy="189716"/>
          </a:xfrm>
          <a:prstGeom prst="rect">
            <a:avLst/>
          </a:prstGeom>
          <a:noFill/>
          <a:ln>
            <a:noFill/>
          </a:ln>
        </p:spPr>
      </p:pic>
      <p:sp>
        <p:nvSpPr>
          <p:cNvPr id="99" name="Google Shape;99;p11"/>
          <p:cNvSpPr/>
          <p:nvPr/>
        </p:nvSpPr>
        <p:spPr>
          <a:xfrm>
            <a:off x="3663175" y="0"/>
            <a:ext cx="5480700" cy="5143500"/>
          </a:xfrm>
          <a:prstGeom prst="rect">
            <a:avLst/>
          </a:prstGeom>
          <a:solidFill>
            <a:srgbClr val="BFBFB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00" name="Google Shape;100;p11"/>
          <p:cNvSpPr/>
          <p:nvPr>
            <p:ph idx="2" type="pic"/>
          </p:nvPr>
        </p:nvSpPr>
        <p:spPr>
          <a:xfrm>
            <a:off x="3663554" y="0"/>
            <a:ext cx="5480400" cy="5143500"/>
          </a:xfrm>
          <a:prstGeom prst="rect">
            <a:avLst/>
          </a:prstGeom>
          <a:noFill/>
          <a:ln>
            <a:noFill/>
          </a:ln>
        </p:spPr>
      </p:sp>
      <p:sp>
        <p:nvSpPr>
          <p:cNvPr id="101" name="Google Shape;101;p11"/>
          <p:cNvSpPr txBox="1"/>
          <p:nvPr>
            <p:ph idx="1" type="body"/>
          </p:nvPr>
        </p:nvSpPr>
        <p:spPr>
          <a:xfrm>
            <a:off x="609600" y="450056"/>
            <a:ext cx="2472000" cy="900000"/>
          </a:xfrm>
          <a:prstGeom prst="rect">
            <a:avLst/>
          </a:prstGeom>
          <a:noFill/>
          <a:ln>
            <a:noFill/>
          </a:ln>
        </p:spPr>
        <p:txBody>
          <a:bodyPr anchorCtr="0" anchor="ctr" bIns="34275" lIns="34275" spcFirstLastPara="1" rIns="34275" wrap="square" tIns="34275">
            <a:normAutofit/>
          </a:bodyPr>
          <a:lstStyle>
            <a:lvl1pPr indent="-228600" lvl="0" marL="457200" algn="l">
              <a:lnSpc>
                <a:spcPct val="100000"/>
              </a:lnSpc>
              <a:spcBef>
                <a:spcPts val="0"/>
              </a:spcBef>
              <a:spcAft>
                <a:spcPts val="0"/>
              </a:spcAft>
              <a:buClr>
                <a:srgbClr val="5D5D5D"/>
              </a:buClr>
              <a:buSzPts val="2700"/>
              <a:buNone/>
              <a:defRPr sz="2700">
                <a:solidFill>
                  <a:srgbClr val="5D5D5D"/>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102" name="Google Shape;102;p11"/>
          <p:cNvSpPr txBox="1"/>
          <p:nvPr>
            <p:ph idx="3" type="body"/>
          </p:nvPr>
        </p:nvSpPr>
        <p:spPr>
          <a:xfrm>
            <a:off x="582216" y="1901429"/>
            <a:ext cx="2499300" cy="1224000"/>
          </a:xfrm>
          <a:prstGeom prst="rect">
            <a:avLst/>
          </a:prstGeom>
          <a:noFill/>
          <a:ln>
            <a:noFill/>
          </a:ln>
        </p:spPr>
        <p:txBody>
          <a:bodyPr anchorCtr="0" anchor="t" bIns="34275" lIns="34275" spcFirstLastPara="1" rIns="34275" wrap="square" tIns="34275">
            <a:normAutofit/>
          </a:bodyPr>
          <a:lstStyle>
            <a:lvl1pPr indent="-228600" lvl="0" marL="457200" algn="l">
              <a:lnSpc>
                <a:spcPct val="100000"/>
              </a:lnSpc>
              <a:spcBef>
                <a:spcPts val="0"/>
              </a:spcBef>
              <a:spcAft>
                <a:spcPts val="0"/>
              </a:spcAft>
              <a:buClr>
                <a:srgbClr val="5D5D5D"/>
              </a:buClr>
              <a:buSzPts val="1500"/>
              <a:buNone/>
              <a:defRPr>
                <a:solidFill>
                  <a:srgbClr val="5D5D5D"/>
                </a:solidFill>
              </a:defRPr>
            </a:lvl1pPr>
            <a:lvl2pPr indent="-317500" lvl="1" marL="914400" algn="l">
              <a:lnSpc>
                <a:spcPct val="90000"/>
              </a:lnSpc>
              <a:spcBef>
                <a:spcPts val="15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103" name="Google Shape;103;p11"/>
          <p:cNvSpPr txBox="1"/>
          <p:nvPr>
            <p:ph idx="12" type="sldNum"/>
          </p:nvPr>
        </p:nvSpPr>
        <p:spPr>
          <a:xfrm>
            <a:off x="609600" y="4749711"/>
            <a:ext cx="262800" cy="253800"/>
          </a:xfrm>
          <a:prstGeom prst="rect">
            <a:avLst/>
          </a:prstGeom>
          <a:noFill/>
          <a:ln>
            <a:noFill/>
          </a:ln>
        </p:spPr>
        <p:txBody>
          <a:bodyPr anchorCtr="0" anchor="ctr" bIns="34275" lIns="34275" spcFirstLastPara="1" rIns="34275" wrap="square" tIns="34275">
            <a:spAutoFit/>
          </a:bodyPr>
          <a:lstStyle>
            <a:lvl1pPr indent="0" lvl="0"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1pPr>
            <a:lvl2pPr indent="0" lvl="1"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2pPr>
            <a:lvl3pPr indent="0" lvl="2"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3pPr>
            <a:lvl4pPr indent="0" lvl="3"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4pPr>
            <a:lvl5pPr indent="0" lvl="4"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5pPr>
            <a:lvl6pPr indent="0" lvl="5"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6pPr>
            <a:lvl7pPr indent="0" lvl="6"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7pPr>
            <a:lvl8pPr indent="0" lvl="7"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8pPr>
            <a:lvl9pPr indent="0" lvl="8"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 and Image">
  <p:cSld name="Column and Image">
    <p:spTree>
      <p:nvGrpSpPr>
        <p:cNvPr id="104" name="Shape 104"/>
        <p:cNvGrpSpPr/>
        <p:nvPr/>
      </p:nvGrpSpPr>
      <p:grpSpPr>
        <a:xfrm>
          <a:off x="0" y="0"/>
          <a:ext cx="0" cy="0"/>
          <a:chOff x="0" y="0"/>
          <a:chExt cx="0" cy="0"/>
        </a:xfrm>
      </p:grpSpPr>
      <p:cxnSp>
        <p:nvCxnSpPr>
          <p:cNvPr id="105" name="Google Shape;105;p12"/>
          <p:cNvCxnSpPr/>
          <p:nvPr/>
        </p:nvCxnSpPr>
        <p:spPr>
          <a:xfrm>
            <a:off x="609803" y="1501329"/>
            <a:ext cx="2471700" cy="0"/>
          </a:xfrm>
          <a:prstGeom prst="straightConnector1">
            <a:avLst/>
          </a:prstGeom>
          <a:noFill/>
          <a:ln cap="flat" cmpd="sng" w="9525">
            <a:solidFill>
              <a:srgbClr val="A5A5A5"/>
            </a:solidFill>
            <a:prstDash val="solid"/>
            <a:miter lim="800000"/>
            <a:headEnd len="sm" w="sm" type="none"/>
            <a:tailEnd len="sm" w="sm" type="none"/>
          </a:ln>
        </p:spPr>
      </p:cxnSp>
      <p:pic>
        <p:nvPicPr>
          <p:cNvPr id="106" name="Google Shape;106;p12"/>
          <p:cNvPicPr preferRelativeResize="0"/>
          <p:nvPr/>
        </p:nvPicPr>
        <p:blipFill rotWithShape="1">
          <a:blip r:embed="rId2">
            <a:alphaModFix/>
          </a:blip>
          <a:srcRect b="0" l="0" r="0" t="0"/>
          <a:stretch/>
        </p:blipFill>
        <p:spPr>
          <a:xfrm>
            <a:off x="6738588" y="4781811"/>
            <a:ext cx="2158020" cy="189716"/>
          </a:xfrm>
          <a:prstGeom prst="rect">
            <a:avLst/>
          </a:prstGeom>
          <a:noFill/>
          <a:ln>
            <a:noFill/>
          </a:ln>
        </p:spPr>
      </p:pic>
      <p:sp>
        <p:nvSpPr>
          <p:cNvPr id="107" name="Google Shape;107;p12"/>
          <p:cNvSpPr txBox="1"/>
          <p:nvPr>
            <p:ph idx="1" type="body"/>
          </p:nvPr>
        </p:nvSpPr>
        <p:spPr>
          <a:xfrm>
            <a:off x="609600" y="450056"/>
            <a:ext cx="2472000" cy="900000"/>
          </a:xfrm>
          <a:prstGeom prst="rect">
            <a:avLst/>
          </a:prstGeom>
          <a:noFill/>
          <a:ln>
            <a:noFill/>
          </a:ln>
        </p:spPr>
        <p:txBody>
          <a:bodyPr anchorCtr="0" anchor="ctr" bIns="34275" lIns="34275" spcFirstLastPara="1" rIns="34275" wrap="square" tIns="34275">
            <a:normAutofit/>
          </a:bodyPr>
          <a:lstStyle>
            <a:lvl1pPr indent="-228600" lvl="0" marL="457200" algn="l">
              <a:lnSpc>
                <a:spcPct val="100000"/>
              </a:lnSpc>
              <a:spcBef>
                <a:spcPts val="0"/>
              </a:spcBef>
              <a:spcAft>
                <a:spcPts val="0"/>
              </a:spcAft>
              <a:buClr>
                <a:srgbClr val="5D5D5D"/>
              </a:buClr>
              <a:buSzPts val="2700"/>
              <a:buNone/>
              <a:defRPr sz="2700">
                <a:solidFill>
                  <a:srgbClr val="5D5D5D"/>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108" name="Google Shape;108;p12"/>
          <p:cNvSpPr txBox="1"/>
          <p:nvPr>
            <p:ph idx="2" type="body"/>
          </p:nvPr>
        </p:nvSpPr>
        <p:spPr>
          <a:xfrm>
            <a:off x="582216" y="1901428"/>
            <a:ext cx="2499300" cy="2277600"/>
          </a:xfrm>
          <a:prstGeom prst="rect">
            <a:avLst/>
          </a:prstGeom>
          <a:noFill/>
          <a:ln>
            <a:noFill/>
          </a:ln>
        </p:spPr>
        <p:txBody>
          <a:bodyPr anchorCtr="0" anchor="t" bIns="34275" lIns="34275" spcFirstLastPara="1" rIns="34275" wrap="square" tIns="34275">
            <a:normAutofit/>
          </a:bodyPr>
          <a:lstStyle>
            <a:lvl1pPr indent="-228600" lvl="0" marL="457200" algn="l">
              <a:lnSpc>
                <a:spcPct val="100000"/>
              </a:lnSpc>
              <a:spcBef>
                <a:spcPts val="0"/>
              </a:spcBef>
              <a:spcAft>
                <a:spcPts val="0"/>
              </a:spcAft>
              <a:buClr>
                <a:srgbClr val="5D5D5D"/>
              </a:buClr>
              <a:buSzPts val="1500"/>
              <a:buNone/>
              <a:defRPr>
                <a:solidFill>
                  <a:srgbClr val="5D5D5D"/>
                </a:solidFill>
              </a:defRPr>
            </a:lvl1pPr>
            <a:lvl2pPr indent="-317500" lvl="1" marL="914400" algn="l">
              <a:lnSpc>
                <a:spcPct val="90000"/>
              </a:lnSpc>
              <a:spcBef>
                <a:spcPts val="15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109" name="Google Shape;109;p12"/>
          <p:cNvSpPr/>
          <p:nvPr>
            <p:ph idx="3" type="pic"/>
          </p:nvPr>
        </p:nvSpPr>
        <p:spPr>
          <a:xfrm>
            <a:off x="3663554" y="892969"/>
            <a:ext cx="5233200" cy="3845700"/>
          </a:xfrm>
          <a:prstGeom prst="rect">
            <a:avLst/>
          </a:prstGeom>
          <a:noFill/>
          <a:ln>
            <a:noFill/>
          </a:ln>
        </p:spPr>
      </p:sp>
      <p:sp>
        <p:nvSpPr>
          <p:cNvPr id="110" name="Google Shape;110;p12"/>
          <p:cNvSpPr txBox="1"/>
          <p:nvPr>
            <p:ph idx="12" type="sldNum"/>
          </p:nvPr>
        </p:nvSpPr>
        <p:spPr>
          <a:xfrm>
            <a:off x="607591" y="4749711"/>
            <a:ext cx="262800" cy="253800"/>
          </a:xfrm>
          <a:prstGeom prst="rect">
            <a:avLst/>
          </a:prstGeom>
          <a:noFill/>
          <a:ln>
            <a:noFill/>
          </a:ln>
        </p:spPr>
        <p:txBody>
          <a:bodyPr anchorCtr="0" anchor="ctr" bIns="34275" lIns="34275" spcFirstLastPara="1" rIns="34275" wrap="square" tIns="34275">
            <a:spAutoFit/>
          </a:bodyPr>
          <a:lstStyle>
            <a:lvl1pPr indent="0" lvl="0"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1pPr>
            <a:lvl2pPr indent="0" lvl="1"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2pPr>
            <a:lvl3pPr indent="0" lvl="2"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3pPr>
            <a:lvl4pPr indent="0" lvl="3"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4pPr>
            <a:lvl5pPr indent="0" lvl="4"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5pPr>
            <a:lvl6pPr indent="0" lvl="5"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6pPr>
            <a:lvl7pPr indent="0" lvl="6"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7pPr>
            <a:lvl8pPr indent="0" lvl="7"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8pPr>
            <a:lvl9pPr indent="0" lvl="8" marL="0" algn="r">
              <a:lnSpc>
                <a:spcPct val="100000"/>
              </a:lnSpc>
              <a:spcBef>
                <a:spcPts val="0"/>
              </a:spcBef>
              <a:spcAft>
                <a:spcPts val="0"/>
              </a:spcAft>
              <a:buClr>
                <a:srgbClr val="828282"/>
              </a:buClr>
              <a:buSzPts val="1200"/>
              <a:buFont typeface="Open Sans"/>
              <a:buNone/>
              <a:defRPr b="0" i="0" sz="12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Slide Photo">
  <p:cSld name="Full-Slide Photo">
    <p:spTree>
      <p:nvGrpSpPr>
        <p:cNvPr id="111" name="Shape 111"/>
        <p:cNvGrpSpPr/>
        <p:nvPr/>
      </p:nvGrpSpPr>
      <p:grpSpPr>
        <a:xfrm>
          <a:off x="0" y="0"/>
          <a:ext cx="0" cy="0"/>
          <a:chOff x="0" y="0"/>
          <a:chExt cx="0" cy="0"/>
        </a:xfrm>
      </p:grpSpPr>
      <p:sp>
        <p:nvSpPr>
          <p:cNvPr id="112" name="Google Shape;112;p13"/>
          <p:cNvSpPr/>
          <p:nvPr>
            <p:ph idx="2" type="pic"/>
          </p:nvPr>
        </p:nvSpPr>
        <p:spPr>
          <a:xfrm>
            <a:off x="0" y="0"/>
            <a:ext cx="9144000" cy="51435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Column Photo &amp; Text">
  <p:cSld name="3-Column Photo &amp; Text">
    <p:spTree>
      <p:nvGrpSpPr>
        <p:cNvPr id="113" name="Shape 113"/>
        <p:cNvGrpSpPr/>
        <p:nvPr/>
      </p:nvGrpSpPr>
      <p:grpSpPr>
        <a:xfrm>
          <a:off x="0" y="0"/>
          <a:ext cx="0" cy="0"/>
          <a:chOff x="0" y="0"/>
          <a:chExt cx="0" cy="0"/>
        </a:xfrm>
      </p:grpSpPr>
      <p:sp>
        <p:nvSpPr>
          <p:cNvPr id="114" name="Google Shape;114;p14"/>
          <p:cNvSpPr/>
          <p:nvPr/>
        </p:nvSpPr>
        <p:spPr>
          <a:xfrm>
            <a:off x="3139859" y="101203"/>
            <a:ext cx="2897100" cy="4946400"/>
          </a:xfrm>
          <a:prstGeom prst="rect">
            <a:avLst/>
          </a:prstGeom>
          <a:solidFill>
            <a:srgbClr val="BFBFB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15" name="Google Shape;115;p14"/>
          <p:cNvSpPr/>
          <p:nvPr/>
        </p:nvSpPr>
        <p:spPr>
          <a:xfrm>
            <a:off x="6138143" y="101203"/>
            <a:ext cx="2897100" cy="4946400"/>
          </a:xfrm>
          <a:prstGeom prst="rect">
            <a:avLst/>
          </a:prstGeom>
          <a:solidFill>
            <a:srgbClr val="BFBFB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16" name="Google Shape;116;p14"/>
          <p:cNvSpPr/>
          <p:nvPr/>
        </p:nvSpPr>
        <p:spPr>
          <a:xfrm>
            <a:off x="124848" y="101203"/>
            <a:ext cx="2913900" cy="4946400"/>
          </a:xfrm>
          <a:prstGeom prst="rect">
            <a:avLst/>
          </a:prstGeom>
          <a:solidFill>
            <a:srgbClr val="BFBFB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17" name="Google Shape;117;p14"/>
          <p:cNvSpPr txBox="1"/>
          <p:nvPr>
            <p:ph idx="1" type="body"/>
          </p:nvPr>
        </p:nvSpPr>
        <p:spPr>
          <a:xfrm>
            <a:off x="125016" y="101203"/>
            <a:ext cx="2913600" cy="4947000"/>
          </a:xfrm>
          <a:prstGeom prst="rect">
            <a:avLst/>
          </a:prstGeom>
          <a:noFill/>
          <a:ln>
            <a:noFill/>
          </a:ln>
        </p:spPr>
        <p:txBody>
          <a:bodyPr anchorCtr="0" anchor="ctr" bIns="34275" lIns="34275" spcFirstLastPara="1" rIns="34275" wrap="square" tIns="34275">
            <a:normAutofit/>
          </a:bodyPr>
          <a:lstStyle>
            <a:lvl1pPr indent="-228600" lvl="0" marL="457200" algn="l">
              <a:lnSpc>
                <a:spcPct val="90000"/>
              </a:lnSpc>
              <a:spcBef>
                <a:spcPts val="800"/>
              </a:spcBef>
              <a:spcAft>
                <a:spcPts val="0"/>
              </a:spcAft>
              <a:buClr>
                <a:srgbClr val="828282"/>
              </a:buClr>
              <a:buSzPts val="1500"/>
              <a:buNone/>
              <a:defRPr>
                <a:solidFill>
                  <a:srgbClr val="828282"/>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118" name="Google Shape;118;p14"/>
          <p:cNvSpPr txBox="1"/>
          <p:nvPr>
            <p:ph idx="2" type="body"/>
          </p:nvPr>
        </p:nvSpPr>
        <p:spPr>
          <a:xfrm>
            <a:off x="3139859" y="101203"/>
            <a:ext cx="2897100" cy="4947000"/>
          </a:xfrm>
          <a:prstGeom prst="rect">
            <a:avLst/>
          </a:prstGeom>
          <a:noFill/>
          <a:ln>
            <a:noFill/>
          </a:ln>
        </p:spPr>
        <p:txBody>
          <a:bodyPr anchorCtr="0" anchor="ctr" bIns="34275" lIns="34275" spcFirstLastPara="1" rIns="34275" wrap="square" tIns="34275">
            <a:normAutofit/>
          </a:bodyPr>
          <a:lstStyle>
            <a:lvl1pPr indent="-228600" lvl="0" marL="457200" algn="l">
              <a:lnSpc>
                <a:spcPct val="90000"/>
              </a:lnSpc>
              <a:spcBef>
                <a:spcPts val="800"/>
              </a:spcBef>
              <a:spcAft>
                <a:spcPts val="0"/>
              </a:spcAft>
              <a:buClr>
                <a:srgbClr val="828282"/>
              </a:buClr>
              <a:buSzPts val="1500"/>
              <a:buNone/>
              <a:defRPr>
                <a:solidFill>
                  <a:srgbClr val="828282"/>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119" name="Google Shape;119;p14"/>
          <p:cNvSpPr txBox="1"/>
          <p:nvPr>
            <p:ph idx="3" type="body"/>
          </p:nvPr>
        </p:nvSpPr>
        <p:spPr>
          <a:xfrm>
            <a:off x="6138143" y="101203"/>
            <a:ext cx="2897100" cy="4947000"/>
          </a:xfrm>
          <a:prstGeom prst="rect">
            <a:avLst/>
          </a:prstGeom>
          <a:noFill/>
          <a:ln>
            <a:noFill/>
          </a:ln>
        </p:spPr>
        <p:txBody>
          <a:bodyPr anchorCtr="0" anchor="ctr" bIns="34275" lIns="34275" spcFirstLastPara="1" rIns="34275" wrap="square" tIns="34275">
            <a:normAutofit/>
          </a:bodyPr>
          <a:lstStyle>
            <a:lvl1pPr indent="-228600" lvl="0" marL="457200" algn="l">
              <a:lnSpc>
                <a:spcPct val="90000"/>
              </a:lnSpc>
              <a:spcBef>
                <a:spcPts val="800"/>
              </a:spcBef>
              <a:spcAft>
                <a:spcPts val="0"/>
              </a:spcAft>
              <a:buClr>
                <a:srgbClr val="828282"/>
              </a:buClr>
              <a:buSzPts val="1500"/>
              <a:buNone/>
              <a:defRPr>
                <a:solidFill>
                  <a:srgbClr val="828282"/>
                </a:solidFill>
              </a:defRPr>
            </a:lvl1pPr>
            <a:lvl2pPr indent="-317500" lvl="1" marL="914400" algn="l">
              <a:lnSpc>
                <a:spcPct val="90000"/>
              </a:lnSpc>
              <a:spcBef>
                <a:spcPts val="800"/>
              </a:spcBef>
              <a:spcAft>
                <a:spcPts val="0"/>
              </a:spcAft>
              <a:buClr>
                <a:srgbClr val="5D5D5D"/>
              </a:buClr>
              <a:buSzPts val="1400"/>
              <a:buChar char="•"/>
              <a:defRPr/>
            </a:lvl2pPr>
            <a:lvl3pPr indent="-317500" lvl="2" marL="1371600" algn="l">
              <a:lnSpc>
                <a:spcPct val="90000"/>
              </a:lnSpc>
              <a:spcBef>
                <a:spcPts val="800"/>
              </a:spcBef>
              <a:spcAft>
                <a:spcPts val="0"/>
              </a:spcAft>
              <a:buClr>
                <a:srgbClr val="5D5D5D"/>
              </a:buClr>
              <a:buSzPts val="1400"/>
              <a:buChar char="•"/>
              <a:defRPr/>
            </a:lvl3pPr>
            <a:lvl4pPr indent="-317500" lvl="3" marL="1828800" algn="l">
              <a:lnSpc>
                <a:spcPct val="90000"/>
              </a:lnSpc>
              <a:spcBef>
                <a:spcPts val="800"/>
              </a:spcBef>
              <a:spcAft>
                <a:spcPts val="0"/>
              </a:spcAft>
              <a:buClr>
                <a:srgbClr val="5D5D5D"/>
              </a:buClr>
              <a:buSzPts val="1400"/>
              <a:buChar char="•"/>
              <a:defRPr/>
            </a:lvl4pPr>
            <a:lvl5pPr indent="-317500" lvl="4" marL="2286000" algn="l">
              <a:lnSpc>
                <a:spcPct val="90000"/>
              </a:lnSpc>
              <a:spcBef>
                <a:spcPts val="800"/>
              </a:spcBef>
              <a:spcAft>
                <a:spcPts val="0"/>
              </a:spcAft>
              <a:buClr>
                <a:srgbClr val="5D5D5D"/>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0" name="Shape 120"/>
        <p:cNvGrpSpPr/>
        <p:nvPr/>
      </p:nvGrpSpPr>
      <p:grpSpPr>
        <a:xfrm>
          <a:off x="0" y="0"/>
          <a:ext cx="0" cy="0"/>
          <a:chOff x="0" y="0"/>
          <a:chExt cx="0" cy="0"/>
        </a:xfrm>
      </p:grpSpPr>
      <p:sp>
        <p:nvSpPr>
          <p:cNvPr id="121" name="Google Shape;121;p15"/>
          <p:cNvSpPr txBox="1"/>
          <p:nvPr>
            <p:ph type="ctrTitle"/>
          </p:nvPr>
        </p:nvSpPr>
        <p:spPr>
          <a:xfrm>
            <a:off x="311708" y="744575"/>
            <a:ext cx="8520600" cy="2052600"/>
          </a:xfrm>
          <a:prstGeom prst="rect">
            <a:avLst/>
          </a:prstGeom>
        </p:spPr>
        <p:txBody>
          <a:bodyPr anchorCtr="0" anchor="b" bIns="34275" lIns="34275" spcFirstLastPara="1" rIns="34275" wrap="square" tIns="3427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2" name="Google Shape;122;p15"/>
          <p:cNvSpPr txBox="1"/>
          <p:nvPr>
            <p:ph idx="1" type="subTitle"/>
          </p:nvPr>
        </p:nvSpPr>
        <p:spPr>
          <a:xfrm>
            <a:off x="311700" y="2834125"/>
            <a:ext cx="8520600" cy="792600"/>
          </a:xfrm>
          <a:prstGeom prst="rect">
            <a:avLst/>
          </a:prstGeom>
        </p:spPr>
        <p:txBody>
          <a:bodyPr anchorCtr="0" anchor="t" bIns="34275" lIns="34275" spcFirstLastPara="1" rIns="34275" wrap="square" tIns="34275">
            <a:normAutofit/>
          </a:bodyPr>
          <a:lstStyle>
            <a:lvl1pPr lvl="0" algn="ctr">
              <a:lnSpc>
                <a:spcPct val="100000"/>
              </a:lnSpc>
              <a:spcBef>
                <a:spcPts val="800"/>
              </a:spcBef>
              <a:spcAft>
                <a:spcPts val="0"/>
              </a:spcAft>
              <a:buSzPts val="2800"/>
              <a:buNone/>
              <a:defRPr sz="2800"/>
            </a:lvl1pPr>
            <a:lvl2pPr lvl="1" algn="ctr">
              <a:lnSpc>
                <a:spcPct val="100000"/>
              </a:lnSpc>
              <a:spcBef>
                <a:spcPts val="800"/>
              </a:spcBef>
              <a:spcAft>
                <a:spcPts val="0"/>
              </a:spcAft>
              <a:buSzPts val="2800"/>
              <a:buNone/>
              <a:defRPr sz="2800"/>
            </a:lvl2pPr>
            <a:lvl3pPr lvl="2" algn="ctr">
              <a:lnSpc>
                <a:spcPct val="100000"/>
              </a:lnSpc>
              <a:spcBef>
                <a:spcPts val="800"/>
              </a:spcBef>
              <a:spcAft>
                <a:spcPts val="0"/>
              </a:spcAft>
              <a:buSzPts val="2800"/>
              <a:buNone/>
              <a:defRPr sz="2800"/>
            </a:lvl3pPr>
            <a:lvl4pPr lvl="3" algn="ctr">
              <a:lnSpc>
                <a:spcPct val="100000"/>
              </a:lnSpc>
              <a:spcBef>
                <a:spcPts val="800"/>
              </a:spcBef>
              <a:spcAft>
                <a:spcPts val="0"/>
              </a:spcAft>
              <a:buSzPts val="2800"/>
              <a:buNone/>
              <a:defRPr sz="2800"/>
            </a:lvl4pPr>
            <a:lvl5pPr lvl="4" algn="ctr">
              <a:lnSpc>
                <a:spcPct val="100000"/>
              </a:lnSpc>
              <a:spcBef>
                <a:spcPts val="800"/>
              </a:spcBef>
              <a:spcAft>
                <a:spcPts val="0"/>
              </a:spcAft>
              <a:buSzPts val="2800"/>
              <a:buNone/>
              <a:defRPr sz="2800"/>
            </a:lvl5pPr>
            <a:lvl6pPr lvl="5" algn="ctr">
              <a:lnSpc>
                <a:spcPct val="100000"/>
              </a:lnSpc>
              <a:spcBef>
                <a:spcPts val="800"/>
              </a:spcBef>
              <a:spcAft>
                <a:spcPts val="0"/>
              </a:spcAft>
              <a:buSzPts val="2800"/>
              <a:buNone/>
              <a:defRPr sz="2800"/>
            </a:lvl6pPr>
            <a:lvl7pPr lvl="6" algn="ctr">
              <a:lnSpc>
                <a:spcPct val="100000"/>
              </a:lnSpc>
              <a:spcBef>
                <a:spcPts val="800"/>
              </a:spcBef>
              <a:spcAft>
                <a:spcPts val="0"/>
              </a:spcAft>
              <a:buSzPts val="2800"/>
              <a:buNone/>
              <a:defRPr sz="2800"/>
            </a:lvl7pPr>
            <a:lvl8pPr lvl="7" algn="ctr">
              <a:lnSpc>
                <a:spcPct val="100000"/>
              </a:lnSpc>
              <a:spcBef>
                <a:spcPts val="800"/>
              </a:spcBef>
              <a:spcAft>
                <a:spcPts val="0"/>
              </a:spcAft>
              <a:buSzPts val="2800"/>
              <a:buNone/>
              <a:defRPr sz="2800"/>
            </a:lvl8pPr>
            <a:lvl9pPr lvl="8" algn="ctr">
              <a:lnSpc>
                <a:spcPct val="100000"/>
              </a:lnSpc>
              <a:spcBef>
                <a:spcPts val="800"/>
              </a:spcBef>
              <a:spcAft>
                <a:spcPts val="0"/>
              </a:spcAft>
              <a:buSzPts val="2800"/>
              <a:buNone/>
              <a:defRPr sz="2800"/>
            </a:lvl9pPr>
          </a:lstStyle>
          <a:p/>
        </p:txBody>
      </p:sp>
      <p:sp>
        <p:nvSpPr>
          <p:cNvPr id="123" name="Google Shape;123;p15"/>
          <p:cNvSpPr txBox="1"/>
          <p:nvPr>
            <p:ph idx="12" type="sldNum"/>
          </p:nvPr>
        </p:nvSpPr>
        <p:spPr>
          <a:xfrm>
            <a:off x="8472458" y="4663217"/>
            <a:ext cx="548700" cy="207900"/>
          </a:xfrm>
          <a:prstGeom prst="rect">
            <a:avLst/>
          </a:prstGeom>
        </p:spPr>
        <p:txBody>
          <a:bodyPr anchorCtr="0" anchor="ctr" bIns="34275" lIns="34275" spcFirstLastPara="1" rIns="34275" wrap="square" tIns="3427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44"/>
            <a:ext cx="7886700" cy="994200"/>
          </a:xfrm>
          <a:prstGeom prst="rect">
            <a:avLst/>
          </a:prstGeom>
          <a:noFill/>
          <a:ln>
            <a:noFill/>
          </a:ln>
        </p:spPr>
        <p:txBody>
          <a:bodyPr anchorCtr="0" anchor="ctr" bIns="34275" lIns="34275" spcFirstLastPara="1" rIns="34275" wrap="square" tIns="34275">
            <a:normAutofit/>
          </a:bodyPr>
          <a:lstStyle>
            <a:lvl1pPr lvl="0" marR="0" rtl="0" algn="l">
              <a:lnSpc>
                <a:spcPct val="90000"/>
              </a:lnSpc>
              <a:spcBef>
                <a:spcPts val="0"/>
              </a:spcBef>
              <a:spcAft>
                <a:spcPts val="0"/>
              </a:spcAft>
              <a:buClr>
                <a:srgbClr val="5D5D5D"/>
              </a:buClr>
              <a:buSzPts val="2700"/>
              <a:buFont typeface="Open Sans Light"/>
              <a:buNone/>
              <a:defRPr b="0" i="0" sz="2700" u="none" cap="none" strike="noStrike">
                <a:solidFill>
                  <a:srgbClr val="5D5D5D"/>
                </a:solidFill>
                <a:latin typeface="Open Sans Light"/>
                <a:ea typeface="Open Sans Light"/>
                <a:cs typeface="Open Sans Light"/>
                <a:sym typeface="Open Sans Light"/>
              </a:defRPr>
            </a:lvl1pPr>
            <a:lvl2pPr lvl="1" marR="0" rtl="0" algn="l">
              <a:lnSpc>
                <a:spcPct val="90000"/>
              </a:lnSpc>
              <a:spcBef>
                <a:spcPts val="0"/>
              </a:spcBef>
              <a:spcAft>
                <a:spcPts val="0"/>
              </a:spcAft>
              <a:buClr>
                <a:srgbClr val="000000"/>
              </a:buClr>
              <a:buSzPts val="3300"/>
              <a:buFont typeface="Calibri"/>
              <a:buNone/>
              <a:defRPr b="0" i="0" sz="33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Clr>
                <a:srgbClr val="000000"/>
              </a:buClr>
              <a:buSzPts val="3300"/>
              <a:buFont typeface="Calibri"/>
              <a:buNone/>
              <a:defRPr b="0" i="0" sz="33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Clr>
                <a:srgbClr val="000000"/>
              </a:buClr>
              <a:buSzPts val="3300"/>
              <a:buFont typeface="Calibri"/>
              <a:buNone/>
              <a:defRPr b="0" i="0" sz="33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Clr>
                <a:srgbClr val="000000"/>
              </a:buClr>
              <a:buSzPts val="3300"/>
              <a:buFont typeface="Calibri"/>
              <a:buNone/>
              <a:defRPr b="0" i="0" sz="33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Clr>
                <a:srgbClr val="000000"/>
              </a:buClr>
              <a:buSzPts val="3300"/>
              <a:buFont typeface="Calibri"/>
              <a:buNone/>
              <a:defRPr b="0" i="0" sz="33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Clr>
                <a:srgbClr val="000000"/>
              </a:buClr>
              <a:buSzPts val="3300"/>
              <a:buFont typeface="Calibri"/>
              <a:buNone/>
              <a:defRPr b="0" i="0" sz="33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Clr>
                <a:srgbClr val="000000"/>
              </a:buClr>
              <a:buSzPts val="3300"/>
              <a:buFont typeface="Calibri"/>
              <a:buNone/>
              <a:defRPr b="0" i="0" sz="33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Clr>
                <a:srgbClr val="000000"/>
              </a:buClr>
              <a:buSzPts val="3300"/>
              <a:buFont typeface="Calibri"/>
              <a:buNone/>
              <a:defRPr b="0" i="0" sz="3300" u="none" cap="none" strike="noStrike">
                <a:solidFill>
                  <a:srgbClr val="000000"/>
                </a:solidFill>
                <a:latin typeface="Calibri"/>
                <a:ea typeface="Calibri"/>
                <a:cs typeface="Calibri"/>
                <a:sym typeface="Calibri"/>
              </a:defRPr>
            </a:lvl9pPr>
          </a:lstStyle>
          <a:p/>
        </p:txBody>
      </p:sp>
      <p:sp>
        <p:nvSpPr>
          <p:cNvPr id="7" name="Google Shape;7;p1"/>
          <p:cNvSpPr txBox="1"/>
          <p:nvPr>
            <p:ph idx="1" type="body"/>
          </p:nvPr>
        </p:nvSpPr>
        <p:spPr>
          <a:xfrm>
            <a:off x="628650" y="1369219"/>
            <a:ext cx="7886700" cy="3263400"/>
          </a:xfrm>
          <a:prstGeom prst="rect">
            <a:avLst/>
          </a:prstGeom>
          <a:noFill/>
          <a:ln>
            <a:noFill/>
          </a:ln>
        </p:spPr>
        <p:txBody>
          <a:bodyPr anchorCtr="0" anchor="t" bIns="34275" lIns="34275" spcFirstLastPara="1" rIns="34275" wrap="square" tIns="34275">
            <a:normAutofit/>
          </a:bodyPr>
          <a:lstStyle>
            <a:lvl1pPr indent="-323850" lvl="0" marL="457200" marR="0" rtl="0" algn="l">
              <a:lnSpc>
                <a:spcPct val="90000"/>
              </a:lnSpc>
              <a:spcBef>
                <a:spcPts val="800"/>
              </a:spcBef>
              <a:spcAft>
                <a:spcPts val="0"/>
              </a:spcAft>
              <a:buClr>
                <a:srgbClr val="5D5D5D"/>
              </a:buClr>
              <a:buSzPts val="1500"/>
              <a:buFont typeface="Arial"/>
              <a:buChar char="•"/>
              <a:defRPr b="0" i="0" sz="1500" u="none" cap="none" strike="noStrike">
                <a:solidFill>
                  <a:srgbClr val="5D5D5D"/>
                </a:solidFill>
                <a:latin typeface="Open Sans Light"/>
                <a:ea typeface="Open Sans Light"/>
                <a:cs typeface="Open Sans Light"/>
                <a:sym typeface="Open Sans Light"/>
              </a:defRPr>
            </a:lvl1pPr>
            <a:lvl2pPr indent="-323850" lvl="1" marL="914400" marR="0" rtl="0" algn="l">
              <a:lnSpc>
                <a:spcPct val="90000"/>
              </a:lnSpc>
              <a:spcBef>
                <a:spcPts val="800"/>
              </a:spcBef>
              <a:spcAft>
                <a:spcPts val="0"/>
              </a:spcAft>
              <a:buClr>
                <a:srgbClr val="5D5D5D"/>
              </a:buClr>
              <a:buSzPts val="1500"/>
              <a:buFont typeface="Arial"/>
              <a:buChar char="•"/>
              <a:defRPr b="0" i="0" sz="1500" u="none" cap="none" strike="noStrike">
                <a:solidFill>
                  <a:srgbClr val="5D5D5D"/>
                </a:solidFill>
                <a:latin typeface="Open Sans Light"/>
                <a:ea typeface="Open Sans Light"/>
                <a:cs typeface="Open Sans Light"/>
                <a:sym typeface="Open Sans Light"/>
              </a:defRPr>
            </a:lvl2pPr>
            <a:lvl3pPr indent="-323850" lvl="2" marL="1371600" marR="0" rtl="0" algn="l">
              <a:lnSpc>
                <a:spcPct val="90000"/>
              </a:lnSpc>
              <a:spcBef>
                <a:spcPts val="800"/>
              </a:spcBef>
              <a:spcAft>
                <a:spcPts val="0"/>
              </a:spcAft>
              <a:buClr>
                <a:srgbClr val="5D5D5D"/>
              </a:buClr>
              <a:buSzPts val="1500"/>
              <a:buFont typeface="Arial"/>
              <a:buChar char="•"/>
              <a:defRPr b="0" i="0" sz="1500" u="none" cap="none" strike="noStrike">
                <a:solidFill>
                  <a:srgbClr val="5D5D5D"/>
                </a:solidFill>
                <a:latin typeface="Open Sans Light"/>
                <a:ea typeface="Open Sans Light"/>
                <a:cs typeface="Open Sans Light"/>
                <a:sym typeface="Open Sans Light"/>
              </a:defRPr>
            </a:lvl3pPr>
            <a:lvl4pPr indent="-323850" lvl="3" marL="1828800" marR="0" rtl="0" algn="l">
              <a:lnSpc>
                <a:spcPct val="90000"/>
              </a:lnSpc>
              <a:spcBef>
                <a:spcPts val="800"/>
              </a:spcBef>
              <a:spcAft>
                <a:spcPts val="0"/>
              </a:spcAft>
              <a:buClr>
                <a:srgbClr val="5D5D5D"/>
              </a:buClr>
              <a:buSzPts val="1500"/>
              <a:buFont typeface="Arial"/>
              <a:buChar char="•"/>
              <a:defRPr b="0" i="0" sz="1500" u="none" cap="none" strike="noStrike">
                <a:solidFill>
                  <a:srgbClr val="5D5D5D"/>
                </a:solidFill>
                <a:latin typeface="Open Sans Light"/>
                <a:ea typeface="Open Sans Light"/>
                <a:cs typeface="Open Sans Light"/>
                <a:sym typeface="Open Sans Light"/>
              </a:defRPr>
            </a:lvl4pPr>
            <a:lvl5pPr indent="-323850" lvl="4" marL="2286000" marR="0" rtl="0" algn="l">
              <a:lnSpc>
                <a:spcPct val="90000"/>
              </a:lnSpc>
              <a:spcBef>
                <a:spcPts val="800"/>
              </a:spcBef>
              <a:spcAft>
                <a:spcPts val="0"/>
              </a:spcAft>
              <a:buClr>
                <a:srgbClr val="5D5D5D"/>
              </a:buClr>
              <a:buSzPts val="1500"/>
              <a:buFont typeface="Arial"/>
              <a:buChar char="•"/>
              <a:defRPr b="0" i="0" sz="1500" u="none" cap="none" strike="noStrike">
                <a:solidFill>
                  <a:srgbClr val="5D5D5D"/>
                </a:solidFill>
                <a:latin typeface="Open Sans Light"/>
                <a:ea typeface="Open Sans Light"/>
                <a:cs typeface="Open Sans Light"/>
                <a:sym typeface="Open Sans Light"/>
              </a:defRPr>
            </a:lvl5pPr>
            <a:lvl6pPr indent="-361950" lvl="5" marL="2743200" marR="0" rtl="0" algn="l">
              <a:lnSpc>
                <a:spcPct val="90000"/>
              </a:lnSpc>
              <a:spcBef>
                <a:spcPts val="800"/>
              </a:spcBef>
              <a:spcAft>
                <a:spcPts val="0"/>
              </a:spcAft>
              <a:buClr>
                <a:srgbClr val="000000"/>
              </a:buClr>
              <a:buSzPts val="2100"/>
              <a:buFont typeface="Arial"/>
              <a:buChar char="•"/>
              <a:defRPr b="0" i="0" sz="2100" u="none" cap="none" strike="noStrike">
                <a:solidFill>
                  <a:srgbClr val="000000"/>
                </a:solidFill>
                <a:latin typeface="Open Sans ExtraBold"/>
                <a:ea typeface="Open Sans ExtraBold"/>
                <a:cs typeface="Open Sans ExtraBold"/>
                <a:sym typeface="Open Sans ExtraBold"/>
              </a:defRPr>
            </a:lvl6pPr>
            <a:lvl7pPr indent="-361950" lvl="6" marL="3200400" marR="0" rtl="0" algn="l">
              <a:lnSpc>
                <a:spcPct val="90000"/>
              </a:lnSpc>
              <a:spcBef>
                <a:spcPts val="800"/>
              </a:spcBef>
              <a:spcAft>
                <a:spcPts val="0"/>
              </a:spcAft>
              <a:buClr>
                <a:srgbClr val="000000"/>
              </a:buClr>
              <a:buSzPts val="2100"/>
              <a:buFont typeface="Arial"/>
              <a:buChar char="•"/>
              <a:defRPr b="0" i="0" sz="2100" u="none" cap="none" strike="noStrike">
                <a:solidFill>
                  <a:srgbClr val="000000"/>
                </a:solidFill>
                <a:latin typeface="Open Sans ExtraBold"/>
                <a:ea typeface="Open Sans ExtraBold"/>
                <a:cs typeface="Open Sans ExtraBold"/>
                <a:sym typeface="Open Sans ExtraBold"/>
              </a:defRPr>
            </a:lvl7pPr>
            <a:lvl8pPr indent="-361950" lvl="7" marL="3657600" marR="0" rtl="0" algn="l">
              <a:lnSpc>
                <a:spcPct val="90000"/>
              </a:lnSpc>
              <a:spcBef>
                <a:spcPts val="800"/>
              </a:spcBef>
              <a:spcAft>
                <a:spcPts val="0"/>
              </a:spcAft>
              <a:buClr>
                <a:srgbClr val="000000"/>
              </a:buClr>
              <a:buSzPts val="2100"/>
              <a:buFont typeface="Arial"/>
              <a:buChar char="•"/>
              <a:defRPr b="0" i="0" sz="2100" u="none" cap="none" strike="noStrike">
                <a:solidFill>
                  <a:srgbClr val="000000"/>
                </a:solidFill>
                <a:latin typeface="Open Sans ExtraBold"/>
                <a:ea typeface="Open Sans ExtraBold"/>
                <a:cs typeface="Open Sans ExtraBold"/>
                <a:sym typeface="Open Sans ExtraBold"/>
              </a:defRPr>
            </a:lvl8pPr>
            <a:lvl9pPr indent="-361950" lvl="8" marL="4114800" marR="0" rtl="0" algn="l">
              <a:lnSpc>
                <a:spcPct val="90000"/>
              </a:lnSpc>
              <a:spcBef>
                <a:spcPts val="800"/>
              </a:spcBef>
              <a:spcAft>
                <a:spcPts val="0"/>
              </a:spcAft>
              <a:buClr>
                <a:srgbClr val="000000"/>
              </a:buClr>
              <a:buSzPts val="2100"/>
              <a:buFont typeface="Arial"/>
              <a:buChar char="•"/>
              <a:defRPr b="0" i="0" sz="2100" u="none" cap="none" strike="noStrike">
                <a:solidFill>
                  <a:srgbClr val="000000"/>
                </a:solidFill>
                <a:latin typeface="Open Sans ExtraBold"/>
                <a:ea typeface="Open Sans ExtraBold"/>
                <a:cs typeface="Open Sans ExtraBold"/>
                <a:sym typeface="Open Sans ExtraBold"/>
              </a:defRPr>
            </a:lvl9pPr>
          </a:lstStyle>
          <a:p/>
        </p:txBody>
      </p:sp>
      <p:sp>
        <p:nvSpPr>
          <p:cNvPr id="8" name="Google Shape;8;p1"/>
          <p:cNvSpPr txBox="1"/>
          <p:nvPr>
            <p:ph idx="12" type="sldNum"/>
          </p:nvPr>
        </p:nvSpPr>
        <p:spPr>
          <a:xfrm>
            <a:off x="8305439" y="4800310"/>
            <a:ext cx="210000" cy="207900"/>
          </a:xfrm>
          <a:prstGeom prst="rect">
            <a:avLst/>
          </a:prstGeom>
          <a:noFill/>
          <a:ln>
            <a:noFill/>
          </a:ln>
        </p:spPr>
        <p:txBody>
          <a:bodyPr anchorCtr="0" anchor="ctr" bIns="34275" lIns="34275" spcFirstLastPara="1" rIns="34275" wrap="square" tIns="34275">
            <a:spAutoFit/>
          </a:bodyPr>
          <a:lstStyle>
            <a:lvl1pPr indent="0" lvl="0" marL="0" marR="0" rtl="0" algn="r">
              <a:lnSpc>
                <a:spcPct val="100000"/>
              </a:lnSpc>
              <a:spcBef>
                <a:spcPts val="0"/>
              </a:spcBef>
              <a:spcAft>
                <a:spcPts val="0"/>
              </a:spcAft>
              <a:buClr>
                <a:srgbClr val="888888"/>
              </a:buClr>
              <a:buSzPts val="900"/>
              <a:buFont typeface="Open Sans Light"/>
              <a:buNone/>
              <a:defRPr b="0" i="0" sz="900" u="none" cap="none" strike="noStrike">
                <a:solidFill>
                  <a:srgbClr val="888888"/>
                </a:solidFill>
                <a:latin typeface="Open Sans Light"/>
                <a:ea typeface="Open Sans Light"/>
                <a:cs typeface="Open Sans Light"/>
                <a:sym typeface="Open Sans Light"/>
              </a:defRPr>
            </a:lvl1pPr>
            <a:lvl2pPr indent="0" lvl="1" marL="0" marR="0" rtl="0" algn="r">
              <a:lnSpc>
                <a:spcPct val="100000"/>
              </a:lnSpc>
              <a:spcBef>
                <a:spcPts val="0"/>
              </a:spcBef>
              <a:spcAft>
                <a:spcPts val="0"/>
              </a:spcAft>
              <a:buClr>
                <a:srgbClr val="888888"/>
              </a:buClr>
              <a:buSzPts val="900"/>
              <a:buFont typeface="Open Sans Light"/>
              <a:buNone/>
              <a:defRPr b="0" i="0" sz="900" u="none" cap="none" strike="noStrike">
                <a:solidFill>
                  <a:srgbClr val="888888"/>
                </a:solidFill>
                <a:latin typeface="Open Sans Light"/>
                <a:ea typeface="Open Sans Light"/>
                <a:cs typeface="Open Sans Light"/>
                <a:sym typeface="Open Sans Light"/>
              </a:defRPr>
            </a:lvl2pPr>
            <a:lvl3pPr indent="0" lvl="2" marL="0" marR="0" rtl="0" algn="r">
              <a:lnSpc>
                <a:spcPct val="100000"/>
              </a:lnSpc>
              <a:spcBef>
                <a:spcPts val="0"/>
              </a:spcBef>
              <a:spcAft>
                <a:spcPts val="0"/>
              </a:spcAft>
              <a:buClr>
                <a:srgbClr val="888888"/>
              </a:buClr>
              <a:buSzPts val="900"/>
              <a:buFont typeface="Open Sans Light"/>
              <a:buNone/>
              <a:defRPr b="0" i="0" sz="900" u="none" cap="none" strike="noStrike">
                <a:solidFill>
                  <a:srgbClr val="888888"/>
                </a:solidFill>
                <a:latin typeface="Open Sans Light"/>
                <a:ea typeface="Open Sans Light"/>
                <a:cs typeface="Open Sans Light"/>
                <a:sym typeface="Open Sans Light"/>
              </a:defRPr>
            </a:lvl3pPr>
            <a:lvl4pPr indent="0" lvl="3" marL="0" marR="0" rtl="0" algn="r">
              <a:lnSpc>
                <a:spcPct val="100000"/>
              </a:lnSpc>
              <a:spcBef>
                <a:spcPts val="0"/>
              </a:spcBef>
              <a:spcAft>
                <a:spcPts val="0"/>
              </a:spcAft>
              <a:buClr>
                <a:srgbClr val="888888"/>
              </a:buClr>
              <a:buSzPts val="900"/>
              <a:buFont typeface="Open Sans Light"/>
              <a:buNone/>
              <a:defRPr b="0" i="0" sz="900" u="none" cap="none" strike="noStrike">
                <a:solidFill>
                  <a:srgbClr val="888888"/>
                </a:solidFill>
                <a:latin typeface="Open Sans Light"/>
                <a:ea typeface="Open Sans Light"/>
                <a:cs typeface="Open Sans Light"/>
                <a:sym typeface="Open Sans Light"/>
              </a:defRPr>
            </a:lvl4pPr>
            <a:lvl5pPr indent="0" lvl="4" marL="0" marR="0" rtl="0" algn="r">
              <a:lnSpc>
                <a:spcPct val="100000"/>
              </a:lnSpc>
              <a:spcBef>
                <a:spcPts val="0"/>
              </a:spcBef>
              <a:spcAft>
                <a:spcPts val="0"/>
              </a:spcAft>
              <a:buClr>
                <a:srgbClr val="888888"/>
              </a:buClr>
              <a:buSzPts val="900"/>
              <a:buFont typeface="Open Sans Light"/>
              <a:buNone/>
              <a:defRPr b="0" i="0" sz="900" u="none" cap="none" strike="noStrike">
                <a:solidFill>
                  <a:srgbClr val="888888"/>
                </a:solidFill>
                <a:latin typeface="Open Sans Light"/>
                <a:ea typeface="Open Sans Light"/>
                <a:cs typeface="Open Sans Light"/>
                <a:sym typeface="Open Sans Light"/>
              </a:defRPr>
            </a:lvl5pPr>
            <a:lvl6pPr indent="0" lvl="5" marL="0" marR="0" rtl="0" algn="r">
              <a:lnSpc>
                <a:spcPct val="100000"/>
              </a:lnSpc>
              <a:spcBef>
                <a:spcPts val="0"/>
              </a:spcBef>
              <a:spcAft>
                <a:spcPts val="0"/>
              </a:spcAft>
              <a:buClr>
                <a:srgbClr val="888888"/>
              </a:buClr>
              <a:buSzPts val="900"/>
              <a:buFont typeface="Open Sans Light"/>
              <a:buNone/>
              <a:defRPr b="0" i="0" sz="900" u="none" cap="none" strike="noStrike">
                <a:solidFill>
                  <a:srgbClr val="888888"/>
                </a:solidFill>
                <a:latin typeface="Open Sans Light"/>
                <a:ea typeface="Open Sans Light"/>
                <a:cs typeface="Open Sans Light"/>
                <a:sym typeface="Open Sans Light"/>
              </a:defRPr>
            </a:lvl6pPr>
            <a:lvl7pPr indent="0" lvl="6" marL="0" marR="0" rtl="0" algn="r">
              <a:lnSpc>
                <a:spcPct val="100000"/>
              </a:lnSpc>
              <a:spcBef>
                <a:spcPts val="0"/>
              </a:spcBef>
              <a:spcAft>
                <a:spcPts val="0"/>
              </a:spcAft>
              <a:buClr>
                <a:srgbClr val="888888"/>
              </a:buClr>
              <a:buSzPts val="900"/>
              <a:buFont typeface="Open Sans Light"/>
              <a:buNone/>
              <a:defRPr b="0" i="0" sz="900" u="none" cap="none" strike="noStrike">
                <a:solidFill>
                  <a:srgbClr val="888888"/>
                </a:solidFill>
                <a:latin typeface="Open Sans Light"/>
                <a:ea typeface="Open Sans Light"/>
                <a:cs typeface="Open Sans Light"/>
                <a:sym typeface="Open Sans Light"/>
              </a:defRPr>
            </a:lvl7pPr>
            <a:lvl8pPr indent="0" lvl="7" marL="0" marR="0" rtl="0" algn="r">
              <a:lnSpc>
                <a:spcPct val="100000"/>
              </a:lnSpc>
              <a:spcBef>
                <a:spcPts val="0"/>
              </a:spcBef>
              <a:spcAft>
                <a:spcPts val="0"/>
              </a:spcAft>
              <a:buClr>
                <a:srgbClr val="888888"/>
              </a:buClr>
              <a:buSzPts val="900"/>
              <a:buFont typeface="Open Sans Light"/>
              <a:buNone/>
              <a:defRPr b="0" i="0" sz="900" u="none" cap="none" strike="noStrike">
                <a:solidFill>
                  <a:srgbClr val="888888"/>
                </a:solidFill>
                <a:latin typeface="Open Sans Light"/>
                <a:ea typeface="Open Sans Light"/>
                <a:cs typeface="Open Sans Light"/>
                <a:sym typeface="Open Sans Light"/>
              </a:defRPr>
            </a:lvl8pPr>
            <a:lvl9pPr indent="0" lvl="8" marL="0" marR="0" rtl="0" algn="r">
              <a:lnSpc>
                <a:spcPct val="100000"/>
              </a:lnSpc>
              <a:spcBef>
                <a:spcPts val="0"/>
              </a:spcBef>
              <a:spcAft>
                <a:spcPts val="0"/>
              </a:spcAft>
              <a:buClr>
                <a:srgbClr val="888888"/>
              </a:buClr>
              <a:buSzPts val="900"/>
              <a:buFont typeface="Open Sans Light"/>
              <a:buNone/>
              <a:defRPr b="0" i="0" sz="900" u="none" cap="none" strike="noStrike">
                <a:solidFill>
                  <a:srgbClr val="888888"/>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17.png"/><Relationship Id="rId9" Type="http://schemas.openxmlformats.org/officeDocument/2006/relationships/image" Target="../media/image18.png"/><Relationship Id="rId5" Type="http://schemas.openxmlformats.org/officeDocument/2006/relationships/image" Target="../media/image20.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6"/>
          <p:cNvSpPr txBox="1"/>
          <p:nvPr>
            <p:ph idx="1" type="body"/>
          </p:nvPr>
        </p:nvSpPr>
        <p:spPr>
          <a:xfrm>
            <a:off x="4299350" y="521637"/>
            <a:ext cx="4298100" cy="2091600"/>
          </a:xfrm>
          <a:prstGeom prst="rect">
            <a:avLst/>
          </a:prstGeom>
        </p:spPr>
        <p:txBody>
          <a:bodyPr anchorCtr="0" anchor="ctr" bIns="34275" lIns="34275" spcFirstLastPara="1" rIns="34275" wrap="square" tIns="34275">
            <a:normAutofit lnSpcReduction="10000"/>
          </a:bodyPr>
          <a:lstStyle/>
          <a:p>
            <a:pPr indent="0" lvl="0" marL="0" rtl="0" algn="l">
              <a:spcBef>
                <a:spcPts val="800"/>
              </a:spcBef>
              <a:spcAft>
                <a:spcPts val="0"/>
              </a:spcAft>
              <a:buNone/>
            </a:pPr>
            <a:r>
              <a:rPr b="1" lang="en">
                <a:solidFill>
                  <a:schemeClr val="accent1"/>
                </a:solidFill>
                <a:latin typeface="Open Sans"/>
                <a:ea typeface="Open Sans"/>
                <a:cs typeface="Open Sans"/>
                <a:sym typeface="Open Sans"/>
              </a:rPr>
              <a:t>Transcriptomic Biomarkers</a:t>
            </a:r>
            <a:r>
              <a:rPr b="1" lang="en">
                <a:latin typeface="Open Sans"/>
                <a:ea typeface="Open Sans"/>
                <a:cs typeface="Open Sans"/>
                <a:sym typeface="Open Sans"/>
              </a:rPr>
              <a:t> </a:t>
            </a:r>
            <a:r>
              <a:rPr lang="en">
                <a:latin typeface="Open Sans"/>
                <a:ea typeface="Open Sans"/>
                <a:cs typeface="Open Sans"/>
                <a:sym typeface="Open Sans"/>
              </a:rPr>
              <a:t>for Predicting the</a:t>
            </a:r>
            <a:r>
              <a:rPr b="1" lang="en">
                <a:latin typeface="Open Sans"/>
                <a:ea typeface="Open Sans"/>
                <a:cs typeface="Open Sans"/>
                <a:sym typeface="Open Sans"/>
              </a:rPr>
              <a:t> </a:t>
            </a:r>
            <a:r>
              <a:rPr lang="en">
                <a:latin typeface="Open Sans"/>
                <a:ea typeface="Open Sans"/>
                <a:cs typeface="Open Sans"/>
                <a:sym typeface="Open Sans"/>
              </a:rPr>
              <a:t>Progression from</a:t>
            </a:r>
            <a:r>
              <a:rPr b="1" lang="en">
                <a:latin typeface="Open Sans"/>
                <a:ea typeface="Open Sans"/>
                <a:cs typeface="Open Sans"/>
                <a:sym typeface="Open Sans"/>
              </a:rPr>
              <a:t> </a:t>
            </a:r>
            <a:r>
              <a:rPr b="1" lang="en">
                <a:solidFill>
                  <a:schemeClr val="accent4"/>
                </a:solidFill>
                <a:latin typeface="Open Sans"/>
                <a:ea typeface="Open Sans"/>
                <a:cs typeface="Open Sans"/>
                <a:sym typeface="Open Sans"/>
              </a:rPr>
              <a:t>Mild Cognitive Impairment to Alzheimer's Dementia</a:t>
            </a:r>
            <a:endParaRPr>
              <a:solidFill>
                <a:schemeClr val="accent4"/>
              </a:solidFill>
            </a:endParaRPr>
          </a:p>
        </p:txBody>
      </p:sp>
      <p:sp>
        <p:nvSpPr>
          <p:cNvPr id="129" name="Google Shape;129;p16"/>
          <p:cNvSpPr txBox="1"/>
          <p:nvPr>
            <p:ph idx="2" type="body"/>
          </p:nvPr>
        </p:nvSpPr>
        <p:spPr>
          <a:xfrm>
            <a:off x="4341019" y="3020102"/>
            <a:ext cx="2452800" cy="253500"/>
          </a:xfrm>
          <a:prstGeom prst="rect">
            <a:avLst/>
          </a:prstGeom>
        </p:spPr>
        <p:txBody>
          <a:bodyPr anchorCtr="0" anchor="ctr" bIns="34275" lIns="34275" spcFirstLastPara="1" rIns="34275" wrap="square" tIns="34275">
            <a:normAutofit/>
          </a:bodyPr>
          <a:lstStyle/>
          <a:p>
            <a:pPr indent="0" lvl="0" marL="0" rtl="0" algn="l">
              <a:spcBef>
                <a:spcPts val="800"/>
              </a:spcBef>
              <a:spcAft>
                <a:spcPts val="0"/>
              </a:spcAft>
              <a:buNone/>
            </a:pPr>
            <a:r>
              <a:rPr lang="en"/>
              <a:t>02718 Computational Medicine</a:t>
            </a:r>
            <a:endParaRPr/>
          </a:p>
        </p:txBody>
      </p:sp>
      <p:sp>
        <p:nvSpPr>
          <p:cNvPr id="130" name="Google Shape;130;p16"/>
          <p:cNvSpPr txBox="1"/>
          <p:nvPr>
            <p:ph idx="3" type="body"/>
          </p:nvPr>
        </p:nvSpPr>
        <p:spPr>
          <a:xfrm>
            <a:off x="4336418" y="3336808"/>
            <a:ext cx="4444500" cy="484500"/>
          </a:xfrm>
          <a:prstGeom prst="rect">
            <a:avLst/>
          </a:prstGeom>
        </p:spPr>
        <p:txBody>
          <a:bodyPr anchorCtr="0" anchor="t" bIns="34275" lIns="34275" spcFirstLastPara="1" rIns="34275" wrap="square" tIns="34275">
            <a:noAutofit/>
          </a:bodyPr>
          <a:lstStyle/>
          <a:p>
            <a:pPr indent="0" lvl="0" marL="0" rtl="0" algn="l">
              <a:spcBef>
                <a:spcPts val="0"/>
              </a:spcBef>
              <a:spcAft>
                <a:spcPts val="0"/>
              </a:spcAft>
              <a:buNone/>
            </a:pPr>
            <a:r>
              <a:rPr lang="en"/>
              <a:t>Kitiyaporn Takham, Mahitha Chaturvedula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7"/>
          <p:cNvSpPr txBox="1"/>
          <p:nvPr>
            <p:ph idx="1" type="body"/>
          </p:nvPr>
        </p:nvSpPr>
        <p:spPr>
          <a:xfrm>
            <a:off x="1788326" y="617925"/>
            <a:ext cx="5002200" cy="484500"/>
          </a:xfrm>
          <a:prstGeom prst="rect">
            <a:avLst/>
          </a:prstGeom>
        </p:spPr>
        <p:txBody>
          <a:bodyPr anchorCtr="0" anchor="ctr" bIns="34275" lIns="34275" spcFirstLastPara="1" rIns="34275" wrap="square" tIns="34275">
            <a:normAutofit fontScale="92500"/>
          </a:bodyPr>
          <a:lstStyle/>
          <a:p>
            <a:pPr indent="0" lvl="0" marL="0" rtl="0" algn="l">
              <a:lnSpc>
                <a:spcPct val="100000"/>
              </a:lnSpc>
              <a:spcBef>
                <a:spcPts val="0"/>
              </a:spcBef>
              <a:spcAft>
                <a:spcPts val="0"/>
              </a:spcAft>
              <a:buNone/>
            </a:pPr>
            <a:r>
              <a:rPr lang="en" sz="2000"/>
              <a:t>Introduction - Motivation behind project</a:t>
            </a:r>
            <a:endParaRPr sz="3300"/>
          </a:p>
        </p:txBody>
      </p:sp>
      <p:sp>
        <p:nvSpPr>
          <p:cNvPr id="136" name="Google Shape;136;p17"/>
          <p:cNvSpPr txBox="1"/>
          <p:nvPr>
            <p:ph idx="3" type="body"/>
          </p:nvPr>
        </p:nvSpPr>
        <p:spPr>
          <a:xfrm>
            <a:off x="1731175" y="1361650"/>
            <a:ext cx="4618800" cy="3343800"/>
          </a:xfrm>
          <a:prstGeom prst="rect">
            <a:avLst/>
          </a:prstGeom>
        </p:spPr>
        <p:txBody>
          <a:bodyPr anchorCtr="0" anchor="t" bIns="34275" lIns="34275" spcFirstLastPara="1" rIns="34275" wrap="square" tIns="34275">
            <a:noAutofit/>
          </a:bodyPr>
          <a:lstStyle/>
          <a:p>
            <a:pPr indent="-304800" lvl="0" marL="457200" rtl="0" algn="l">
              <a:lnSpc>
                <a:spcPct val="150000"/>
              </a:lnSpc>
              <a:spcBef>
                <a:spcPts val="0"/>
              </a:spcBef>
              <a:spcAft>
                <a:spcPts val="0"/>
              </a:spcAft>
              <a:buClr>
                <a:schemeClr val="accent2"/>
              </a:buClr>
              <a:buSzPts val="1200"/>
              <a:buFont typeface="Open Sans Light"/>
              <a:buAutoNum type="romanUcPeriod"/>
            </a:pPr>
            <a:r>
              <a:rPr b="0" lang="en" sz="1200">
                <a:solidFill>
                  <a:schemeClr val="accent2"/>
                </a:solidFill>
                <a:latin typeface="Open Sans Light"/>
                <a:ea typeface="Open Sans Light"/>
                <a:cs typeface="Open Sans Light"/>
                <a:sym typeface="Open Sans Light"/>
              </a:rPr>
              <a:t>Currently no effective treatment for Alzheimer’s Disease (AD)</a:t>
            </a:r>
            <a:endParaRPr b="0" sz="1200">
              <a:solidFill>
                <a:schemeClr val="accent2"/>
              </a:solidFill>
              <a:latin typeface="Open Sans Light"/>
              <a:ea typeface="Open Sans Light"/>
              <a:cs typeface="Open Sans Light"/>
              <a:sym typeface="Open Sans Light"/>
            </a:endParaRPr>
          </a:p>
          <a:p>
            <a:pPr indent="-304800" lvl="0" marL="457200" rtl="0" algn="l">
              <a:lnSpc>
                <a:spcPct val="150000"/>
              </a:lnSpc>
              <a:spcBef>
                <a:spcPts val="0"/>
              </a:spcBef>
              <a:spcAft>
                <a:spcPts val="0"/>
              </a:spcAft>
              <a:buClr>
                <a:schemeClr val="accent2"/>
              </a:buClr>
              <a:buSzPts val="1200"/>
              <a:buFont typeface="Open Sans Light"/>
              <a:buAutoNum type="romanUcPeriod"/>
            </a:pPr>
            <a:r>
              <a:rPr b="0" lang="en" sz="1200">
                <a:solidFill>
                  <a:schemeClr val="accent2"/>
                </a:solidFill>
                <a:latin typeface="Open Sans Light"/>
                <a:ea typeface="Open Sans Light"/>
                <a:cs typeface="Open Sans Light"/>
                <a:sym typeface="Open Sans Light"/>
              </a:rPr>
              <a:t>Mild cognitive impairment (MCI) - initial phase of memory decline for patients and is often underdiagnosed due to its confusion with AD [1]</a:t>
            </a:r>
            <a:endParaRPr b="0" sz="1200">
              <a:solidFill>
                <a:schemeClr val="accent2"/>
              </a:solidFill>
              <a:latin typeface="Open Sans Light"/>
              <a:ea typeface="Open Sans Light"/>
              <a:cs typeface="Open Sans Light"/>
              <a:sym typeface="Open Sans Light"/>
            </a:endParaRPr>
          </a:p>
          <a:p>
            <a:pPr indent="-304800" lvl="1" marL="914400" rtl="0" algn="l">
              <a:lnSpc>
                <a:spcPct val="150000"/>
              </a:lnSpc>
              <a:spcBef>
                <a:spcPts val="0"/>
              </a:spcBef>
              <a:spcAft>
                <a:spcPts val="0"/>
              </a:spcAft>
              <a:buClr>
                <a:schemeClr val="accent2"/>
              </a:buClr>
              <a:buSzPts val="1200"/>
              <a:buFont typeface="Open Sans Light"/>
              <a:buAutoNum type="alphaUcPeriod"/>
            </a:pPr>
            <a:r>
              <a:rPr lang="en" sz="1200">
                <a:solidFill>
                  <a:schemeClr val="accent2"/>
                </a:solidFill>
              </a:rPr>
              <a:t>MCI has been said to designate an early, yet abnormal, state of cognitive impairment [2]</a:t>
            </a:r>
            <a:endParaRPr sz="1200">
              <a:solidFill>
                <a:schemeClr val="accent2"/>
              </a:solidFill>
            </a:endParaRPr>
          </a:p>
          <a:p>
            <a:pPr indent="-304800" lvl="0" marL="457200" rtl="0" algn="l">
              <a:lnSpc>
                <a:spcPct val="150000"/>
              </a:lnSpc>
              <a:spcBef>
                <a:spcPts val="0"/>
              </a:spcBef>
              <a:spcAft>
                <a:spcPts val="0"/>
              </a:spcAft>
              <a:buClr>
                <a:schemeClr val="accent2"/>
              </a:buClr>
              <a:buSzPts val="1200"/>
              <a:buFont typeface="Open Sans Light"/>
              <a:buAutoNum type="romanUcPeriod"/>
            </a:pPr>
            <a:r>
              <a:rPr b="0" lang="en" sz="1200">
                <a:solidFill>
                  <a:schemeClr val="accent2"/>
                </a:solidFill>
                <a:latin typeface="Open Sans Light"/>
                <a:ea typeface="Open Sans Light"/>
                <a:cs typeface="Open Sans Light"/>
                <a:sym typeface="Open Sans Light"/>
              </a:rPr>
              <a:t>By clearly defining expression markers for MCI and AD, </a:t>
            </a:r>
            <a:r>
              <a:rPr b="0" lang="en" sz="1200">
                <a:solidFill>
                  <a:schemeClr val="accent2"/>
                </a:solidFill>
                <a:latin typeface="Open Sans Light"/>
                <a:ea typeface="Open Sans Light"/>
                <a:cs typeface="Open Sans Light"/>
                <a:sym typeface="Open Sans Light"/>
              </a:rPr>
              <a:t>might</a:t>
            </a:r>
            <a:r>
              <a:rPr b="0" lang="en" sz="1200">
                <a:solidFill>
                  <a:schemeClr val="accent2"/>
                </a:solidFill>
                <a:latin typeface="Open Sans Light"/>
                <a:ea typeface="Open Sans Light"/>
                <a:cs typeface="Open Sans Light"/>
                <a:sym typeface="Open Sans Light"/>
              </a:rPr>
              <a:t> eliminate confusion between the two stages</a:t>
            </a:r>
            <a:endParaRPr b="0" sz="1200">
              <a:solidFill>
                <a:schemeClr val="accent2"/>
              </a:solidFill>
              <a:latin typeface="Open Sans Light"/>
              <a:ea typeface="Open Sans Light"/>
              <a:cs typeface="Open Sans Light"/>
              <a:sym typeface="Open Sans Light"/>
            </a:endParaRPr>
          </a:p>
          <a:p>
            <a:pPr indent="-304800" lvl="1" marL="914400" rtl="0" algn="l">
              <a:lnSpc>
                <a:spcPct val="150000"/>
              </a:lnSpc>
              <a:spcBef>
                <a:spcPts val="0"/>
              </a:spcBef>
              <a:spcAft>
                <a:spcPts val="0"/>
              </a:spcAft>
              <a:buClr>
                <a:schemeClr val="accent2"/>
              </a:buClr>
              <a:buSzPts val="1200"/>
              <a:buFont typeface="Open Sans Light"/>
              <a:buAutoNum type="alphaUcPeriod"/>
            </a:pPr>
            <a:r>
              <a:rPr lang="en" sz="1200">
                <a:solidFill>
                  <a:schemeClr val="accent2"/>
                </a:solidFill>
              </a:rPr>
              <a:t>Also increase the diagnosis of both stages of dementia, leading to earlier detection and preventive medical care for dementia patients</a:t>
            </a:r>
            <a:endParaRPr sz="1200">
              <a:solidFill>
                <a:schemeClr val="accent2"/>
              </a:solidFill>
            </a:endParaRPr>
          </a:p>
          <a:p>
            <a:pPr indent="0" lvl="0" marL="457200" rtl="0" algn="l">
              <a:lnSpc>
                <a:spcPct val="150000"/>
              </a:lnSpc>
              <a:spcBef>
                <a:spcPts val="0"/>
              </a:spcBef>
              <a:spcAft>
                <a:spcPts val="0"/>
              </a:spcAft>
              <a:buNone/>
            </a:pPr>
            <a:r>
              <a:t/>
            </a:r>
            <a:endParaRPr b="0" sz="1200">
              <a:solidFill>
                <a:schemeClr val="accent2"/>
              </a:solidFill>
              <a:latin typeface="Open Sans Light"/>
              <a:ea typeface="Open Sans Light"/>
              <a:cs typeface="Open Sans Light"/>
              <a:sym typeface="Open Sans Light"/>
            </a:endParaRPr>
          </a:p>
          <a:p>
            <a:pPr indent="0" lvl="0" marL="0" rtl="0" algn="l">
              <a:lnSpc>
                <a:spcPct val="150000"/>
              </a:lnSpc>
              <a:spcBef>
                <a:spcPts val="0"/>
              </a:spcBef>
              <a:spcAft>
                <a:spcPts val="0"/>
              </a:spcAft>
              <a:buNone/>
            </a:pPr>
            <a:r>
              <a:t/>
            </a:r>
            <a:endParaRPr b="0" sz="1200">
              <a:solidFill>
                <a:schemeClr val="accent2"/>
              </a:solidFill>
              <a:latin typeface="Open Sans Light"/>
              <a:ea typeface="Open Sans Light"/>
              <a:cs typeface="Open Sans Light"/>
              <a:sym typeface="Open Sans Light"/>
            </a:endParaRPr>
          </a:p>
          <a:p>
            <a:pPr indent="0" lvl="0" marL="0" rtl="0" algn="l">
              <a:lnSpc>
                <a:spcPct val="150000"/>
              </a:lnSpc>
              <a:spcBef>
                <a:spcPts val="0"/>
              </a:spcBef>
              <a:spcAft>
                <a:spcPts val="0"/>
              </a:spcAft>
              <a:buNone/>
            </a:pPr>
            <a:r>
              <a:t/>
            </a:r>
            <a:endParaRPr b="0" sz="1200">
              <a:solidFill>
                <a:schemeClr val="accent2"/>
              </a:solidFill>
              <a:latin typeface="Open Sans Light"/>
              <a:ea typeface="Open Sans Light"/>
              <a:cs typeface="Open Sans Light"/>
              <a:sym typeface="Open Sans Light"/>
            </a:endParaRPr>
          </a:p>
        </p:txBody>
      </p:sp>
      <p:pic>
        <p:nvPicPr>
          <p:cNvPr id="137" name="Google Shape;137;p17"/>
          <p:cNvPicPr preferRelativeResize="0"/>
          <p:nvPr/>
        </p:nvPicPr>
        <p:blipFill>
          <a:blip r:embed="rId3">
            <a:alphaModFix/>
          </a:blip>
          <a:stretch>
            <a:fillRect/>
          </a:stretch>
        </p:blipFill>
        <p:spPr>
          <a:xfrm>
            <a:off x="6420425" y="2231725"/>
            <a:ext cx="2652451" cy="1696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8"/>
          <p:cNvSpPr txBox="1"/>
          <p:nvPr>
            <p:ph idx="1" type="body"/>
          </p:nvPr>
        </p:nvSpPr>
        <p:spPr>
          <a:xfrm>
            <a:off x="1788326" y="617925"/>
            <a:ext cx="5002200" cy="484500"/>
          </a:xfrm>
          <a:prstGeom prst="rect">
            <a:avLst/>
          </a:prstGeom>
        </p:spPr>
        <p:txBody>
          <a:bodyPr anchorCtr="0" anchor="ctr" bIns="34275" lIns="34275" spcFirstLastPara="1" rIns="34275" wrap="square" tIns="34275">
            <a:normAutofit/>
          </a:bodyPr>
          <a:lstStyle/>
          <a:p>
            <a:pPr indent="0" lvl="0" marL="0" rtl="0" algn="l">
              <a:lnSpc>
                <a:spcPct val="100000"/>
              </a:lnSpc>
              <a:spcBef>
                <a:spcPts val="0"/>
              </a:spcBef>
              <a:spcAft>
                <a:spcPts val="0"/>
              </a:spcAft>
              <a:buNone/>
            </a:pPr>
            <a:r>
              <a:rPr lang="en" sz="2000"/>
              <a:t>Introduction - Gaps in current research</a:t>
            </a:r>
            <a:endParaRPr sz="3300"/>
          </a:p>
        </p:txBody>
      </p:sp>
      <p:sp>
        <p:nvSpPr>
          <p:cNvPr id="143" name="Google Shape;143;p18"/>
          <p:cNvSpPr txBox="1"/>
          <p:nvPr>
            <p:ph idx="3" type="body"/>
          </p:nvPr>
        </p:nvSpPr>
        <p:spPr>
          <a:xfrm>
            <a:off x="1731175" y="1361650"/>
            <a:ext cx="6886800" cy="2315100"/>
          </a:xfrm>
          <a:prstGeom prst="rect">
            <a:avLst/>
          </a:prstGeom>
        </p:spPr>
        <p:txBody>
          <a:bodyPr anchorCtr="0" anchor="t" bIns="34275" lIns="34275" spcFirstLastPara="1" rIns="34275" wrap="square" tIns="34275">
            <a:noAutofit/>
          </a:bodyPr>
          <a:lstStyle/>
          <a:p>
            <a:pPr indent="-317500" lvl="0" marL="457200" rtl="0" algn="l">
              <a:lnSpc>
                <a:spcPct val="150000"/>
              </a:lnSpc>
              <a:spcBef>
                <a:spcPts val="0"/>
              </a:spcBef>
              <a:spcAft>
                <a:spcPts val="0"/>
              </a:spcAft>
              <a:buClr>
                <a:schemeClr val="accent2"/>
              </a:buClr>
              <a:buSzPts val="1400"/>
              <a:buFont typeface="Open Sans Light"/>
              <a:buAutoNum type="romanUcPeriod"/>
            </a:pPr>
            <a:r>
              <a:rPr b="0" lang="en">
                <a:solidFill>
                  <a:srgbClr val="000000"/>
                </a:solidFill>
                <a:latin typeface="Open Sans Light"/>
                <a:ea typeface="Open Sans Light"/>
                <a:cs typeface="Open Sans Light"/>
                <a:sym typeface="Open Sans Light"/>
              </a:rPr>
              <a:t>Many studies have suggested that biomarkers obtained by comparing AD to controls can be used to predict conversion from MCI to AD [3,4]</a:t>
            </a:r>
            <a:endParaRPr b="0">
              <a:solidFill>
                <a:srgbClr val="000000"/>
              </a:solidFill>
              <a:latin typeface="Open Sans Light"/>
              <a:ea typeface="Open Sans Light"/>
              <a:cs typeface="Open Sans Light"/>
              <a:sym typeface="Open Sans Light"/>
            </a:endParaRPr>
          </a:p>
          <a:p>
            <a:pPr indent="-317500" lvl="0" marL="457200" rtl="0" algn="l">
              <a:lnSpc>
                <a:spcPct val="150000"/>
              </a:lnSpc>
              <a:spcBef>
                <a:spcPts val="0"/>
              </a:spcBef>
              <a:spcAft>
                <a:spcPts val="0"/>
              </a:spcAft>
              <a:buClr>
                <a:srgbClr val="000000"/>
              </a:buClr>
              <a:buSzPts val="1400"/>
              <a:buFont typeface="Open Sans Light"/>
              <a:buAutoNum type="romanUcPeriod"/>
            </a:pPr>
            <a:r>
              <a:rPr b="0" lang="en">
                <a:solidFill>
                  <a:srgbClr val="000000"/>
                </a:solidFill>
                <a:latin typeface="Open Sans Light"/>
                <a:ea typeface="Open Sans Light"/>
                <a:cs typeface="Open Sans Light"/>
                <a:sym typeface="Open Sans Light"/>
              </a:rPr>
              <a:t>Recent studies have indicated that this change has a non-linear trajectory whereby cognitively unimpaired (CU) individuals progress to MCI, and then further progress to AD [3,4]</a:t>
            </a:r>
            <a:endParaRPr b="0">
              <a:solidFill>
                <a:srgbClr val="000000"/>
              </a:solidFill>
              <a:latin typeface="Open Sans Light"/>
              <a:ea typeface="Open Sans Light"/>
              <a:cs typeface="Open Sans Light"/>
              <a:sym typeface="Open Sans Light"/>
            </a:endParaRPr>
          </a:p>
          <a:p>
            <a:pPr indent="-317500" lvl="0" marL="457200" rtl="0" algn="l">
              <a:lnSpc>
                <a:spcPct val="150000"/>
              </a:lnSpc>
              <a:spcBef>
                <a:spcPts val="0"/>
              </a:spcBef>
              <a:spcAft>
                <a:spcPts val="0"/>
              </a:spcAft>
              <a:buClr>
                <a:srgbClr val="000000"/>
              </a:buClr>
              <a:buSzPts val="1400"/>
              <a:buFont typeface="Open Sans Light"/>
              <a:buAutoNum type="romanUcPeriod"/>
            </a:pPr>
            <a:r>
              <a:rPr b="0" lang="en">
                <a:solidFill>
                  <a:srgbClr val="000000"/>
                </a:solidFill>
                <a:latin typeface="Open Sans Light"/>
                <a:ea typeface="Open Sans Light"/>
                <a:cs typeface="Open Sans Light"/>
                <a:sym typeface="Open Sans Light"/>
              </a:rPr>
              <a:t>Recent imaging study found that molecular biomarkers predicting CU-to-MCI conversion are not as helpful as they are for MCI-to-AD conversion [5]</a:t>
            </a:r>
            <a:endParaRPr b="0">
              <a:solidFill>
                <a:srgbClr val="000000"/>
              </a:solidFill>
              <a:latin typeface="Open Sans Light"/>
              <a:ea typeface="Open Sans Light"/>
              <a:cs typeface="Open Sans Light"/>
              <a:sym typeface="Open Sans Light"/>
            </a:endParaRPr>
          </a:p>
          <a:p>
            <a:pPr indent="0" lvl="0" marL="457200" rtl="0" algn="l">
              <a:lnSpc>
                <a:spcPct val="150000"/>
              </a:lnSpc>
              <a:spcBef>
                <a:spcPts val="0"/>
              </a:spcBef>
              <a:spcAft>
                <a:spcPts val="0"/>
              </a:spcAft>
              <a:buNone/>
            </a:pPr>
            <a:r>
              <a:t/>
            </a:r>
            <a:endParaRPr b="0">
              <a:solidFill>
                <a:schemeClr val="accent2"/>
              </a:solidFill>
              <a:latin typeface="Open Sans Light"/>
              <a:ea typeface="Open Sans Light"/>
              <a:cs typeface="Open Sans Light"/>
              <a:sym typeface="Open Sans Light"/>
            </a:endParaRPr>
          </a:p>
          <a:p>
            <a:pPr indent="0" lvl="0" marL="0" rtl="0" algn="l">
              <a:lnSpc>
                <a:spcPct val="150000"/>
              </a:lnSpc>
              <a:spcBef>
                <a:spcPts val="0"/>
              </a:spcBef>
              <a:spcAft>
                <a:spcPts val="0"/>
              </a:spcAft>
              <a:buNone/>
            </a:pPr>
            <a:r>
              <a:t/>
            </a:r>
            <a:endParaRPr b="0">
              <a:solidFill>
                <a:schemeClr val="accent2"/>
              </a:solidFill>
              <a:latin typeface="Open Sans Light"/>
              <a:ea typeface="Open Sans Light"/>
              <a:cs typeface="Open Sans Light"/>
              <a:sym typeface="Open Sans Light"/>
            </a:endParaRPr>
          </a:p>
          <a:p>
            <a:pPr indent="0" lvl="0" marL="0" rtl="0" algn="l">
              <a:lnSpc>
                <a:spcPct val="150000"/>
              </a:lnSpc>
              <a:spcBef>
                <a:spcPts val="0"/>
              </a:spcBef>
              <a:spcAft>
                <a:spcPts val="0"/>
              </a:spcAft>
              <a:buNone/>
            </a:pPr>
            <a:r>
              <a:t/>
            </a:r>
            <a:endParaRPr b="0">
              <a:solidFill>
                <a:schemeClr val="accent2"/>
              </a:solidFill>
              <a:latin typeface="Open Sans Light"/>
              <a:ea typeface="Open Sans Light"/>
              <a:cs typeface="Open Sans Light"/>
              <a:sym typeface="Open Sans Light"/>
            </a:endParaRPr>
          </a:p>
        </p:txBody>
      </p:sp>
      <p:pic>
        <p:nvPicPr>
          <p:cNvPr id="144" name="Google Shape;144;p18"/>
          <p:cNvPicPr preferRelativeResize="0"/>
          <p:nvPr/>
        </p:nvPicPr>
        <p:blipFill>
          <a:blip r:embed="rId3">
            <a:alphaModFix/>
          </a:blip>
          <a:stretch>
            <a:fillRect/>
          </a:stretch>
        </p:blipFill>
        <p:spPr>
          <a:xfrm>
            <a:off x="874600" y="3493375"/>
            <a:ext cx="1842350" cy="1842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9"/>
          <p:cNvSpPr txBox="1"/>
          <p:nvPr>
            <p:ph idx="1" type="body"/>
          </p:nvPr>
        </p:nvSpPr>
        <p:spPr>
          <a:xfrm>
            <a:off x="1788319" y="617935"/>
            <a:ext cx="4412400" cy="484500"/>
          </a:xfrm>
          <a:prstGeom prst="rect">
            <a:avLst/>
          </a:prstGeom>
        </p:spPr>
        <p:txBody>
          <a:bodyPr anchorCtr="0" anchor="ctr" bIns="34275" lIns="34275" spcFirstLastPara="1" rIns="34275" wrap="square" tIns="34275">
            <a:normAutofit/>
          </a:bodyPr>
          <a:lstStyle/>
          <a:p>
            <a:pPr indent="0" lvl="0" marL="0" rtl="0" algn="l">
              <a:lnSpc>
                <a:spcPct val="100000"/>
              </a:lnSpc>
              <a:spcBef>
                <a:spcPts val="0"/>
              </a:spcBef>
              <a:spcAft>
                <a:spcPts val="0"/>
              </a:spcAft>
              <a:buNone/>
            </a:pPr>
            <a:r>
              <a:rPr lang="en" sz="2000"/>
              <a:t>Introduction</a:t>
            </a:r>
            <a:endParaRPr sz="3300"/>
          </a:p>
        </p:txBody>
      </p:sp>
      <p:sp>
        <p:nvSpPr>
          <p:cNvPr id="150" name="Google Shape;150;p19"/>
          <p:cNvSpPr/>
          <p:nvPr>
            <p:ph idx="2" type="chart"/>
          </p:nvPr>
        </p:nvSpPr>
        <p:spPr>
          <a:xfrm>
            <a:off x="1840700" y="1680075"/>
            <a:ext cx="6886800" cy="1600800"/>
          </a:xfrm>
          <a:prstGeom prst="rect">
            <a:avLst/>
          </a:prstGeom>
        </p:spPr>
        <p:txBody>
          <a:bodyPr anchorCtr="0" anchor="t" bIns="34275" lIns="34275" spcFirstLastPara="1" rIns="34275" wrap="square" tIns="34275">
            <a:noAutofit/>
          </a:bodyPr>
          <a:lstStyle/>
          <a:p>
            <a:pPr indent="0" lvl="0" marL="0" rtl="0" algn="l">
              <a:spcBef>
                <a:spcPts val="800"/>
              </a:spcBef>
              <a:spcAft>
                <a:spcPts val="0"/>
              </a:spcAft>
              <a:buNone/>
            </a:pPr>
            <a:r>
              <a:rPr b="1" lang="en" sz="1400">
                <a:latin typeface="Open Sans"/>
                <a:ea typeface="Open Sans"/>
                <a:cs typeface="Open Sans"/>
                <a:sym typeface="Open Sans"/>
              </a:rPr>
              <a:t>What are we hoping to accomplish?</a:t>
            </a:r>
            <a:endParaRPr b="1" sz="1400">
              <a:latin typeface="Open Sans"/>
              <a:ea typeface="Open Sans"/>
              <a:cs typeface="Open Sans"/>
              <a:sym typeface="Open Sans"/>
            </a:endParaRPr>
          </a:p>
          <a:p>
            <a:pPr indent="0" lvl="0" marL="0" rtl="0" algn="l">
              <a:spcBef>
                <a:spcPts val="800"/>
              </a:spcBef>
              <a:spcAft>
                <a:spcPts val="0"/>
              </a:spcAft>
              <a:buNone/>
            </a:pPr>
            <a:r>
              <a:rPr lang="en"/>
              <a:t>Aim 1: Identify a set of gene expression biomarkers for high-risk and low-risk MCI to AD dementia prognosis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0"/>
          <p:cNvSpPr txBox="1"/>
          <p:nvPr>
            <p:ph idx="1" type="body"/>
          </p:nvPr>
        </p:nvSpPr>
        <p:spPr>
          <a:xfrm>
            <a:off x="1788319" y="617935"/>
            <a:ext cx="4412400" cy="484500"/>
          </a:xfrm>
          <a:prstGeom prst="rect">
            <a:avLst/>
          </a:prstGeom>
        </p:spPr>
        <p:txBody>
          <a:bodyPr anchorCtr="0" anchor="ctr" bIns="34275" lIns="34275" spcFirstLastPara="1" rIns="34275" wrap="square" tIns="34275">
            <a:normAutofit/>
          </a:bodyPr>
          <a:lstStyle/>
          <a:p>
            <a:pPr indent="0" lvl="0" marL="0" rtl="0" algn="l">
              <a:lnSpc>
                <a:spcPct val="100000"/>
              </a:lnSpc>
              <a:spcBef>
                <a:spcPts val="0"/>
              </a:spcBef>
              <a:spcAft>
                <a:spcPts val="0"/>
              </a:spcAft>
              <a:buNone/>
            </a:pPr>
            <a:r>
              <a:rPr lang="en" sz="2000"/>
              <a:t>Introduction</a:t>
            </a:r>
            <a:endParaRPr sz="3300"/>
          </a:p>
        </p:txBody>
      </p:sp>
      <p:sp>
        <p:nvSpPr>
          <p:cNvPr id="156" name="Google Shape;156;p20"/>
          <p:cNvSpPr/>
          <p:nvPr>
            <p:ph idx="2" type="chart"/>
          </p:nvPr>
        </p:nvSpPr>
        <p:spPr>
          <a:xfrm>
            <a:off x="1840700" y="1680075"/>
            <a:ext cx="6886800" cy="1600800"/>
          </a:xfrm>
          <a:prstGeom prst="rect">
            <a:avLst/>
          </a:prstGeom>
        </p:spPr>
        <p:txBody>
          <a:bodyPr anchorCtr="0" anchor="t" bIns="34275" lIns="34275" spcFirstLastPara="1" rIns="34275" wrap="square" tIns="34275">
            <a:noAutofit/>
          </a:bodyPr>
          <a:lstStyle/>
          <a:p>
            <a:pPr indent="0" lvl="0" marL="0" rtl="0" algn="l">
              <a:spcBef>
                <a:spcPts val="800"/>
              </a:spcBef>
              <a:spcAft>
                <a:spcPts val="0"/>
              </a:spcAft>
              <a:buNone/>
            </a:pPr>
            <a:r>
              <a:rPr b="1" lang="en" sz="1400">
                <a:latin typeface="Open Sans"/>
                <a:ea typeface="Open Sans"/>
                <a:cs typeface="Open Sans"/>
                <a:sym typeface="Open Sans"/>
              </a:rPr>
              <a:t>What are we hoping to accomplish?</a:t>
            </a:r>
            <a:endParaRPr b="1" sz="1400">
              <a:latin typeface="Open Sans"/>
              <a:ea typeface="Open Sans"/>
              <a:cs typeface="Open Sans"/>
              <a:sym typeface="Open Sans"/>
            </a:endParaRPr>
          </a:p>
          <a:p>
            <a:pPr indent="0" lvl="0" marL="0" rtl="0" algn="l">
              <a:spcBef>
                <a:spcPts val="800"/>
              </a:spcBef>
              <a:spcAft>
                <a:spcPts val="0"/>
              </a:spcAft>
              <a:buNone/>
            </a:pPr>
            <a:r>
              <a:rPr lang="en"/>
              <a:t>Aim 1: Identify a set of gene expression biomarkers for high-risk and low-risk MCI to AD dementia prognosis</a:t>
            </a:r>
            <a:endParaRPr/>
          </a:p>
        </p:txBody>
      </p:sp>
      <p:sp>
        <p:nvSpPr>
          <p:cNvPr id="157" name="Google Shape;157;p20"/>
          <p:cNvSpPr txBox="1"/>
          <p:nvPr/>
        </p:nvSpPr>
        <p:spPr>
          <a:xfrm>
            <a:off x="1756902" y="2842075"/>
            <a:ext cx="64653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lang="en" sz="1500">
                <a:solidFill>
                  <a:srgbClr val="5D5D5D"/>
                </a:solidFill>
                <a:latin typeface="Open Sans Light"/>
                <a:ea typeface="Open Sans Light"/>
                <a:cs typeface="Open Sans Light"/>
                <a:sym typeface="Open Sans Light"/>
              </a:rPr>
              <a:t>Aim 2: Compare the performance of </a:t>
            </a:r>
            <a:r>
              <a:rPr lang="en" sz="1500">
                <a:solidFill>
                  <a:srgbClr val="5D5D5D"/>
                </a:solidFill>
                <a:latin typeface="Open Sans Light"/>
                <a:ea typeface="Open Sans Light"/>
                <a:cs typeface="Open Sans Light"/>
                <a:sym typeface="Open Sans Light"/>
              </a:rPr>
              <a:t>supervised</a:t>
            </a:r>
            <a:r>
              <a:rPr lang="en" sz="1500">
                <a:solidFill>
                  <a:srgbClr val="5D5D5D"/>
                </a:solidFill>
                <a:latin typeface="Open Sans Light"/>
                <a:ea typeface="Open Sans Light"/>
                <a:cs typeface="Open Sans Light"/>
                <a:sym typeface="Open Sans Light"/>
              </a:rPr>
              <a:t> models between machine learning and deep learning approaches</a:t>
            </a:r>
            <a:endParaRPr/>
          </a:p>
        </p:txBody>
      </p:sp>
      <p:grpSp>
        <p:nvGrpSpPr>
          <p:cNvPr id="158" name="Google Shape;158;p20"/>
          <p:cNvGrpSpPr/>
          <p:nvPr/>
        </p:nvGrpSpPr>
        <p:grpSpPr>
          <a:xfrm>
            <a:off x="2628600" y="3858525"/>
            <a:ext cx="2151600" cy="807000"/>
            <a:chOff x="2628600" y="3858525"/>
            <a:chExt cx="2151600" cy="807000"/>
          </a:xfrm>
        </p:grpSpPr>
        <p:sp>
          <p:nvSpPr>
            <p:cNvPr id="159" name="Google Shape;159;p20"/>
            <p:cNvSpPr txBox="1"/>
            <p:nvPr/>
          </p:nvSpPr>
          <p:spPr>
            <a:xfrm>
              <a:off x="3396600" y="3858525"/>
              <a:ext cx="615600" cy="406800"/>
            </a:xfrm>
            <a:prstGeom prst="rect">
              <a:avLst/>
            </a:prstGeom>
            <a:noFill/>
            <a:ln cap="flat" cmpd="sng" w="19050">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accent5"/>
                  </a:solidFill>
                  <a:latin typeface="Open Sans"/>
                  <a:ea typeface="Open Sans"/>
                  <a:cs typeface="Open Sans"/>
                  <a:sym typeface="Open Sans"/>
                </a:rPr>
                <a:t>SVM</a:t>
              </a:r>
              <a:endParaRPr b="1" sz="1500">
                <a:solidFill>
                  <a:schemeClr val="accent5"/>
                </a:solidFill>
                <a:latin typeface="Open Sans"/>
                <a:ea typeface="Open Sans"/>
                <a:cs typeface="Open Sans"/>
                <a:sym typeface="Open Sans"/>
              </a:endParaRPr>
            </a:p>
            <a:p>
              <a:pPr indent="0" lvl="0" marL="0" rtl="0" algn="l">
                <a:spcBef>
                  <a:spcPts val="0"/>
                </a:spcBef>
                <a:spcAft>
                  <a:spcPts val="0"/>
                </a:spcAft>
                <a:buNone/>
              </a:pPr>
              <a:r>
                <a:t/>
              </a:r>
              <a:endParaRPr b="1" sz="1500">
                <a:solidFill>
                  <a:schemeClr val="accent5"/>
                </a:solidFill>
                <a:latin typeface="Open Sans"/>
                <a:ea typeface="Open Sans"/>
                <a:cs typeface="Open Sans"/>
                <a:sym typeface="Open Sans"/>
              </a:endParaRPr>
            </a:p>
          </p:txBody>
        </p:sp>
        <p:sp>
          <p:nvSpPr>
            <p:cNvPr id="160" name="Google Shape;160;p20"/>
            <p:cNvSpPr txBox="1"/>
            <p:nvPr/>
          </p:nvSpPr>
          <p:spPr>
            <a:xfrm>
              <a:off x="2628600" y="4265325"/>
              <a:ext cx="2151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5D5D5D"/>
                  </a:solidFill>
                  <a:latin typeface="Open Sans Light"/>
                  <a:ea typeface="Open Sans Light"/>
                  <a:cs typeface="Open Sans Light"/>
                  <a:sym typeface="Open Sans Light"/>
                </a:rPr>
                <a:t>Support vector machine</a:t>
              </a:r>
              <a:endParaRPr>
                <a:solidFill>
                  <a:srgbClr val="5D5D5D"/>
                </a:solidFill>
                <a:latin typeface="Open Sans Light"/>
                <a:ea typeface="Open Sans Light"/>
                <a:cs typeface="Open Sans Light"/>
                <a:sym typeface="Open Sans Light"/>
              </a:endParaRPr>
            </a:p>
          </p:txBody>
        </p:sp>
      </p:grpSp>
      <p:grpSp>
        <p:nvGrpSpPr>
          <p:cNvPr id="161" name="Google Shape;161;p20"/>
          <p:cNvGrpSpPr/>
          <p:nvPr/>
        </p:nvGrpSpPr>
        <p:grpSpPr>
          <a:xfrm>
            <a:off x="5106575" y="3858525"/>
            <a:ext cx="2151600" cy="1022400"/>
            <a:chOff x="5106575" y="3858525"/>
            <a:chExt cx="2151600" cy="1022400"/>
          </a:xfrm>
        </p:grpSpPr>
        <p:sp>
          <p:nvSpPr>
            <p:cNvPr id="162" name="Google Shape;162;p20"/>
            <p:cNvSpPr txBox="1"/>
            <p:nvPr/>
          </p:nvSpPr>
          <p:spPr>
            <a:xfrm>
              <a:off x="5792225" y="3858525"/>
              <a:ext cx="780300" cy="406800"/>
            </a:xfrm>
            <a:prstGeom prst="rect">
              <a:avLst/>
            </a:prstGeom>
            <a:noFill/>
            <a:ln cap="flat" cmpd="sng" w="19050">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accent6"/>
                  </a:solidFill>
                  <a:latin typeface="Open Sans"/>
                  <a:ea typeface="Open Sans"/>
                  <a:cs typeface="Open Sans"/>
                  <a:sym typeface="Open Sans"/>
                </a:rPr>
                <a:t>CNN</a:t>
              </a:r>
              <a:endParaRPr b="1" sz="1500">
                <a:solidFill>
                  <a:schemeClr val="accent6"/>
                </a:solidFill>
                <a:latin typeface="Open Sans"/>
                <a:ea typeface="Open Sans"/>
                <a:cs typeface="Open Sans"/>
                <a:sym typeface="Open Sans"/>
              </a:endParaRPr>
            </a:p>
          </p:txBody>
        </p:sp>
        <p:sp>
          <p:nvSpPr>
            <p:cNvPr id="163" name="Google Shape;163;p20"/>
            <p:cNvSpPr txBox="1"/>
            <p:nvPr/>
          </p:nvSpPr>
          <p:spPr>
            <a:xfrm>
              <a:off x="5106575" y="4265325"/>
              <a:ext cx="21516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5D5D5D"/>
                  </a:solidFill>
                  <a:latin typeface="Open Sans Light"/>
                  <a:ea typeface="Open Sans Light"/>
                  <a:cs typeface="Open Sans Light"/>
                  <a:sym typeface="Open Sans Light"/>
                </a:rPr>
                <a:t>Convolutional neural network</a:t>
              </a:r>
              <a:endParaRPr>
                <a:solidFill>
                  <a:srgbClr val="5D5D5D"/>
                </a:solidFill>
                <a:latin typeface="Open Sans Light"/>
                <a:ea typeface="Open Sans Light"/>
                <a:cs typeface="Open Sans Light"/>
                <a:sym typeface="Open Sans Light"/>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1"/>
          <p:cNvSpPr txBox="1"/>
          <p:nvPr>
            <p:ph idx="1" type="body"/>
          </p:nvPr>
        </p:nvSpPr>
        <p:spPr>
          <a:xfrm>
            <a:off x="1788319" y="617935"/>
            <a:ext cx="4412400" cy="484500"/>
          </a:xfrm>
          <a:prstGeom prst="rect">
            <a:avLst/>
          </a:prstGeom>
        </p:spPr>
        <p:txBody>
          <a:bodyPr anchorCtr="0" anchor="ctr" bIns="34275" lIns="34275" spcFirstLastPara="1" rIns="34275" wrap="square" tIns="34275">
            <a:normAutofit/>
          </a:bodyPr>
          <a:lstStyle/>
          <a:p>
            <a:pPr indent="0" lvl="0" marL="0" rtl="0" algn="l">
              <a:lnSpc>
                <a:spcPct val="100000"/>
              </a:lnSpc>
              <a:spcBef>
                <a:spcPts val="0"/>
              </a:spcBef>
              <a:spcAft>
                <a:spcPts val="0"/>
              </a:spcAft>
              <a:buNone/>
            </a:pPr>
            <a:r>
              <a:rPr lang="en" sz="2000"/>
              <a:t>Data</a:t>
            </a:r>
            <a:endParaRPr sz="3300"/>
          </a:p>
        </p:txBody>
      </p:sp>
      <p:sp>
        <p:nvSpPr>
          <p:cNvPr id="169" name="Google Shape;169;p21"/>
          <p:cNvSpPr/>
          <p:nvPr/>
        </p:nvSpPr>
        <p:spPr>
          <a:xfrm>
            <a:off x="1788325" y="1400550"/>
            <a:ext cx="2223000" cy="1997700"/>
          </a:xfrm>
          <a:prstGeom prst="wedgeRectCallout">
            <a:avLst>
              <a:gd fmla="val 61416" name="adj1"/>
              <a:gd fmla="val -3946" name="adj2"/>
            </a:avLst>
          </a:prstGeom>
          <a:solidFill>
            <a:schemeClr val="lt1"/>
          </a:solidFill>
          <a:ln cap="flat" cmpd="sng" w="19050">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latin typeface="Open Sans"/>
                <a:ea typeface="Open Sans"/>
                <a:cs typeface="Open Sans"/>
                <a:sym typeface="Open Sans"/>
              </a:rPr>
              <a:t>Train cohort</a:t>
            </a:r>
            <a:endParaRPr b="1" sz="1100">
              <a:latin typeface="Open Sans"/>
              <a:ea typeface="Open Sans"/>
              <a:cs typeface="Open Sans"/>
              <a:sym typeface="Open Sans"/>
            </a:endParaRPr>
          </a:p>
          <a:p>
            <a:pPr indent="0" lvl="0" marL="0" rtl="0" algn="ctr">
              <a:spcBef>
                <a:spcPts val="0"/>
              </a:spcBef>
              <a:spcAft>
                <a:spcPts val="0"/>
              </a:spcAft>
              <a:buNone/>
            </a:pPr>
            <a:r>
              <a:rPr b="1" lang="en" sz="1100">
                <a:latin typeface="Open Sans"/>
                <a:ea typeface="Open Sans"/>
                <a:cs typeface="Open Sans"/>
                <a:sym typeface="Open Sans"/>
              </a:rPr>
              <a:t>GEO: GSE282742</a:t>
            </a:r>
            <a:endParaRPr b="1" sz="1100">
              <a:latin typeface="Open Sans"/>
              <a:ea typeface="Open Sans"/>
              <a:cs typeface="Open Sans"/>
              <a:sym typeface="Open Sans"/>
            </a:endParaRPr>
          </a:p>
          <a:p>
            <a:pPr indent="0" lvl="0" marL="0" rtl="0" algn="ctr">
              <a:spcBef>
                <a:spcPts val="0"/>
              </a:spcBef>
              <a:spcAft>
                <a:spcPts val="0"/>
              </a:spcAft>
              <a:buNone/>
            </a:pPr>
            <a:r>
              <a:t/>
            </a:r>
            <a:endParaRPr b="1" sz="1100">
              <a:latin typeface="Open Sans"/>
              <a:ea typeface="Open Sans"/>
              <a:cs typeface="Open Sans"/>
              <a:sym typeface="Open Sans"/>
            </a:endParaRPr>
          </a:p>
          <a:p>
            <a:pPr indent="0" lvl="0" marL="0" rtl="0" algn="l">
              <a:spcBef>
                <a:spcPts val="0"/>
              </a:spcBef>
              <a:spcAft>
                <a:spcPts val="0"/>
              </a:spcAft>
              <a:buNone/>
            </a:pPr>
            <a:r>
              <a:rPr lang="en" sz="1100">
                <a:latin typeface="Open Sans Light"/>
                <a:ea typeface="Open Sans Light"/>
                <a:cs typeface="Open Sans Light"/>
                <a:sym typeface="Open Sans Light"/>
              </a:rPr>
              <a:t>Variables: Age, Sex </a:t>
            </a:r>
            <a:endParaRPr sz="1100">
              <a:latin typeface="Open Sans Light"/>
              <a:ea typeface="Open Sans Light"/>
              <a:cs typeface="Open Sans Light"/>
              <a:sym typeface="Open Sans Light"/>
            </a:endParaRPr>
          </a:p>
          <a:p>
            <a:pPr indent="0" lvl="0" marL="0" rtl="0" algn="l">
              <a:spcBef>
                <a:spcPts val="0"/>
              </a:spcBef>
              <a:spcAft>
                <a:spcPts val="0"/>
              </a:spcAft>
              <a:buNone/>
            </a:pPr>
            <a:r>
              <a:rPr lang="en" sz="1100">
                <a:latin typeface="Open Sans Light"/>
                <a:ea typeface="Open Sans Light"/>
                <a:cs typeface="Open Sans Light"/>
                <a:sym typeface="Open Sans Light"/>
              </a:rPr>
              <a:t>- </a:t>
            </a:r>
            <a:r>
              <a:rPr lang="en" sz="1100">
                <a:latin typeface="Open Sans Light"/>
                <a:ea typeface="Open Sans Light"/>
                <a:cs typeface="Open Sans Light"/>
                <a:sym typeface="Open Sans Light"/>
              </a:rPr>
              <a:t>Gene expression of white blood cells (TPM), n=61860</a:t>
            </a:r>
            <a:endParaRPr sz="1100">
              <a:latin typeface="Open Sans Light"/>
              <a:ea typeface="Open Sans Light"/>
              <a:cs typeface="Open Sans Light"/>
              <a:sym typeface="Open Sans Light"/>
            </a:endParaRPr>
          </a:p>
          <a:p>
            <a:pPr indent="0" lvl="0" marL="0" rtl="0" algn="l">
              <a:spcBef>
                <a:spcPts val="0"/>
              </a:spcBef>
              <a:spcAft>
                <a:spcPts val="0"/>
              </a:spcAft>
              <a:buNone/>
            </a:pPr>
            <a:r>
              <a:rPr lang="en" sz="1100">
                <a:latin typeface="Open Sans Light"/>
                <a:ea typeface="Open Sans Light"/>
                <a:cs typeface="Open Sans Light"/>
                <a:sym typeface="Open Sans Light"/>
              </a:rPr>
              <a:t>- progressive MCI (P-MCI), n=28</a:t>
            </a:r>
            <a:endParaRPr sz="1100">
              <a:latin typeface="Open Sans Light"/>
              <a:ea typeface="Open Sans Light"/>
              <a:cs typeface="Open Sans Light"/>
              <a:sym typeface="Open Sans Light"/>
            </a:endParaRPr>
          </a:p>
          <a:p>
            <a:pPr indent="0" lvl="0" marL="0" rtl="0" algn="l">
              <a:spcBef>
                <a:spcPts val="0"/>
              </a:spcBef>
              <a:spcAft>
                <a:spcPts val="0"/>
              </a:spcAft>
              <a:buNone/>
            </a:pPr>
            <a:r>
              <a:rPr lang="en" sz="1100">
                <a:latin typeface="Open Sans Light"/>
                <a:ea typeface="Open Sans Light"/>
                <a:cs typeface="Open Sans Light"/>
                <a:sym typeface="Open Sans Light"/>
              </a:rPr>
              <a:t>- stable MCI (S-MCI), n=39</a:t>
            </a:r>
            <a:endParaRPr sz="1100">
              <a:latin typeface="Open Sans Light"/>
              <a:ea typeface="Open Sans Light"/>
              <a:cs typeface="Open Sans Light"/>
              <a:sym typeface="Open Sans Light"/>
            </a:endParaRPr>
          </a:p>
          <a:p>
            <a:pPr indent="0" lvl="0" marL="0" rtl="0" algn="l">
              <a:spcBef>
                <a:spcPts val="0"/>
              </a:spcBef>
              <a:spcAft>
                <a:spcPts val="0"/>
              </a:spcAft>
              <a:buNone/>
            </a:pPr>
            <a:r>
              <a:t/>
            </a:r>
            <a:endParaRPr sz="1100">
              <a:latin typeface="Open Sans Light"/>
              <a:ea typeface="Open Sans Light"/>
              <a:cs typeface="Open Sans Light"/>
              <a:sym typeface="Open Sans Light"/>
            </a:endParaRPr>
          </a:p>
          <a:p>
            <a:pPr indent="0" lvl="0" marL="0" rtl="0" algn="ctr">
              <a:spcBef>
                <a:spcPts val="0"/>
              </a:spcBef>
              <a:spcAft>
                <a:spcPts val="0"/>
              </a:spcAft>
              <a:buNone/>
            </a:pPr>
            <a:r>
              <a:t/>
            </a:r>
            <a:endParaRPr b="1" sz="1100">
              <a:latin typeface="Open Sans"/>
              <a:ea typeface="Open Sans"/>
              <a:cs typeface="Open Sans"/>
              <a:sym typeface="Open Sans"/>
            </a:endParaRPr>
          </a:p>
          <a:p>
            <a:pPr indent="0" lvl="0" marL="0" rtl="0" algn="ctr">
              <a:spcBef>
                <a:spcPts val="0"/>
              </a:spcBef>
              <a:spcAft>
                <a:spcPts val="0"/>
              </a:spcAft>
              <a:buNone/>
            </a:pPr>
            <a:r>
              <a:rPr lang="en" sz="1100">
                <a:latin typeface="Open Sans Light"/>
                <a:ea typeface="Open Sans Light"/>
                <a:cs typeface="Open Sans Light"/>
                <a:sym typeface="Open Sans Light"/>
              </a:rPr>
              <a:t>(Huang, Yi-Long et al., 2025)</a:t>
            </a:r>
            <a:endParaRPr sz="1100">
              <a:latin typeface="Open Sans Light"/>
              <a:ea typeface="Open Sans Light"/>
              <a:cs typeface="Open Sans Light"/>
              <a:sym typeface="Open Sans Light"/>
            </a:endParaRPr>
          </a:p>
        </p:txBody>
      </p:sp>
      <p:sp>
        <p:nvSpPr>
          <p:cNvPr id="170" name="Google Shape;170;p21"/>
          <p:cNvSpPr/>
          <p:nvPr/>
        </p:nvSpPr>
        <p:spPr>
          <a:xfrm>
            <a:off x="6343975" y="1400550"/>
            <a:ext cx="2264400" cy="1852500"/>
          </a:xfrm>
          <a:prstGeom prst="wedgeRectCallout">
            <a:avLst>
              <a:gd fmla="val -60775" name="adj1"/>
              <a:gd fmla="val -892" name="adj2"/>
            </a:avLst>
          </a:prstGeom>
          <a:solidFill>
            <a:schemeClr val="lt1"/>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latin typeface="Open Sans"/>
                <a:ea typeface="Open Sans"/>
                <a:cs typeface="Open Sans"/>
                <a:sym typeface="Open Sans"/>
              </a:rPr>
              <a:t>External cohort</a:t>
            </a:r>
            <a:br>
              <a:rPr b="1" lang="en" sz="1100">
                <a:latin typeface="Open Sans"/>
                <a:ea typeface="Open Sans"/>
                <a:cs typeface="Open Sans"/>
                <a:sym typeface="Open Sans"/>
              </a:rPr>
            </a:br>
            <a:r>
              <a:rPr b="1" lang="en" sz="1100">
                <a:latin typeface="Open Sans"/>
                <a:ea typeface="Open Sans"/>
                <a:cs typeface="Open Sans"/>
                <a:sym typeface="Open Sans"/>
              </a:rPr>
              <a:t>GEO: GSE249477</a:t>
            </a:r>
            <a:endParaRPr b="1" sz="1100">
              <a:latin typeface="Open Sans"/>
              <a:ea typeface="Open Sans"/>
              <a:cs typeface="Open Sans"/>
              <a:sym typeface="Open Sans"/>
            </a:endParaRPr>
          </a:p>
          <a:p>
            <a:pPr indent="0" lvl="0" marL="0" rtl="0" algn="ctr">
              <a:spcBef>
                <a:spcPts val="0"/>
              </a:spcBef>
              <a:spcAft>
                <a:spcPts val="0"/>
              </a:spcAft>
              <a:buNone/>
            </a:pPr>
            <a:r>
              <a:t/>
            </a:r>
            <a:endParaRPr b="1" sz="1100">
              <a:latin typeface="Open Sans"/>
              <a:ea typeface="Open Sans"/>
              <a:cs typeface="Open Sans"/>
              <a:sym typeface="Open Sans"/>
            </a:endParaRPr>
          </a:p>
          <a:p>
            <a:pPr indent="0" lvl="0" marL="0" rtl="0" algn="l">
              <a:spcBef>
                <a:spcPts val="0"/>
              </a:spcBef>
              <a:spcAft>
                <a:spcPts val="0"/>
              </a:spcAft>
              <a:buNone/>
            </a:pPr>
            <a:r>
              <a:rPr lang="en" sz="1100">
                <a:latin typeface="Open Sans Light"/>
                <a:ea typeface="Open Sans Light"/>
                <a:cs typeface="Open Sans Light"/>
                <a:sym typeface="Open Sans Light"/>
              </a:rPr>
              <a:t>Variables: Age, Sex</a:t>
            </a:r>
            <a:endParaRPr sz="1100">
              <a:latin typeface="Open Sans Light"/>
              <a:ea typeface="Open Sans Light"/>
              <a:cs typeface="Open Sans Light"/>
              <a:sym typeface="Open Sans Light"/>
            </a:endParaRPr>
          </a:p>
          <a:p>
            <a:pPr indent="0" lvl="0" marL="0" rtl="0" algn="l">
              <a:spcBef>
                <a:spcPts val="0"/>
              </a:spcBef>
              <a:spcAft>
                <a:spcPts val="0"/>
              </a:spcAft>
              <a:buNone/>
            </a:pPr>
            <a:r>
              <a:rPr lang="en" sz="1100">
                <a:latin typeface="Open Sans Light"/>
                <a:ea typeface="Open Sans Light"/>
                <a:cs typeface="Open Sans Light"/>
                <a:sym typeface="Open Sans Light"/>
              </a:rPr>
              <a:t>- </a:t>
            </a:r>
            <a:r>
              <a:rPr lang="en" sz="1100">
                <a:latin typeface="Open Sans Light"/>
                <a:ea typeface="Open Sans Light"/>
                <a:cs typeface="Open Sans Light"/>
                <a:sym typeface="Open Sans Light"/>
              </a:rPr>
              <a:t>Gene expression of white blood cells (TPM), n=21492</a:t>
            </a:r>
            <a:endParaRPr sz="1100">
              <a:latin typeface="Open Sans Light"/>
              <a:ea typeface="Open Sans Light"/>
              <a:cs typeface="Open Sans Light"/>
              <a:sym typeface="Open Sans Light"/>
            </a:endParaRPr>
          </a:p>
          <a:p>
            <a:pPr indent="0" lvl="0" marL="0" rtl="0" algn="l">
              <a:spcBef>
                <a:spcPts val="0"/>
              </a:spcBef>
              <a:spcAft>
                <a:spcPts val="0"/>
              </a:spcAft>
              <a:buNone/>
            </a:pPr>
            <a:r>
              <a:rPr lang="en" sz="1100">
                <a:latin typeface="Open Sans Light"/>
                <a:ea typeface="Open Sans Light"/>
                <a:cs typeface="Open Sans Light"/>
                <a:sym typeface="Open Sans Light"/>
              </a:rPr>
              <a:t>- MCI due to AD, n=20</a:t>
            </a:r>
            <a:endParaRPr sz="1100">
              <a:latin typeface="Open Sans Light"/>
              <a:ea typeface="Open Sans Light"/>
              <a:cs typeface="Open Sans Light"/>
              <a:sym typeface="Open Sans Light"/>
            </a:endParaRPr>
          </a:p>
          <a:p>
            <a:pPr indent="0" lvl="0" marL="0" rtl="0" algn="l">
              <a:spcBef>
                <a:spcPts val="0"/>
              </a:spcBef>
              <a:spcAft>
                <a:spcPts val="0"/>
              </a:spcAft>
              <a:buNone/>
            </a:pPr>
            <a:r>
              <a:rPr lang="en" sz="1100">
                <a:latin typeface="Open Sans Light"/>
                <a:ea typeface="Open Sans Light"/>
                <a:cs typeface="Open Sans Light"/>
                <a:sym typeface="Open Sans Light"/>
              </a:rPr>
              <a:t>- AD, n=21</a:t>
            </a:r>
            <a:endParaRPr sz="1100">
              <a:latin typeface="Open Sans Light"/>
              <a:ea typeface="Open Sans Light"/>
              <a:cs typeface="Open Sans Light"/>
              <a:sym typeface="Open Sans Light"/>
            </a:endParaRPr>
          </a:p>
          <a:p>
            <a:pPr indent="0" lvl="0" marL="0" rtl="0" algn="l">
              <a:spcBef>
                <a:spcPts val="0"/>
              </a:spcBef>
              <a:spcAft>
                <a:spcPts val="0"/>
              </a:spcAft>
              <a:buNone/>
            </a:pPr>
            <a:r>
              <a:t/>
            </a:r>
            <a:endParaRPr sz="1100">
              <a:latin typeface="Open Sans Light"/>
              <a:ea typeface="Open Sans Light"/>
              <a:cs typeface="Open Sans Light"/>
              <a:sym typeface="Open Sans Light"/>
            </a:endParaRPr>
          </a:p>
          <a:p>
            <a:pPr indent="0" lvl="0" marL="0" rtl="0" algn="ctr">
              <a:spcBef>
                <a:spcPts val="0"/>
              </a:spcBef>
              <a:spcAft>
                <a:spcPts val="0"/>
              </a:spcAft>
              <a:buNone/>
            </a:pPr>
            <a:r>
              <a:rPr lang="en" sz="1100">
                <a:latin typeface="Open Sans Light"/>
                <a:ea typeface="Open Sans Light"/>
                <a:cs typeface="Open Sans Light"/>
                <a:sym typeface="Open Sans Light"/>
              </a:rPr>
              <a:t>(Iga, Jun-Ichi et al., 2024)</a:t>
            </a:r>
            <a:endParaRPr sz="1100">
              <a:latin typeface="Open Sans Light"/>
              <a:ea typeface="Open Sans Light"/>
              <a:cs typeface="Open Sans Light"/>
              <a:sym typeface="Open Sans Light"/>
            </a:endParaRPr>
          </a:p>
        </p:txBody>
      </p:sp>
      <p:sp>
        <p:nvSpPr>
          <p:cNvPr id="171" name="Google Shape;171;p21"/>
          <p:cNvSpPr txBox="1"/>
          <p:nvPr/>
        </p:nvSpPr>
        <p:spPr>
          <a:xfrm>
            <a:off x="3751150" y="4404025"/>
            <a:ext cx="2853000" cy="369300"/>
          </a:xfrm>
          <a:prstGeom prst="rect">
            <a:avLst/>
          </a:prstGeom>
          <a:noFill/>
          <a:ln cap="flat" cmpd="sng" w="19050">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rgbClr val="5D5D5D"/>
                </a:solidFill>
                <a:latin typeface="Open Sans"/>
                <a:ea typeface="Open Sans"/>
                <a:cs typeface="Open Sans"/>
                <a:sym typeface="Open Sans"/>
              </a:rPr>
              <a:t>Cohort Gene expression: 450 genes</a:t>
            </a:r>
            <a:endParaRPr b="1" sz="1200">
              <a:solidFill>
                <a:srgbClr val="5D5D5D"/>
              </a:solidFill>
              <a:latin typeface="Open Sans"/>
              <a:ea typeface="Open Sans"/>
              <a:cs typeface="Open Sans"/>
              <a:sym typeface="Open Sans"/>
            </a:endParaRPr>
          </a:p>
        </p:txBody>
      </p:sp>
      <p:sp>
        <p:nvSpPr>
          <p:cNvPr id="172" name="Google Shape;172;p21"/>
          <p:cNvSpPr txBox="1"/>
          <p:nvPr/>
        </p:nvSpPr>
        <p:spPr>
          <a:xfrm>
            <a:off x="4503400" y="3067825"/>
            <a:ext cx="1348500" cy="369300"/>
          </a:xfrm>
          <a:prstGeom prst="rect">
            <a:avLst/>
          </a:prstGeom>
          <a:noFill/>
          <a:ln cap="flat" cmpd="sng" w="19050">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rgbClr val="5D5D5D"/>
                </a:solidFill>
                <a:latin typeface="Open Sans"/>
                <a:ea typeface="Open Sans"/>
                <a:cs typeface="Open Sans"/>
                <a:sym typeface="Open Sans"/>
              </a:rPr>
              <a:t>Normalization</a:t>
            </a:r>
            <a:endParaRPr b="1" sz="1200">
              <a:solidFill>
                <a:srgbClr val="5D5D5D"/>
              </a:solidFill>
              <a:latin typeface="Open Sans"/>
              <a:ea typeface="Open Sans"/>
              <a:cs typeface="Open Sans"/>
              <a:sym typeface="Open Sans"/>
            </a:endParaRPr>
          </a:p>
        </p:txBody>
      </p:sp>
      <p:sp>
        <p:nvSpPr>
          <p:cNvPr id="173" name="Google Shape;173;p21"/>
          <p:cNvSpPr txBox="1"/>
          <p:nvPr/>
        </p:nvSpPr>
        <p:spPr>
          <a:xfrm>
            <a:off x="4167700" y="3735925"/>
            <a:ext cx="2019900" cy="369300"/>
          </a:xfrm>
          <a:prstGeom prst="rect">
            <a:avLst/>
          </a:prstGeom>
          <a:noFill/>
          <a:ln cap="flat" cmpd="sng" w="19050">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rgbClr val="5D5D5D"/>
                </a:solidFill>
                <a:latin typeface="Open Sans"/>
                <a:ea typeface="Open Sans"/>
                <a:cs typeface="Open Sans"/>
                <a:sym typeface="Open Sans"/>
              </a:rPr>
              <a:t>Filter High Information</a:t>
            </a:r>
            <a:endParaRPr b="1" sz="1200">
              <a:solidFill>
                <a:srgbClr val="5D5D5D"/>
              </a:solidFill>
              <a:latin typeface="Open Sans"/>
              <a:ea typeface="Open Sans"/>
              <a:cs typeface="Open Sans"/>
              <a:sym typeface="Open Sans"/>
            </a:endParaRPr>
          </a:p>
        </p:txBody>
      </p:sp>
      <p:sp>
        <p:nvSpPr>
          <p:cNvPr id="174" name="Google Shape;174;p21"/>
          <p:cNvSpPr txBox="1"/>
          <p:nvPr/>
        </p:nvSpPr>
        <p:spPr>
          <a:xfrm>
            <a:off x="4354900" y="2214925"/>
            <a:ext cx="1645500" cy="554100"/>
          </a:xfrm>
          <a:prstGeom prst="rect">
            <a:avLst/>
          </a:prstGeom>
          <a:noFill/>
          <a:ln cap="flat" cmpd="sng" w="19050">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rgbClr val="5D5D5D"/>
                </a:solidFill>
                <a:latin typeface="Open Sans"/>
                <a:ea typeface="Open Sans"/>
                <a:cs typeface="Open Sans"/>
                <a:sym typeface="Open Sans"/>
              </a:rPr>
              <a:t>Gene Intersection</a:t>
            </a:r>
            <a:endParaRPr b="1" sz="1200">
              <a:solidFill>
                <a:srgbClr val="5D5D5D"/>
              </a:solidFill>
              <a:latin typeface="Open Sans"/>
              <a:ea typeface="Open Sans"/>
              <a:cs typeface="Open Sans"/>
              <a:sym typeface="Open Sans"/>
            </a:endParaRPr>
          </a:p>
          <a:p>
            <a:pPr indent="0" lvl="0" marL="0" rtl="0" algn="ctr">
              <a:spcBef>
                <a:spcPts val="0"/>
              </a:spcBef>
              <a:spcAft>
                <a:spcPts val="0"/>
              </a:spcAft>
              <a:buNone/>
            </a:pPr>
            <a:r>
              <a:rPr b="1" lang="en" sz="1200">
                <a:solidFill>
                  <a:srgbClr val="5D5D5D"/>
                </a:solidFill>
                <a:latin typeface="Open Sans"/>
                <a:ea typeface="Open Sans"/>
                <a:cs typeface="Open Sans"/>
                <a:sym typeface="Open Sans"/>
              </a:rPr>
              <a:t>n=21462</a:t>
            </a:r>
            <a:endParaRPr b="1" sz="1200">
              <a:solidFill>
                <a:srgbClr val="5D5D5D"/>
              </a:solidFill>
              <a:latin typeface="Open Sans"/>
              <a:ea typeface="Open Sans"/>
              <a:cs typeface="Open Sans"/>
              <a:sym typeface="Open Sans"/>
            </a:endParaRPr>
          </a:p>
        </p:txBody>
      </p:sp>
      <p:cxnSp>
        <p:nvCxnSpPr>
          <p:cNvPr id="175" name="Google Shape;175;p21"/>
          <p:cNvCxnSpPr>
            <a:stCxn id="174" idx="2"/>
            <a:endCxn id="172" idx="0"/>
          </p:cNvCxnSpPr>
          <p:nvPr/>
        </p:nvCxnSpPr>
        <p:spPr>
          <a:xfrm>
            <a:off x="5177650" y="2769025"/>
            <a:ext cx="0" cy="298800"/>
          </a:xfrm>
          <a:prstGeom prst="straightConnector1">
            <a:avLst/>
          </a:prstGeom>
          <a:noFill/>
          <a:ln cap="flat" cmpd="sng" w="19050">
            <a:solidFill>
              <a:schemeClr val="dk2"/>
            </a:solidFill>
            <a:prstDash val="solid"/>
            <a:round/>
            <a:headEnd len="med" w="med" type="none"/>
            <a:tailEnd len="med" w="med" type="triangle"/>
          </a:ln>
        </p:spPr>
      </p:cxnSp>
      <p:cxnSp>
        <p:nvCxnSpPr>
          <p:cNvPr id="176" name="Google Shape;176;p21"/>
          <p:cNvCxnSpPr>
            <a:stCxn id="172" idx="2"/>
            <a:endCxn id="173" idx="0"/>
          </p:cNvCxnSpPr>
          <p:nvPr/>
        </p:nvCxnSpPr>
        <p:spPr>
          <a:xfrm>
            <a:off x="5177650" y="3437125"/>
            <a:ext cx="0" cy="298800"/>
          </a:xfrm>
          <a:prstGeom prst="straightConnector1">
            <a:avLst/>
          </a:prstGeom>
          <a:noFill/>
          <a:ln cap="flat" cmpd="sng" w="19050">
            <a:solidFill>
              <a:schemeClr val="dk2"/>
            </a:solidFill>
            <a:prstDash val="solid"/>
            <a:round/>
            <a:headEnd len="med" w="med" type="none"/>
            <a:tailEnd len="med" w="med" type="triangle"/>
          </a:ln>
        </p:spPr>
      </p:cxnSp>
      <p:cxnSp>
        <p:nvCxnSpPr>
          <p:cNvPr id="177" name="Google Shape;177;p21"/>
          <p:cNvCxnSpPr>
            <a:stCxn id="173" idx="2"/>
            <a:endCxn id="171" idx="0"/>
          </p:cNvCxnSpPr>
          <p:nvPr/>
        </p:nvCxnSpPr>
        <p:spPr>
          <a:xfrm>
            <a:off x="5177650" y="4105225"/>
            <a:ext cx="0" cy="2988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txBox="1"/>
          <p:nvPr>
            <p:ph idx="1" type="body"/>
          </p:nvPr>
        </p:nvSpPr>
        <p:spPr>
          <a:xfrm>
            <a:off x="1788319" y="617935"/>
            <a:ext cx="4412400" cy="484500"/>
          </a:xfrm>
          <a:prstGeom prst="rect">
            <a:avLst/>
          </a:prstGeom>
        </p:spPr>
        <p:txBody>
          <a:bodyPr anchorCtr="0" anchor="ctr" bIns="34275" lIns="34275" spcFirstLastPara="1" rIns="34275" wrap="square" tIns="34275">
            <a:normAutofit/>
          </a:bodyPr>
          <a:lstStyle/>
          <a:p>
            <a:pPr indent="0" lvl="0" marL="0" rtl="0" algn="l">
              <a:lnSpc>
                <a:spcPct val="100000"/>
              </a:lnSpc>
              <a:spcBef>
                <a:spcPts val="0"/>
              </a:spcBef>
              <a:spcAft>
                <a:spcPts val="0"/>
              </a:spcAft>
              <a:buNone/>
            </a:pPr>
            <a:r>
              <a:rPr lang="en" sz="2000"/>
              <a:t>Methods - </a:t>
            </a:r>
            <a:endParaRPr sz="3300"/>
          </a:p>
        </p:txBody>
      </p:sp>
      <p:sp>
        <p:nvSpPr>
          <p:cNvPr id="183" name="Google Shape;183;p22"/>
          <p:cNvSpPr txBox="1"/>
          <p:nvPr>
            <p:ph idx="3" type="body"/>
          </p:nvPr>
        </p:nvSpPr>
        <p:spPr>
          <a:xfrm>
            <a:off x="1788319" y="1399716"/>
            <a:ext cx="5007300" cy="276300"/>
          </a:xfrm>
          <a:prstGeom prst="rect">
            <a:avLst/>
          </a:prstGeom>
        </p:spPr>
        <p:txBody>
          <a:bodyPr anchorCtr="0" anchor="t" bIns="34275" lIns="34275" spcFirstLastPara="1" rIns="34275" wrap="square" tIns="34275">
            <a:normAutofit lnSpcReduction="10000"/>
          </a:bodyPr>
          <a:lstStyle/>
          <a:p>
            <a:pPr indent="0" lvl="0" marL="0" rtl="0" algn="l">
              <a:spcBef>
                <a:spcPts val="0"/>
              </a:spcBef>
              <a:spcAft>
                <a:spcPts val="0"/>
              </a:spcAft>
              <a:buNone/>
            </a:pPr>
            <a:r>
              <a:rPr lang="en"/>
              <a:t>Architecture - </a:t>
            </a:r>
            <a:r>
              <a:rPr b="0" lang="en"/>
              <a:t>Scikit Learn Python library</a:t>
            </a:r>
            <a:endParaRPr b="0"/>
          </a:p>
        </p:txBody>
      </p:sp>
      <p:sp>
        <p:nvSpPr>
          <p:cNvPr id="184" name="Google Shape;184;p22"/>
          <p:cNvSpPr/>
          <p:nvPr>
            <p:ph idx="2" type="chart"/>
          </p:nvPr>
        </p:nvSpPr>
        <p:spPr>
          <a:xfrm>
            <a:off x="1788325" y="1676025"/>
            <a:ext cx="4478400" cy="2727900"/>
          </a:xfrm>
          <a:prstGeom prst="rect">
            <a:avLst/>
          </a:prstGeom>
        </p:spPr>
        <p:txBody>
          <a:bodyPr anchorCtr="0" anchor="t" bIns="34275" lIns="34275" spcFirstLastPara="1" rIns="34275" wrap="square" tIns="34275">
            <a:noAutofit/>
          </a:bodyPr>
          <a:lstStyle/>
          <a:p>
            <a:pPr indent="0" lvl="0" marL="0" rtl="0" algn="l">
              <a:spcBef>
                <a:spcPts val="800"/>
              </a:spcBef>
              <a:spcAft>
                <a:spcPts val="0"/>
              </a:spcAft>
              <a:buNone/>
            </a:pPr>
            <a:r>
              <a:t/>
            </a:r>
            <a:endParaRPr sz="1200">
              <a:solidFill>
                <a:schemeClr val="dk2"/>
              </a:solidFill>
              <a:highlight>
                <a:srgbClr val="FFFFFF"/>
              </a:highlight>
            </a:endParaRPr>
          </a:p>
          <a:p>
            <a:pPr indent="0" lvl="0" marL="0" rtl="0" algn="l">
              <a:spcBef>
                <a:spcPts val="800"/>
              </a:spcBef>
              <a:spcAft>
                <a:spcPts val="0"/>
              </a:spcAft>
              <a:buNone/>
            </a:pPr>
            <a:r>
              <a:t/>
            </a:r>
            <a:endParaRPr sz="1200">
              <a:solidFill>
                <a:schemeClr val="dk2"/>
              </a:solidFill>
            </a:endParaRPr>
          </a:p>
          <a:p>
            <a:pPr indent="0" lvl="0" marL="0" rtl="0" algn="l">
              <a:spcBef>
                <a:spcPts val="800"/>
              </a:spcBef>
              <a:spcAft>
                <a:spcPts val="0"/>
              </a:spcAft>
              <a:buNone/>
            </a:pPr>
            <a:r>
              <a:t/>
            </a:r>
            <a:endParaRPr sz="1200">
              <a:solidFill>
                <a:schemeClr val="dk2"/>
              </a:solidFill>
            </a:endParaRPr>
          </a:p>
        </p:txBody>
      </p:sp>
      <p:sp>
        <p:nvSpPr>
          <p:cNvPr id="185" name="Google Shape;185;p22"/>
          <p:cNvSpPr txBox="1"/>
          <p:nvPr/>
        </p:nvSpPr>
        <p:spPr>
          <a:xfrm>
            <a:off x="3055000" y="656775"/>
            <a:ext cx="615600" cy="406800"/>
          </a:xfrm>
          <a:prstGeom prst="rect">
            <a:avLst/>
          </a:prstGeom>
          <a:noFill/>
          <a:ln cap="flat" cmpd="sng" w="19050">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accent5"/>
                </a:solidFill>
                <a:latin typeface="Open Sans"/>
                <a:ea typeface="Open Sans"/>
                <a:cs typeface="Open Sans"/>
                <a:sym typeface="Open Sans"/>
              </a:rPr>
              <a:t>SVM</a:t>
            </a:r>
            <a:endParaRPr b="1" sz="1500">
              <a:solidFill>
                <a:schemeClr val="accent5"/>
              </a:solidFill>
              <a:latin typeface="Open Sans"/>
              <a:ea typeface="Open Sans"/>
              <a:cs typeface="Open Sans"/>
              <a:sym typeface="Open Sans"/>
            </a:endParaRPr>
          </a:p>
          <a:p>
            <a:pPr indent="0" lvl="0" marL="0" rtl="0" algn="l">
              <a:spcBef>
                <a:spcPts val="0"/>
              </a:spcBef>
              <a:spcAft>
                <a:spcPts val="0"/>
              </a:spcAft>
              <a:buNone/>
            </a:pPr>
            <a:r>
              <a:t/>
            </a:r>
            <a:endParaRPr b="1" sz="1500">
              <a:solidFill>
                <a:schemeClr val="accent5"/>
              </a:solidFill>
              <a:latin typeface="Open Sans"/>
              <a:ea typeface="Open Sans"/>
              <a:cs typeface="Open Sans"/>
              <a:sym typeface="Open Sans"/>
            </a:endParaRPr>
          </a:p>
        </p:txBody>
      </p:sp>
      <p:pic>
        <p:nvPicPr>
          <p:cNvPr id="186" name="Google Shape;186;p22" title="Screenshot 2025-11-29 at 1.41.43 PM.png"/>
          <p:cNvPicPr preferRelativeResize="0"/>
          <p:nvPr/>
        </p:nvPicPr>
        <p:blipFill>
          <a:blip r:embed="rId3">
            <a:alphaModFix/>
          </a:blip>
          <a:stretch>
            <a:fillRect/>
          </a:stretch>
        </p:blipFill>
        <p:spPr>
          <a:xfrm>
            <a:off x="6475390" y="0"/>
            <a:ext cx="2668620" cy="5143499"/>
          </a:xfrm>
          <a:prstGeom prst="rect">
            <a:avLst/>
          </a:prstGeom>
          <a:noFill/>
          <a:ln>
            <a:noFill/>
          </a:ln>
        </p:spPr>
      </p:pic>
      <p:sp>
        <p:nvSpPr>
          <p:cNvPr id="187" name="Google Shape;187;p22"/>
          <p:cNvSpPr txBox="1"/>
          <p:nvPr/>
        </p:nvSpPr>
        <p:spPr>
          <a:xfrm>
            <a:off x="1788325" y="1676025"/>
            <a:ext cx="4638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Light"/>
                <a:ea typeface="Open Sans Light"/>
                <a:cs typeface="Open Sans Light"/>
                <a:sym typeface="Open Sans Light"/>
              </a:rPr>
              <a:t>Cross-validation: StratifiedKFold(K = 5)</a:t>
            </a:r>
            <a:endParaRPr>
              <a:latin typeface="Open Sans Light"/>
              <a:ea typeface="Open Sans Light"/>
              <a:cs typeface="Open Sans Light"/>
              <a:sym typeface="Open Sans Light"/>
            </a:endParaRPr>
          </a:p>
          <a:p>
            <a:pPr indent="0" lvl="0" marL="0" rtl="0" algn="l">
              <a:spcBef>
                <a:spcPts val="0"/>
              </a:spcBef>
              <a:spcAft>
                <a:spcPts val="0"/>
              </a:spcAft>
              <a:buNone/>
            </a:pPr>
            <a:r>
              <a:rPr lang="en">
                <a:latin typeface="Open Sans Light"/>
                <a:ea typeface="Open Sans Light"/>
                <a:cs typeface="Open Sans Light"/>
                <a:sym typeface="Open Sans Light"/>
              </a:rPr>
              <a:t>LinearSVC (C=1.0, max_iter=5000, random_state=42)</a:t>
            </a:r>
            <a:endParaRPr>
              <a:latin typeface="Open Sans Light"/>
              <a:ea typeface="Open Sans Light"/>
              <a:cs typeface="Open Sans Light"/>
              <a:sym typeface="Open Sans Light"/>
            </a:endParaRPr>
          </a:p>
        </p:txBody>
      </p:sp>
      <p:sp>
        <p:nvSpPr>
          <p:cNvPr id="188" name="Google Shape;188;p22"/>
          <p:cNvSpPr txBox="1"/>
          <p:nvPr>
            <p:ph idx="3" type="body"/>
          </p:nvPr>
        </p:nvSpPr>
        <p:spPr>
          <a:xfrm>
            <a:off x="1788319" y="2380391"/>
            <a:ext cx="5007300" cy="276300"/>
          </a:xfrm>
          <a:prstGeom prst="rect">
            <a:avLst/>
          </a:prstGeom>
        </p:spPr>
        <p:txBody>
          <a:bodyPr anchorCtr="0" anchor="t" bIns="34275" lIns="34275" spcFirstLastPara="1" rIns="34275" wrap="square" tIns="34275">
            <a:normAutofit lnSpcReduction="10000"/>
          </a:bodyPr>
          <a:lstStyle/>
          <a:p>
            <a:pPr indent="0" lvl="0" marL="0" rtl="0" algn="l">
              <a:spcBef>
                <a:spcPts val="0"/>
              </a:spcBef>
              <a:spcAft>
                <a:spcPts val="0"/>
              </a:spcAft>
              <a:buNone/>
            </a:pPr>
            <a:r>
              <a:rPr lang="en"/>
              <a:t>Training performance</a:t>
            </a:r>
            <a:endParaRPr/>
          </a:p>
        </p:txBody>
      </p:sp>
      <p:grpSp>
        <p:nvGrpSpPr>
          <p:cNvPr id="189" name="Google Shape;189;p22"/>
          <p:cNvGrpSpPr/>
          <p:nvPr/>
        </p:nvGrpSpPr>
        <p:grpSpPr>
          <a:xfrm>
            <a:off x="1788325" y="2571750"/>
            <a:ext cx="4478400" cy="603550"/>
            <a:chOff x="1788325" y="2453350"/>
            <a:chExt cx="4478400" cy="603550"/>
          </a:xfrm>
        </p:grpSpPr>
        <p:sp>
          <p:nvSpPr>
            <p:cNvPr id="190" name="Google Shape;190;p22"/>
            <p:cNvSpPr txBox="1"/>
            <p:nvPr/>
          </p:nvSpPr>
          <p:spPr>
            <a:xfrm>
              <a:off x="1788325" y="2656700"/>
              <a:ext cx="4478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Light"/>
                  <a:ea typeface="Open Sans Light"/>
                  <a:cs typeface="Open Sans Light"/>
                  <a:sym typeface="Open Sans Light"/>
                </a:rPr>
                <a:t>Cross-Validation Mean     </a:t>
              </a:r>
              <a:r>
                <a:rPr lang="en">
                  <a:latin typeface="Open Sans Light"/>
                  <a:ea typeface="Open Sans Light"/>
                  <a:cs typeface="Open Sans Light"/>
                  <a:sym typeface="Open Sans Light"/>
                </a:rPr>
                <a:t>0.732        0.727        0.743</a:t>
              </a:r>
              <a:endParaRPr>
                <a:latin typeface="Open Sans Light"/>
                <a:ea typeface="Open Sans Light"/>
                <a:cs typeface="Open Sans Light"/>
                <a:sym typeface="Open Sans Light"/>
              </a:endParaRPr>
            </a:p>
          </p:txBody>
        </p:sp>
        <p:sp>
          <p:nvSpPr>
            <p:cNvPr id="191" name="Google Shape;191;p22"/>
            <p:cNvSpPr txBox="1"/>
            <p:nvPr/>
          </p:nvSpPr>
          <p:spPr>
            <a:xfrm>
              <a:off x="3846625" y="2453350"/>
              <a:ext cx="2354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Accuracy  </a:t>
              </a:r>
              <a:r>
                <a:rPr lang="en" sz="1200">
                  <a:solidFill>
                    <a:schemeClr val="dk2"/>
                  </a:solidFill>
                </a:rPr>
                <a:t>Sensitivity </a:t>
              </a:r>
              <a:r>
                <a:rPr lang="en" sz="1200">
                  <a:solidFill>
                    <a:schemeClr val="dk2"/>
                  </a:solidFill>
                </a:rPr>
                <a:t> Specificity</a:t>
              </a:r>
              <a:endParaRPr sz="1200">
                <a:solidFill>
                  <a:schemeClr val="dk2"/>
                </a:solidFill>
              </a:endParaRPr>
            </a:p>
          </p:txBody>
        </p:sp>
      </p:grpSp>
      <p:sp>
        <p:nvSpPr>
          <p:cNvPr id="192" name="Google Shape;192;p22"/>
          <p:cNvSpPr txBox="1"/>
          <p:nvPr>
            <p:ph idx="3" type="body"/>
          </p:nvPr>
        </p:nvSpPr>
        <p:spPr>
          <a:xfrm>
            <a:off x="1788325" y="3261675"/>
            <a:ext cx="4687200" cy="276300"/>
          </a:xfrm>
          <a:prstGeom prst="rect">
            <a:avLst/>
          </a:prstGeom>
        </p:spPr>
        <p:txBody>
          <a:bodyPr anchorCtr="0" anchor="t" bIns="34275" lIns="34275" spcFirstLastPara="1" rIns="34275" wrap="square" tIns="34275">
            <a:normAutofit lnSpcReduction="10000"/>
          </a:bodyPr>
          <a:lstStyle/>
          <a:p>
            <a:pPr indent="0" lvl="0" marL="0" rtl="0" algn="l">
              <a:spcBef>
                <a:spcPts val="0"/>
              </a:spcBef>
              <a:spcAft>
                <a:spcPts val="0"/>
              </a:spcAft>
              <a:buNone/>
            </a:pPr>
            <a:r>
              <a:rPr lang="en"/>
              <a:t>Biomarker identification</a:t>
            </a:r>
            <a:endParaRPr/>
          </a:p>
        </p:txBody>
      </p:sp>
      <p:sp>
        <p:nvSpPr>
          <p:cNvPr id="193" name="Google Shape;193;p22"/>
          <p:cNvSpPr txBox="1"/>
          <p:nvPr/>
        </p:nvSpPr>
        <p:spPr>
          <a:xfrm>
            <a:off x="1788325" y="3537975"/>
            <a:ext cx="4478400" cy="8313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latin typeface="Open Sans Light"/>
                <a:ea typeface="Open Sans Light"/>
                <a:cs typeface="Open Sans Light"/>
                <a:sym typeface="Open Sans Light"/>
              </a:rPr>
              <a:t>Using </a:t>
            </a:r>
            <a:r>
              <a:rPr lang="en">
                <a:latin typeface="Open Sans Light"/>
                <a:ea typeface="Open Sans Light"/>
                <a:cs typeface="Open Sans Light"/>
                <a:sym typeface="Open Sans Light"/>
              </a:rPr>
              <a:t>the </a:t>
            </a:r>
            <a:r>
              <a:rPr b="1" lang="en">
                <a:solidFill>
                  <a:schemeClr val="accent5"/>
                </a:solidFill>
                <a:latin typeface="Open Sans"/>
                <a:ea typeface="Open Sans"/>
                <a:cs typeface="Open Sans"/>
                <a:sym typeface="Open Sans"/>
              </a:rPr>
              <a:t>average absolute value of SVM coefficients</a:t>
            </a:r>
            <a:endParaRPr b="1">
              <a:solidFill>
                <a:schemeClr val="accent5"/>
              </a:solidFill>
              <a:latin typeface="Open Sans"/>
              <a:ea typeface="Open Sans"/>
              <a:cs typeface="Open Sans"/>
              <a:sym typeface="Open Sans"/>
            </a:endParaRPr>
          </a:p>
          <a:p>
            <a:pPr indent="-317500" lvl="0" marL="457200" rtl="0" algn="l">
              <a:spcBef>
                <a:spcPts val="0"/>
              </a:spcBef>
              <a:spcAft>
                <a:spcPts val="0"/>
              </a:spcAft>
              <a:buSzPts val="1400"/>
              <a:buFont typeface="Open Sans Light"/>
              <a:buChar char="-"/>
            </a:pPr>
            <a:r>
              <a:rPr lang="en">
                <a:latin typeface="Open Sans Light"/>
                <a:ea typeface="Open Sans Light"/>
                <a:cs typeface="Open Sans Light"/>
                <a:sym typeface="Open Sans Light"/>
              </a:rPr>
              <a:t>Rank top 30 genes</a:t>
            </a:r>
            <a:endParaRPr>
              <a:latin typeface="Open Sans Light"/>
              <a:ea typeface="Open Sans Light"/>
              <a:cs typeface="Open Sans Light"/>
              <a:sym typeface="Open Sans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body"/>
          </p:nvPr>
        </p:nvSpPr>
        <p:spPr>
          <a:xfrm>
            <a:off x="1788319" y="617935"/>
            <a:ext cx="4412400" cy="484500"/>
          </a:xfrm>
          <a:prstGeom prst="rect">
            <a:avLst/>
          </a:prstGeom>
        </p:spPr>
        <p:txBody>
          <a:bodyPr anchorCtr="0" anchor="ctr" bIns="34275" lIns="34275" spcFirstLastPara="1" rIns="34275" wrap="square" tIns="34275">
            <a:normAutofit/>
          </a:bodyPr>
          <a:lstStyle/>
          <a:p>
            <a:pPr indent="0" lvl="0" marL="0" rtl="0" algn="l">
              <a:lnSpc>
                <a:spcPct val="100000"/>
              </a:lnSpc>
              <a:spcBef>
                <a:spcPts val="0"/>
              </a:spcBef>
              <a:spcAft>
                <a:spcPts val="0"/>
              </a:spcAft>
              <a:buNone/>
            </a:pPr>
            <a:r>
              <a:rPr lang="en" sz="2000"/>
              <a:t>Methods - </a:t>
            </a:r>
            <a:endParaRPr sz="3300"/>
          </a:p>
        </p:txBody>
      </p:sp>
      <p:sp>
        <p:nvSpPr>
          <p:cNvPr id="199" name="Google Shape;199;p23"/>
          <p:cNvSpPr txBox="1"/>
          <p:nvPr/>
        </p:nvSpPr>
        <p:spPr>
          <a:xfrm>
            <a:off x="3080125" y="656775"/>
            <a:ext cx="780300" cy="406800"/>
          </a:xfrm>
          <a:prstGeom prst="rect">
            <a:avLst/>
          </a:prstGeom>
          <a:noFill/>
          <a:ln cap="flat" cmpd="sng" w="19050">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accent6"/>
                </a:solidFill>
                <a:latin typeface="Open Sans"/>
                <a:ea typeface="Open Sans"/>
                <a:cs typeface="Open Sans"/>
                <a:sym typeface="Open Sans"/>
              </a:rPr>
              <a:t>CNN</a:t>
            </a:r>
            <a:endParaRPr b="1" sz="1500">
              <a:solidFill>
                <a:schemeClr val="accent6"/>
              </a:solidFill>
              <a:latin typeface="Open Sans"/>
              <a:ea typeface="Open Sans"/>
              <a:cs typeface="Open Sans"/>
              <a:sym typeface="Open Sans"/>
            </a:endParaRPr>
          </a:p>
        </p:txBody>
      </p:sp>
      <p:sp>
        <p:nvSpPr>
          <p:cNvPr id="200" name="Google Shape;200;p23"/>
          <p:cNvSpPr txBox="1"/>
          <p:nvPr>
            <p:ph idx="3" type="body"/>
          </p:nvPr>
        </p:nvSpPr>
        <p:spPr>
          <a:xfrm>
            <a:off x="1788319" y="1399716"/>
            <a:ext cx="5007300" cy="276300"/>
          </a:xfrm>
          <a:prstGeom prst="rect">
            <a:avLst/>
          </a:prstGeom>
        </p:spPr>
        <p:txBody>
          <a:bodyPr anchorCtr="0" anchor="t" bIns="34275" lIns="34275" spcFirstLastPara="1" rIns="34275" wrap="square" tIns="34275">
            <a:normAutofit lnSpcReduction="10000"/>
          </a:bodyPr>
          <a:lstStyle/>
          <a:p>
            <a:pPr indent="0" lvl="0" marL="0" rtl="0" algn="l">
              <a:spcBef>
                <a:spcPts val="0"/>
              </a:spcBef>
              <a:spcAft>
                <a:spcPts val="0"/>
              </a:spcAft>
              <a:buNone/>
            </a:pPr>
            <a:r>
              <a:rPr lang="en"/>
              <a:t>Architecture - </a:t>
            </a:r>
            <a:r>
              <a:rPr b="0" lang="en"/>
              <a:t>Pytorch</a:t>
            </a:r>
            <a:endParaRPr b="0"/>
          </a:p>
        </p:txBody>
      </p:sp>
      <p:sp>
        <p:nvSpPr>
          <p:cNvPr id="201" name="Google Shape;201;p23"/>
          <p:cNvSpPr/>
          <p:nvPr>
            <p:ph idx="2" type="chart"/>
          </p:nvPr>
        </p:nvSpPr>
        <p:spPr>
          <a:xfrm>
            <a:off x="1788325" y="2162950"/>
            <a:ext cx="4478400" cy="2727900"/>
          </a:xfrm>
          <a:prstGeom prst="rect">
            <a:avLst/>
          </a:prstGeom>
        </p:spPr>
        <p:txBody>
          <a:bodyPr anchorCtr="0" anchor="t" bIns="34275" lIns="34275" spcFirstLastPara="1" rIns="34275" wrap="square" tIns="34275">
            <a:noAutofit/>
          </a:bodyPr>
          <a:lstStyle/>
          <a:p>
            <a:pPr indent="0" lvl="0" marL="0" rtl="0" algn="l">
              <a:spcBef>
                <a:spcPts val="800"/>
              </a:spcBef>
              <a:spcAft>
                <a:spcPts val="0"/>
              </a:spcAft>
              <a:buNone/>
            </a:pPr>
            <a:r>
              <a:t/>
            </a:r>
            <a:endParaRPr sz="1200">
              <a:solidFill>
                <a:schemeClr val="dk2"/>
              </a:solidFill>
              <a:highlight>
                <a:srgbClr val="FFFFFF"/>
              </a:highlight>
            </a:endParaRPr>
          </a:p>
          <a:p>
            <a:pPr indent="0" lvl="0" marL="0" rtl="0" algn="l">
              <a:spcBef>
                <a:spcPts val="800"/>
              </a:spcBef>
              <a:spcAft>
                <a:spcPts val="0"/>
              </a:spcAft>
              <a:buNone/>
            </a:pPr>
            <a:r>
              <a:t/>
            </a:r>
            <a:endParaRPr sz="1200">
              <a:solidFill>
                <a:schemeClr val="dk2"/>
              </a:solidFill>
            </a:endParaRPr>
          </a:p>
          <a:p>
            <a:pPr indent="0" lvl="0" marL="0" rtl="0" algn="l">
              <a:spcBef>
                <a:spcPts val="800"/>
              </a:spcBef>
              <a:spcAft>
                <a:spcPts val="0"/>
              </a:spcAft>
              <a:buNone/>
            </a:pPr>
            <a:r>
              <a:t/>
            </a:r>
            <a:endParaRPr sz="1200">
              <a:solidFill>
                <a:schemeClr val="dk2"/>
              </a:solidFill>
            </a:endParaRPr>
          </a:p>
        </p:txBody>
      </p:sp>
      <p:sp>
        <p:nvSpPr>
          <p:cNvPr id="202" name="Google Shape;202;p23"/>
          <p:cNvSpPr txBox="1"/>
          <p:nvPr/>
        </p:nvSpPr>
        <p:spPr>
          <a:xfrm>
            <a:off x="1788325" y="1632725"/>
            <a:ext cx="4638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Light"/>
                <a:ea typeface="Open Sans Light"/>
                <a:cs typeface="Open Sans Light"/>
                <a:sym typeface="Open Sans Light"/>
              </a:rPr>
              <a:t>Loss function: </a:t>
            </a:r>
            <a:r>
              <a:rPr lang="en">
                <a:latin typeface="Open Sans Light"/>
                <a:ea typeface="Open Sans Light"/>
                <a:cs typeface="Open Sans Light"/>
                <a:sym typeface="Open Sans Light"/>
              </a:rPr>
              <a:t>Cross Entropy Loss</a:t>
            </a:r>
            <a:endParaRPr>
              <a:latin typeface="Open Sans Light"/>
              <a:ea typeface="Open Sans Light"/>
              <a:cs typeface="Open Sans Light"/>
              <a:sym typeface="Open Sans Light"/>
            </a:endParaRPr>
          </a:p>
          <a:p>
            <a:pPr indent="0" lvl="0" marL="0" rtl="0" algn="l">
              <a:spcBef>
                <a:spcPts val="0"/>
              </a:spcBef>
              <a:spcAft>
                <a:spcPts val="0"/>
              </a:spcAft>
              <a:buNone/>
            </a:pPr>
            <a:r>
              <a:rPr lang="en">
                <a:latin typeface="Open Sans Light"/>
                <a:ea typeface="Open Sans Light"/>
                <a:cs typeface="Open Sans Light"/>
                <a:sym typeface="Open Sans Light"/>
              </a:rPr>
              <a:t>Optimizer: Adam</a:t>
            </a:r>
            <a:endParaRPr>
              <a:latin typeface="Open Sans Light"/>
              <a:ea typeface="Open Sans Light"/>
              <a:cs typeface="Open Sans Light"/>
              <a:sym typeface="Open Sans Light"/>
            </a:endParaRPr>
          </a:p>
          <a:p>
            <a:pPr indent="0" lvl="0" marL="0" rtl="0" algn="l">
              <a:spcBef>
                <a:spcPts val="0"/>
              </a:spcBef>
              <a:spcAft>
                <a:spcPts val="0"/>
              </a:spcAft>
              <a:buNone/>
            </a:pPr>
            <a:r>
              <a:rPr lang="en">
                <a:latin typeface="Open Sans Light"/>
                <a:ea typeface="Open Sans Light"/>
                <a:cs typeface="Open Sans Light"/>
                <a:sym typeface="Open Sans Light"/>
              </a:rPr>
              <a:t>Hyper-parameters: lr=0.001, epoch=100</a:t>
            </a:r>
            <a:endParaRPr>
              <a:latin typeface="Open Sans Light"/>
              <a:ea typeface="Open Sans Light"/>
              <a:cs typeface="Open Sans Light"/>
              <a:sym typeface="Open Sans Light"/>
            </a:endParaRPr>
          </a:p>
          <a:p>
            <a:pPr indent="0" lvl="0" marL="0" rtl="0" algn="l">
              <a:spcBef>
                <a:spcPts val="0"/>
              </a:spcBef>
              <a:spcAft>
                <a:spcPts val="0"/>
              </a:spcAft>
              <a:buNone/>
            </a:pPr>
            <a:r>
              <a:rPr lang="en">
                <a:latin typeface="Open Sans Light"/>
                <a:ea typeface="Open Sans Light"/>
                <a:cs typeface="Open Sans Light"/>
                <a:sym typeface="Open Sans Light"/>
              </a:rPr>
              <a:t>Cross-validation: StratifiedKFold(K = 5)</a:t>
            </a:r>
            <a:endParaRPr>
              <a:latin typeface="Open Sans Light"/>
              <a:ea typeface="Open Sans Light"/>
              <a:cs typeface="Open Sans Light"/>
              <a:sym typeface="Open Sans Light"/>
            </a:endParaRPr>
          </a:p>
          <a:p>
            <a:pPr indent="0" lvl="0" marL="0" rtl="0" algn="l">
              <a:spcBef>
                <a:spcPts val="0"/>
              </a:spcBef>
              <a:spcAft>
                <a:spcPts val="0"/>
              </a:spcAft>
              <a:buNone/>
            </a:pPr>
            <a:r>
              <a:rPr lang="en">
                <a:latin typeface="Open Sans Light"/>
                <a:ea typeface="Open Sans Light"/>
                <a:cs typeface="Open Sans Light"/>
                <a:sym typeface="Open Sans Light"/>
              </a:rPr>
              <a:t>CNN1D() &amp; CNN2D()</a:t>
            </a:r>
            <a:endParaRPr>
              <a:latin typeface="Open Sans Light"/>
              <a:ea typeface="Open Sans Light"/>
              <a:cs typeface="Open Sans Light"/>
              <a:sym typeface="Open Sans Light"/>
            </a:endParaRPr>
          </a:p>
        </p:txBody>
      </p:sp>
      <p:sp>
        <p:nvSpPr>
          <p:cNvPr id="203" name="Google Shape;203;p23"/>
          <p:cNvSpPr txBox="1"/>
          <p:nvPr>
            <p:ph idx="3" type="body"/>
          </p:nvPr>
        </p:nvSpPr>
        <p:spPr>
          <a:xfrm>
            <a:off x="1788319" y="2953841"/>
            <a:ext cx="5007300" cy="276300"/>
          </a:xfrm>
          <a:prstGeom prst="rect">
            <a:avLst/>
          </a:prstGeom>
        </p:spPr>
        <p:txBody>
          <a:bodyPr anchorCtr="0" anchor="t" bIns="34275" lIns="34275" spcFirstLastPara="1" rIns="34275" wrap="square" tIns="34275">
            <a:normAutofit lnSpcReduction="10000"/>
          </a:bodyPr>
          <a:lstStyle/>
          <a:p>
            <a:pPr indent="0" lvl="0" marL="0" rtl="0" algn="l">
              <a:spcBef>
                <a:spcPts val="0"/>
              </a:spcBef>
              <a:spcAft>
                <a:spcPts val="0"/>
              </a:spcAft>
              <a:buNone/>
            </a:pPr>
            <a:r>
              <a:rPr lang="en"/>
              <a:t>Training performance</a:t>
            </a:r>
            <a:endParaRPr/>
          </a:p>
        </p:txBody>
      </p:sp>
      <p:grpSp>
        <p:nvGrpSpPr>
          <p:cNvPr id="204" name="Google Shape;204;p23"/>
          <p:cNvGrpSpPr/>
          <p:nvPr/>
        </p:nvGrpSpPr>
        <p:grpSpPr>
          <a:xfrm>
            <a:off x="1788325" y="3041650"/>
            <a:ext cx="5052300" cy="818950"/>
            <a:chOff x="1788325" y="2453350"/>
            <a:chExt cx="5052300" cy="818950"/>
          </a:xfrm>
        </p:grpSpPr>
        <p:sp>
          <p:nvSpPr>
            <p:cNvPr id="205" name="Google Shape;205;p23"/>
            <p:cNvSpPr txBox="1"/>
            <p:nvPr/>
          </p:nvSpPr>
          <p:spPr>
            <a:xfrm>
              <a:off x="1788325" y="2656700"/>
              <a:ext cx="5052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Light"/>
                  <a:ea typeface="Open Sans Light"/>
                  <a:cs typeface="Open Sans Light"/>
                  <a:sym typeface="Open Sans Light"/>
                </a:rPr>
                <a:t>CNN1D Cross-Validation Mean     0.642        0.367        0.850</a:t>
              </a:r>
              <a:endParaRPr>
                <a:latin typeface="Open Sans Light"/>
                <a:ea typeface="Open Sans Light"/>
                <a:cs typeface="Open Sans Light"/>
                <a:sym typeface="Open Sans Light"/>
              </a:endParaRPr>
            </a:p>
            <a:p>
              <a:pPr indent="0" lvl="0" marL="0" rtl="0" algn="l">
                <a:spcBef>
                  <a:spcPts val="0"/>
                </a:spcBef>
                <a:spcAft>
                  <a:spcPts val="0"/>
                </a:spcAft>
                <a:buNone/>
              </a:pPr>
              <a:r>
                <a:rPr lang="en">
                  <a:latin typeface="Open Sans Light"/>
                  <a:ea typeface="Open Sans Light"/>
                  <a:cs typeface="Open Sans Light"/>
                  <a:sym typeface="Open Sans Light"/>
                </a:rPr>
                <a:t>CNN2D Cross-Validation Mean     0.688	      0.493	    0.818</a:t>
              </a:r>
              <a:endParaRPr>
                <a:latin typeface="Open Sans Light"/>
                <a:ea typeface="Open Sans Light"/>
                <a:cs typeface="Open Sans Light"/>
                <a:sym typeface="Open Sans Light"/>
              </a:endParaRPr>
            </a:p>
          </p:txBody>
        </p:sp>
        <p:sp>
          <p:nvSpPr>
            <p:cNvPr id="206" name="Google Shape;206;p23"/>
            <p:cNvSpPr txBox="1"/>
            <p:nvPr/>
          </p:nvSpPr>
          <p:spPr>
            <a:xfrm>
              <a:off x="4441525" y="2453350"/>
              <a:ext cx="2354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Accuracy  Sensitivity  Specificity</a:t>
              </a:r>
              <a:endParaRPr sz="1200">
                <a:solidFill>
                  <a:schemeClr val="dk2"/>
                </a:solidFill>
              </a:endParaRPr>
            </a:p>
          </p:txBody>
        </p:sp>
      </p:grpSp>
      <p:sp>
        <p:nvSpPr>
          <p:cNvPr id="207" name="Google Shape;207;p23"/>
          <p:cNvSpPr txBox="1"/>
          <p:nvPr>
            <p:ph idx="3" type="body"/>
          </p:nvPr>
        </p:nvSpPr>
        <p:spPr>
          <a:xfrm>
            <a:off x="1764175" y="3877625"/>
            <a:ext cx="4687200" cy="276300"/>
          </a:xfrm>
          <a:prstGeom prst="rect">
            <a:avLst/>
          </a:prstGeom>
        </p:spPr>
        <p:txBody>
          <a:bodyPr anchorCtr="0" anchor="t" bIns="34275" lIns="34275" spcFirstLastPara="1" rIns="34275" wrap="square" tIns="34275">
            <a:normAutofit lnSpcReduction="10000"/>
          </a:bodyPr>
          <a:lstStyle/>
          <a:p>
            <a:pPr indent="0" lvl="0" marL="0" rtl="0" algn="l">
              <a:spcBef>
                <a:spcPts val="0"/>
              </a:spcBef>
              <a:spcAft>
                <a:spcPts val="0"/>
              </a:spcAft>
              <a:buNone/>
            </a:pPr>
            <a:r>
              <a:rPr lang="en"/>
              <a:t>Biomarker identification</a:t>
            </a:r>
            <a:endParaRPr/>
          </a:p>
        </p:txBody>
      </p:sp>
      <p:sp>
        <p:nvSpPr>
          <p:cNvPr id="208" name="Google Shape;208;p23"/>
          <p:cNvSpPr txBox="1"/>
          <p:nvPr/>
        </p:nvSpPr>
        <p:spPr>
          <a:xfrm>
            <a:off x="1764175" y="4153925"/>
            <a:ext cx="4478400" cy="615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latin typeface="Open Sans Light"/>
                <a:ea typeface="Open Sans Light"/>
                <a:cs typeface="Open Sans Light"/>
                <a:sym typeface="Open Sans Light"/>
              </a:rPr>
              <a:t>Using the </a:t>
            </a:r>
            <a:r>
              <a:rPr b="1" lang="en">
                <a:solidFill>
                  <a:schemeClr val="accent6"/>
                </a:solidFill>
                <a:latin typeface="Open Sans"/>
                <a:ea typeface="Open Sans"/>
                <a:cs typeface="Open Sans"/>
                <a:sym typeface="Open Sans"/>
              </a:rPr>
              <a:t>Integrated Gradients</a:t>
            </a:r>
            <a:endParaRPr b="1">
              <a:solidFill>
                <a:schemeClr val="accent6"/>
              </a:solidFill>
              <a:latin typeface="Open Sans"/>
              <a:ea typeface="Open Sans"/>
              <a:cs typeface="Open Sans"/>
              <a:sym typeface="Open Sans"/>
            </a:endParaRPr>
          </a:p>
          <a:p>
            <a:pPr indent="-317500" lvl="0" marL="457200" rtl="0" algn="l">
              <a:spcBef>
                <a:spcPts val="0"/>
              </a:spcBef>
              <a:spcAft>
                <a:spcPts val="0"/>
              </a:spcAft>
              <a:buSzPts val="1400"/>
              <a:buFont typeface="Open Sans Light"/>
              <a:buChar char="-"/>
            </a:pPr>
            <a:r>
              <a:rPr lang="en">
                <a:latin typeface="Open Sans Light"/>
                <a:ea typeface="Open Sans Light"/>
                <a:cs typeface="Open Sans Light"/>
                <a:sym typeface="Open Sans Light"/>
              </a:rPr>
              <a:t>Rank top 30 genes</a:t>
            </a:r>
            <a:endParaRPr>
              <a:latin typeface="Open Sans Light"/>
              <a:ea typeface="Open Sans Light"/>
              <a:cs typeface="Open Sans Light"/>
              <a:sym typeface="Open Sans Light"/>
            </a:endParaRPr>
          </a:p>
        </p:txBody>
      </p:sp>
      <p:pic>
        <p:nvPicPr>
          <p:cNvPr id="209" name="Google Shape;209;p23"/>
          <p:cNvPicPr preferRelativeResize="0"/>
          <p:nvPr/>
        </p:nvPicPr>
        <p:blipFill>
          <a:blip r:embed="rId3">
            <a:alphaModFix/>
          </a:blip>
          <a:stretch>
            <a:fillRect/>
          </a:stretch>
        </p:blipFill>
        <p:spPr>
          <a:xfrm>
            <a:off x="6958905" y="0"/>
            <a:ext cx="2185094" cy="2450150"/>
          </a:xfrm>
          <a:prstGeom prst="rect">
            <a:avLst/>
          </a:prstGeom>
          <a:noFill/>
          <a:ln>
            <a:noFill/>
          </a:ln>
        </p:spPr>
      </p:pic>
      <p:pic>
        <p:nvPicPr>
          <p:cNvPr id="210" name="Google Shape;210;p23"/>
          <p:cNvPicPr preferRelativeResize="0"/>
          <p:nvPr/>
        </p:nvPicPr>
        <p:blipFill>
          <a:blip r:embed="rId4">
            <a:alphaModFix/>
          </a:blip>
          <a:stretch>
            <a:fillRect/>
          </a:stretch>
        </p:blipFill>
        <p:spPr>
          <a:xfrm>
            <a:off x="6958905" y="2450160"/>
            <a:ext cx="2185094" cy="227685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4"/>
          <p:cNvSpPr txBox="1"/>
          <p:nvPr>
            <p:ph idx="1" type="body"/>
          </p:nvPr>
        </p:nvSpPr>
        <p:spPr>
          <a:xfrm>
            <a:off x="1788319" y="617935"/>
            <a:ext cx="4412400" cy="484500"/>
          </a:xfrm>
          <a:prstGeom prst="rect">
            <a:avLst/>
          </a:prstGeom>
        </p:spPr>
        <p:txBody>
          <a:bodyPr anchorCtr="0" anchor="ctr" bIns="34275" lIns="34275" spcFirstLastPara="1" rIns="34275" wrap="square" tIns="34275">
            <a:normAutofit/>
          </a:bodyPr>
          <a:lstStyle/>
          <a:p>
            <a:pPr indent="0" lvl="0" marL="0" rtl="0" algn="l">
              <a:lnSpc>
                <a:spcPct val="100000"/>
              </a:lnSpc>
              <a:spcBef>
                <a:spcPts val="0"/>
              </a:spcBef>
              <a:spcAft>
                <a:spcPts val="0"/>
              </a:spcAft>
              <a:buNone/>
            </a:pPr>
            <a:r>
              <a:rPr lang="en" sz="2000"/>
              <a:t>Results</a:t>
            </a:r>
            <a:endParaRPr sz="3300"/>
          </a:p>
        </p:txBody>
      </p:sp>
      <p:sp>
        <p:nvSpPr>
          <p:cNvPr id="216" name="Google Shape;216;p24"/>
          <p:cNvSpPr txBox="1"/>
          <p:nvPr>
            <p:ph idx="3" type="body"/>
          </p:nvPr>
        </p:nvSpPr>
        <p:spPr>
          <a:xfrm>
            <a:off x="1788325" y="1342600"/>
            <a:ext cx="4412400" cy="276300"/>
          </a:xfrm>
          <a:prstGeom prst="rect">
            <a:avLst/>
          </a:prstGeom>
        </p:spPr>
        <p:txBody>
          <a:bodyPr anchorCtr="0" anchor="t" bIns="34275" lIns="34275" spcFirstLastPara="1" rIns="34275" wrap="square" tIns="34275">
            <a:noAutofit/>
          </a:bodyPr>
          <a:lstStyle/>
          <a:p>
            <a:pPr indent="0" lvl="0" marL="0" rtl="0" algn="l">
              <a:spcBef>
                <a:spcPts val="0"/>
              </a:spcBef>
              <a:spcAft>
                <a:spcPts val="0"/>
              </a:spcAft>
              <a:buNone/>
            </a:pPr>
            <a:r>
              <a:rPr lang="en"/>
              <a:t>Confusion Matrix on External cohort</a:t>
            </a:r>
            <a:endParaRPr/>
          </a:p>
        </p:txBody>
      </p:sp>
      <p:sp>
        <p:nvSpPr>
          <p:cNvPr id="217" name="Google Shape;217;p24"/>
          <p:cNvSpPr txBox="1"/>
          <p:nvPr/>
        </p:nvSpPr>
        <p:spPr>
          <a:xfrm>
            <a:off x="2420638" y="4034200"/>
            <a:ext cx="615600" cy="406800"/>
          </a:xfrm>
          <a:prstGeom prst="rect">
            <a:avLst/>
          </a:prstGeom>
          <a:noFill/>
          <a:ln cap="flat" cmpd="sng" w="19050">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accent5"/>
                </a:solidFill>
                <a:latin typeface="Open Sans"/>
                <a:ea typeface="Open Sans"/>
                <a:cs typeface="Open Sans"/>
                <a:sym typeface="Open Sans"/>
              </a:rPr>
              <a:t>SVM</a:t>
            </a:r>
            <a:endParaRPr b="1" sz="1500">
              <a:solidFill>
                <a:schemeClr val="accent5"/>
              </a:solidFill>
              <a:latin typeface="Open Sans"/>
              <a:ea typeface="Open Sans"/>
              <a:cs typeface="Open Sans"/>
              <a:sym typeface="Open Sans"/>
            </a:endParaRPr>
          </a:p>
          <a:p>
            <a:pPr indent="0" lvl="0" marL="0" rtl="0" algn="l">
              <a:spcBef>
                <a:spcPts val="0"/>
              </a:spcBef>
              <a:spcAft>
                <a:spcPts val="0"/>
              </a:spcAft>
              <a:buNone/>
            </a:pPr>
            <a:r>
              <a:t/>
            </a:r>
            <a:endParaRPr b="1" sz="1500">
              <a:solidFill>
                <a:schemeClr val="accent5"/>
              </a:solidFill>
              <a:latin typeface="Open Sans"/>
              <a:ea typeface="Open Sans"/>
              <a:cs typeface="Open Sans"/>
              <a:sym typeface="Open Sans"/>
            </a:endParaRPr>
          </a:p>
        </p:txBody>
      </p:sp>
      <p:grpSp>
        <p:nvGrpSpPr>
          <p:cNvPr id="218" name="Google Shape;218;p24"/>
          <p:cNvGrpSpPr/>
          <p:nvPr/>
        </p:nvGrpSpPr>
        <p:grpSpPr>
          <a:xfrm>
            <a:off x="1586200" y="1758719"/>
            <a:ext cx="7381183" cy="2074283"/>
            <a:chOff x="1586200" y="1758719"/>
            <a:chExt cx="7381183" cy="2074283"/>
          </a:xfrm>
        </p:grpSpPr>
        <p:pic>
          <p:nvPicPr>
            <p:cNvPr id="219" name="Google Shape;219;p24"/>
            <p:cNvPicPr preferRelativeResize="0"/>
            <p:nvPr/>
          </p:nvPicPr>
          <p:blipFill rotWithShape="1">
            <a:blip r:embed="rId3">
              <a:alphaModFix/>
            </a:blip>
            <a:srcRect b="0" l="0" r="0" t="0"/>
            <a:stretch/>
          </p:blipFill>
          <p:spPr>
            <a:xfrm>
              <a:off x="1586200" y="1771300"/>
              <a:ext cx="2284474" cy="2061702"/>
            </a:xfrm>
            <a:prstGeom prst="rect">
              <a:avLst/>
            </a:prstGeom>
            <a:noFill/>
            <a:ln>
              <a:noFill/>
            </a:ln>
          </p:spPr>
        </p:pic>
        <p:pic>
          <p:nvPicPr>
            <p:cNvPr id="220" name="Google Shape;220;p24"/>
            <p:cNvPicPr preferRelativeResize="0"/>
            <p:nvPr/>
          </p:nvPicPr>
          <p:blipFill>
            <a:blip r:embed="rId4">
              <a:alphaModFix/>
            </a:blip>
            <a:stretch>
              <a:fillRect/>
            </a:stretch>
          </p:blipFill>
          <p:spPr>
            <a:xfrm>
              <a:off x="4023074" y="1771300"/>
              <a:ext cx="2296826" cy="2024670"/>
            </a:xfrm>
            <a:prstGeom prst="rect">
              <a:avLst/>
            </a:prstGeom>
            <a:noFill/>
            <a:ln>
              <a:noFill/>
            </a:ln>
          </p:spPr>
        </p:pic>
        <p:pic>
          <p:nvPicPr>
            <p:cNvPr id="221" name="Google Shape;221;p24"/>
            <p:cNvPicPr preferRelativeResize="0"/>
            <p:nvPr/>
          </p:nvPicPr>
          <p:blipFill>
            <a:blip r:embed="rId5">
              <a:alphaModFix/>
            </a:blip>
            <a:stretch>
              <a:fillRect/>
            </a:stretch>
          </p:blipFill>
          <p:spPr>
            <a:xfrm>
              <a:off x="6547865" y="1758719"/>
              <a:ext cx="2419518" cy="2061700"/>
            </a:xfrm>
            <a:prstGeom prst="rect">
              <a:avLst/>
            </a:prstGeom>
            <a:noFill/>
            <a:ln>
              <a:noFill/>
            </a:ln>
          </p:spPr>
        </p:pic>
        <p:pic>
          <p:nvPicPr>
            <p:cNvPr id="222" name="Google Shape;222;p24"/>
            <p:cNvPicPr preferRelativeResize="0"/>
            <p:nvPr/>
          </p:nvPicPr>
          <p:blipFill>
            <a:blip r:embed="rId6">
              <a:alphaModFix/>
            </a:blip>
            <a:stretch>
              <a:fillRect/>
            </a:stretch>
          </p:blipFill>
          <p:spPr>
            <a:xfrm>
              <a:off x="2107200" y="3647200"/>
              <a:ext cx="269525" cy="57350"/>
            </a:xfrm>
            <a:prstGeom prst="rect">
              <a:avLst/>
            </a:prstGeom>
            <a:noFill/>
            <a:ln>
              <a:noFill/>
            </a:ln>
          </p:spPr>
        </p:pic>
        <p:pic>
          <p:nvPicPr>
            <p:cNvPr id="223" name="Google Shape;223;p24"/>
            <p:cNvPicPr preferRelativeResize="0"/>
            <p:nvPr/>
          </p:nvPicPr>
          <p:blipFill>
            <a:blip r:embed="rId7">
              <a:alphaModFix/>
            </a:blip>
            <a:stretch>
              <a:fillRect/>
            </a:stretch>
          </p:blipFill>
          <p:spPr>
            <a:xfrm>
              <a:off x="2933350" y="3647200"/>
              <a:ext cx="263144" cy="57350"/>
            </a:xfrm>
            <a:prstGeom prst="rect">
              <a:avLst/>
            </a:prstGeom>
            <a:noFill/>
            <a:ln>
              <a:noFill/>
            </a:ln>
          </p:spPr>
        </p:pic>
        <p:pic>
          <p:nvPicPr>
            <p:cNvPr id="224" name="Google Shape;224;p24"/>
            <p:cNvPicPr preferRelativeResize="0"/>
            <p:nvPr/>
          </p:nvPicPr>
          <p:blipFill>
            <a:blip r:embed="rId8">
              <a:alphaModFix/>
            </a:blip>
            <a:stretch>
              <a:fillRect/>
            </a:stretch>
          </p:blipFill>
          <p:spPr>
            <a:xfrm>
              <a:off x="1700300" y="3055850"/>
              <a:ext cx="88025" cy="225925"/>
            </a:xfrm>
            <a:prstGeom prst="rect">
              <a:avLst/>
            </a:prstGeom>
            <a:noFill/>
            <a:ln>
              <a:noFill/>
            </a:ln>
          </p:spPr>
        </p:pic>
        <p:pic>
          <p:nvPicPr>
            <p:cNvPr id="225" name="Google Shape;225;p24"/>
            <p:cNvPicPr preferRelativeResize="0"/>
            <p:nvPr/>
          </p:nvPicPr>
          <p:blipFill>
            <a:blip r:embed="rId9">
              <a:alphaModFix/>
            </a:blip>
            <a:stretch>
              <a:fillRect/>
            </a:stretch>
          </p:blipFill>
          <p:spPr>
            <a:xfrm>
              <a:off x="1700300" y="2209600"/>
              <a:ext cx="88025" cy="254800"/>
            </a:xfrm>
            <a:prstGeom prst="rect">
              <a:avLst/>
            </a:prstGeom>
            <a:noFill/>
            <a:ln>
              <a:noFill/>
            </a:ln>
          </p:spPr>
        </p:pic>
        <p:sp>
          <p:nvSpPr>
            <p:cNvPr id="226" name="Google Shape;226;p24"/>
            <p:cNvSpPr/>
            <p:nvPr/>
          </p:nvSpPr>
          <p:spPr>
            <a:xfrm>
              <a:off x="1905000" y="1767777"/>
              <a:ext cx="6255900" cy="113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Light"/>
                <a:ea typeface="Open Sans Light"/>
                <a:cs typeface="Open Sans Light"/>
                <a:sym typeface="Open Sans Light"/>
              </a:endParaRPr>
            </a:p>
          </p:txBody>
        </p:sp>
      </p:grpSp>
      <p:sp>
        <p:nvSpPr>
          <p:cNvPr id="227" name="Google Shape;227;p24"/>
          <p:cNvSpPr txBox="1"/>
          <p:nvPr/>
        </p:nvSpPr>
        <p:spPr>
          <a:xfrm>
            <a:off x="4619325" y="4034200"/>
            <a:ext cx="959400" cy="406800"/>
          </a:xfrm>
          <a:prstGeom prst="rect">
            <a:avLst/>
          </a:prstGeom>
          <a:noFill/>
          <a:ln cap="flat" cmpd="sng" w="19050">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accent6"/>
                </a:solidFill>
                <a:latin typeface="Open Sans"/>
                <a:ea typeface="Open Sans"/>
                <a:cs typeface="Open Sans"/>
                <a:sym typeface="Open Sans"/>
              </a:rPr>
              <a:t>1D-</a:t>
            </a:r>
            <a:r>
              <a:rPr b="1" lang="en" sz="1500">
                <a:solidFill>
                  <a:schemeClr val="accent6"/>
                </a:solidFill>
                <a:latin typeface="Open Sans"/>
                <a:ea typeface="Open Sans"/>
                <a:cs typeface="Open Sans"/>
                <a:sym typeface="Open Sans"/>
              </a:rPr>
              <a:t>CNN</a:t>
            </a:r>
            <a:endParaRPr b="1" sz="1500">
              <a:solidFill>
                <a:schemeClr val="accent6"/>
              </a:solidFill>
              <a:latin typeface="Open Sans"/>
              <a:ea typeface="Open Sans"/>
              <a:cs typeface="Open Sans"/>
              <a:sym typeface="Open Sans"/>
            </a:endParaRPr>
          </a:p>
        </p:txBody>
      </p:sp>
      <p:sp>
        <p:nvSpPr>
          <p:cNvPr id="228" name="Google Shape;228;p24"/>
          <p:cNvSpPr txBox="1"/>
          <p:nvPr/>
        </p:nvSpPr>
        <p:spPr>
          <a:xfrm>
            <a:off x="7249875" y="4034200"/>
            <a:ext cx="959400" cy="406800"/>
          </a:xfrm>
          <a:prstGeom prst="rect">
            <a:avLst/>
          </a:prstGeom>
          <a:noFill/>
          <a:ln cap="flat" cmpd="sng" w="19050">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accent6"/>
                </a:solidFill>
                <a:latin typeface="Open Sans"/>
                <a:ea typeface="Open Sans"/>
                <a:cs typeface="Open Sans"/>
                <a:sym typeface="Open Sans"/>
              </a:rPr>
              <a:t>2</a:t>
            </a:r>
            <a:r>
              <a:rPr b="1" lang="en" sz="1500">
                <a:solidFill>
                  <a:schemeClr val="accent6"/>
                </a:solidFill>
                <a:latin typeface="Open Sans"/>
                <a:ea typeface="Open Sans"/>
                <a:cs typeface="Open Sans"/>
                <a:sym typeface="Open Sans"/>
              </a:rPr>
              <a:t>D-CNN</a:t>
            </a:r>
            <a:endParaRPr b="1" sz="1500">
              <a:solidFill>
                <a:schemeClr val="accent6"/>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5"/>
          <p:cNvSpPr txBox="1"/>
          <p:nvPr>
            <p:ph idx="1" type="body"/>
          </p:nvPr>
        </p:nvSpPr>
        <p:spPr>
          <a:xfrm>
            <a:off x="1788319" y="617935"/>
            <a:ext cx="4412400" cy="484500"/>
          </a:xfrm>
          <a:prstGeom prst="rect">
            <a:avLst/>
          </a:prstGeom>
        </p:spPr>
        <p:txBody>
          <a:bodyPr anchorCtr="0" anchor="ctr" bIns="34275" lIns="34275" spcFirstLastPara="1" rIns="34275" wrap="square" tIns="34275">
            <a:normAutofit/>
          </a:bodyPr>
          <a:lstStyle/>
          <a:p>
            <a:pPr indent="0" lvl="0" marL="0" rtl="0" algn="l">
              <a:lnSpc>
                <a:spcPct val="100000"/>
              </a:lnSpc>
              <a:spcBef>
                <a:spcPts val="0"/>
              </a:spcBef>
              <a:spcAft>
                <a:spcPts val="0"/>
              </a:spcAft>
              <a:buNone/>
            </a:pPr>
            <a:r>
              <a:rPr lang="en" sz="2000"/>
              <a:t>Results</a:t>
            </a:r>
            <a:endParaRPr sz="3300"/>
          </a:p>
        </p:txBody>
      </p:sp>
      <p:sp>
        <p:nvSpPr>
          <p:cNvPr id="234" name="Google Shape;234;p25"/>
          <p:cNvSpPr txBox="1"/>
          <p:nvPr>
            <p:ph idx="3" type="body"/>
          </p:nvPr>
        </p:nvSpPr>
        <p:spPr>
          <a:xfrm>
            <a:off x="1788325" y="1342600"/>
            <a:ext cx="2783700" cy="276300"/>
          </a:xfrm>
          <a:prstGeom prst="rect">
            <a:avLst/>
          </a:prstGeom>
        </p:spPr>
        <p:txBody>
          <a:bodyPr anchorCtr="0" anchor="t" bIns="34275" lIns="34275" spcFirstLastPara="1" rIns="34275" wrap="square" tIns="34275">
            <a:noAutofit/>
          </a:bodyPr>
          <a:lstStyle/>
          <a:p>
            <a:pPr indent="0" lvl="0" marL="0" rtl="0" algn="l">
              <a:spcBef>
                <a:spcPts val="0"/>
              </a:spcBef>
              <a:spcAft>
                <a:spcPts val="0"/>
              </a:spcAft>
              <a:buNone/>
            </a:pPr>
            <a:r>
              <a:rPr lang="en"/>
              <a:t>Evaluation Performances</a:t>
            </a:r>
            <a:endParaRPr/>
          </a:p>
        </p:txBody>
      </p:sp>
      <p:graphicFrame>
        <p:nvGraphicFramePr>
          <p:cNvPr id="235" name="Google Shape;235;p25"/>
          <p:cNvGraphicFramePr/>
          <p:nvPr/>
        </p:nvGraphicFramePr>
        <p:xfrm>
          <a:off x="1788300" y="2032550"/>
          <a:ext cx="3000000" cy="3000000"/>
        </p:xfrm>
        <a:graphic>
          <a:graphicData uri="http://schemas.openxmlformats.org/drawingml/2006/table">
            <a:tbl>
              <a:tblPr>
                <a:noFill/>
                <a:tableStyleId>{10A18DF9-EE79-4AF2-9571-923690394596}</a:tableStyleId>
              </a:tblPr>
              <a:tblGrid>
                <a:gridCol w="1729950"/>
                <a:gridCol w="1729950"/>
                <a:gridCol w="1729950"/>
                <a:gridCol w="1729950"/>
              </a:tblGrid>
              <a:tr h="381000">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rPr b="1" lang="en">
                          <a:solidFill>
                            <a:schemeClr val="lt1"/>
                          </a:solidFill>
                        </a:rPr>
                        <a:t>SVM</a:t>
                      </a:r>
                      <a:endParaRPr b="1">
                        <a:solidFill>
                          <a:schemeClr val="lt1"/>
                        </a:solidFill>
                      </a:endParaRPr>
                    </a:p>
                  </a:txBody>
                  <a:tcPr marT="91425" marB="91425" marR="91425" marL="91425">
                    <a:lnB cap="flat" cmpd="sng" w="9525">
                      <a:solidFill>
                        <a:schemeClr val="accent5"/>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a:solidFill>
                            <a:schemeClr val="lt1"/>
                          </a:solidFill>
                        </a:rPr>
                        <a:t>1D-CNN</a:t>
                      </a:r>
                      <a:endParaRPr b="1">
                        <a:solidFill>
                          <a:schemeClr val="lt1"/>
                        </a:solidFill>
                      </a:endParaRPr>
                    </a:p>
                  </a:txBody>
                  <a:tcPr marT="91425" marB="91425" marR="91425" marL="91425">
                    <a:lnB cap="flat" cmpd="sng" w="9525">
                      <a:solidFill>
                        <a:schemeClr val="accent6"/>
                      </a:solidFill>
                      <a:prstDash val="solid"/>
                      <a:round/>
                      <a:headEnd len="sm" w="sm" type="none"/>
                      <a:tailEnd len="sm" w="sm" type="none"/>
                    </a:lnB>
                    <a:solidFill>
                      <a:schemeClr val="accent6"/>
                    </a:solidFill>
                  </a:tcPr>
                </a:tc>
                <a:tc>
                  <a:txBody>
                    <a:bodyPr/>
                    <a:lstStyle/>
                    <a:p>
                      <a:pPr indent="0" lvl="0" marL="0" rtl="0" algn="l">
                        <a:spcBef>
                          <a:spcPts val="0"/>
                        </a:spcBef>
                        <a:spcAft>
                          <a:spcPts val="0"/>
                        </a:spcAft>
                        <a:buNone/>
                      </a:pPr>
                      <a:r>
                        <a:rPr b="1" lang="en">
                          <a:solidFill>
                            <a:schemeClr val="lt1"/>
                          </a:solidFill>
                        </a:rPr>
                        <a:t>2D-CNN</a:t>
                      </a:r>
                      <a:endParaRPr b="1">
                        <a:solidFill>
                          <a:schemeClr val="lt1"/>
                        </a:solidFill>
                      </a:endParaRPr>
                    </a:p>
                  </a:txBody>
                  <a:tcPr marT="91425" marB="91425" marR="91425" marL="91425">
                    <a:lnB cap="flat" cmpd="sng" w="9525">
                      <a:solidFill>
                        <a:schemeClr val="accent6"/>
                      </a:solidFill>
                      <a:prstDash val="solid"/>
                      <a:round/>
                      <a:headEnd len="sm" w="sm" type="none"/>
                      <a:tailEnd len="sm" w="sm" type="none"/>
                    </a:lnB>
                    <a:solidFill>
                      <a:schemeClr val="accent6"/>
                    </a:solidFill>
                  </a:tcPr>
                </a:tc>
              </a:tr>
              <a:tr h="381000">
                <a:tc>
                  <a:txBody>
                    <a:bodyPr/>
                    <a:lstStyle/>
                    <a:p>
                      <a:pPr indent="0" lvl="0" marL="0" rtl="0" algn="l">
                        <a:spcBef>
                          <a:spcPts val="0"/>
                        </a:spcBef>
                        <a:spcAft>
                          <a:spcPts val="0"/>
                        </a:spcAft>
                        <a:buNone/>
                      </a:pPr>
                      <a:r>
                        <a:rPr lang="en">
                          <a:latin typeface="Open Sans Light"/>
                          <a:ea typeface="Open Sans Light"/>
                          <a:cs typeface="Open Sans Light"/>
                          <a:sym typeface="Open Sans Light"/>
                        </a:rPr>
                        <a:t>Accuracy</a:t>
                      </a:r>
                      <a:endParaRPr>
                        <a:latin typeface="Open Sans Light"/>
                        <a:ea typeface="Open Sans Light"/>
                        <a:cs typeface="Open Sans Light"/>
                        <a:sym typeface="Open Sans Light"/>
                      </a:endParaRPr>
                    </a:p>
                  </a:txBody>
                  <a:tcPr marT="91425" marB="91425" marR="91425" marL="91425">
                    <a:lnR cap="flat" cmpd="sng" w="9525">
                      <a:solidFill>
                        <a:schemeClr val="accent5"/>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rPr lang="en">
                          <a:latin typeface="Open Sans Light"/>
                          <a:ea typeface="Open Sans Light"/>
                          <a:cs typeface="Open Sans Light"/>
                          <a:sym typeface="Open Sans Light"/>
                        </a:rPr>
                        <a:t>41.46%</a:t>
                      </a:r>
                      <a:endParaRPr>
                        <a:latin typeface="Open Sans Light"/>
                        <a:ea typeface="Open Sans Light"/>
                        <a:cs typeface="Open Sans Light"/>
                        <a:sym typeface="Open Sans Light"/>
                      </a:endParaRPr>
                    </a:p>
                  </a:txBody>
                  <a:tcPr marT="91425" marB="91425" marR="91425" marL="91425">
                    <a:lnL cap="flat" cmpd="sng" w="9525">
                      <a:solidFill>
                        <a:schemeClr val="accent5"/>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a:latin typeface="Open Sans Light"/>
                          <a:ea typeface="Open Sans Light"/>
                          <a:cs typeface="Open Sans Light"/>
                          <a:sym typeface="Open Sans Light"/>
                        </a:rPr>
                        <a:t>53.66%</a:t>
                      </a:r>
                      <a:endParaRPr>
                        <a:latin typeface="Open Sans Light"/>
                        <a:ea typeface="Open Sans Light"/>
                        <a:cs typeface="Open Sans Light"/>
                        <a:sym typeface="Open Sans Light"/>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a:latin typeface="Open Sans Light"/>
                          <a:ea typeface="Open Sans Light"/>
                          <a:cs typeface="Open Sans Light"/>
                          <a:sym typeface="Open Sans Light"/>
                        </a:rPr>
                        <a:t>48.78%</a:t>
                      </a:r>
                      <a:endParaRPr>
                        <a:latin typeface="Open Sans Light"/>
                        <a:ea typeface="Open Sans Light"/>
                        <a:cs typeface="Open Sans Light"/>
                        <a:sym typeface="Open Sans Light"/>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solidFill>
                      <a:schemeClr val="lt1"/>
                    </a:solidFill>
                  </a:tcPr>
                </a:tc>
              </a:tr>
              <a:tr h="381000">
                <a:tc>
                  <a:txBody>
                    <a:bodyPr/>
                    <a:lstStyle/>
                    <a:p>
                      <a:pPr indent="0" lvl="0" marL="0" rtl="0" algn="l">
                        <a:spcBef>
                          <a:spcPts val="0"/>
                        </a:spcBef>
                        <a:spcAft>
                          <a:spcPts val="0"/>
                        </a:spcAft>
                        <a:buNone/>
                      </a:pPr>
                      <a:r>
                        <a:rPr lang="en">
                          <a:latin typeface="Open Sans Light"/>
                          <a:ea typeface="Open Sans Light"/>
                          <a:cs typeface="Open Sans Light"/>
                          <a:sym typeface="Open Sans Light"/>
                        </a:rPr>
                        <a:t>Sensitivity</a:t>
                      </a:r>
                      <a:endParaRPr>
                        <a:latin typeface="Open Sans Light"/>
                        <a:ea typeface="Open Sans Light"/>
                        <a:cs typeface="Open Sans Light"/>
                        <a:sym typeface="Open Sans Light"/>
                      </a:endParaRPr>
                    </a:p>
                  </a:txBody>
                  <a:tcPr marT="91425" marB="91425" marR="91425" marL="91425">
                    <a:lnR cap="flat" cmpd="sng" w="9525">
                      <a:solidFill>
                        <a:schemeClr val="accent5"/>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rPr lang="en">
                          <a:latin typeface="Open Sans Light"/>
                          <a:ea typeface="Open Sans Light"/>
                          <a:cs typeface="Open Sans Light"/>
                          <a:sym typeface="Open Sans Light"/>
                        </a:rPr>
                        <a:t>80.95%</a:t>
                      </a:r>
                      <a:endParaRPr>
                        <a:latin typeface="Open Sans Light"/>
                        <a:ea typeface="Open Sans Light"/>
                        <a:cs typeface="Open Sans Light"/>
                        <a:sym typeface="Open Sans Light"/>
                      </a:endParaRPr>
                    </a:p>
                  </a:txBody>
                  <a:tcPr marT="91425" marB="91425" marR="91425" marL="91425">
                    <a:lnL cap="flat" cmpd="sng" w="9525">
                      <a:solidFill>
                        <a:schemeClr val="accent5"/>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a:latin typeface="Open Sans Light"/>
                          <a:ea typeface="Open Sans Light"/>
                          <a:cs typeface="Open Sans Light"/>
                          <a:sym typeface="Open Sans Light"/>
                        </a:rPr>
                        <a:t>23.81%</a:t>
                      </a:r>
                      <a:endParaRPr>
                        <a:latin typeface="Open Sans Light"/>
                        <a:ea typeface="Open Sans Light"/>
                        <a:cs typeface="Open Sans Light"/>
                        <a:sym typeface="Open Sans Light"/>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a:latin typeface="Open Sans Light"/>
                          <a:ea typeface="Open Sans Light"/>
                          <a:cs typeface="Open Sans Light"/>
                          <a:sym typeface="Open Sans Light"/>
                        </a:rPr>
                        <a:t>0%</a:t>
                      </a:r>
                      <a:endParaRPr>
                        <a:latin typeface="Open Sans Light"/>
                        <a:ea typeface="Open Sans Light"/>
                        <a:cs typeface="Open Sans Light"/>
                        <a:sym typeface="Open Sans Light"/>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solidFill>
                      <a:schemeClr val="lt1"/>
                    </a:solidFill>
                  </a:tcPr>
                </a:tc>
              </a:tr>
              <a:tr h="381000">
                <a:tc>
                  <a:txBody>
                    <a:bodyPr/>
                    <a:lstStyle/>
                    <a:p>
                      <a:pPr indent="0" lvl="0" marL="0" rtl="0" algn="l">
                        <a:spcBef>
                          <a:spcPts val="0"/>
                        </a:spcBef>
                        <a:spcAft>
                          <a:spcPts val="0"/>
                        </a:spcAft>
                        <a:buNone/>
                      </a:pPr>
                      <a:r>
                        <a:rPr lang="en">
                          <a:latin typeface="Open Sans Light"/>
                          <a:ea typeface="Open Sans Light"/>
                          <a:cs typeface="Open Sans Light"/>
                          <a:sym typeface="Open Sans Light"/>
                        </a:rPr>
                        <a:t>Specificity</a:t>
                      </a:r>
                      <a:endParaRPr>
                        <a:latin typeface="Open Sans Light"/>
                        <a:ea typeface="Open Sans Light"/>
                        <a:cs typeface="Open Sans Light"/>
                        <a:sym typeface="Open Sans Light"/>
                      </a:endParaRPr>
                    </a:p>
                  </a:txBody>
                  <a:tcPr marT="91425" marB="91425" marR="91425" marL="91425">
                    <a:lnR cap="flat" cmpd="sng" w="9525">
                      <a:solidFill>
                        <a:schemeClr val="accent5"/>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rPr lang="en">
                          <a:latin typeface="Open Sans Light"/>
                          <a:ea typeface="Open Sans Light"/>
                          <a:cs typeface="Open Sans Light"/>
                          <a:sym typeface="Open Sans Light"/>
                        </a:rPr>
                        <a:t>0%</a:t>
                      </a:r>
                      <a:endParaRPr>
                        <a:latin typeface="Open Sans Light"/>
                        <a:ea typeface="Open Sans Light"/>
                        <a:cs typeface="Open Sans Light"/>
                        <a:sym typeface="Open Sans Light"/>
                      </a:endParaRPr>
                    </a:p>
                  </a:txBody>
                  <a:tcPr marT="91425" marB="91425" marR="91425" marL="91425">
                    <a:lnL cap="flat" cmpd="sng" w="9525">
                      <a:solidFill>
                        <a:schemeClr val="accent5"/>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a:latin typeface="Open Sans Light"/>
                          <a:ea typeface="Open Sans Light"/>
                          <a:cs typeface="Open Sans Light"/>
                          <a:sym typeface="Open Sans Light"/>
                        </a:rPr>
                        <a:t>85%</a:t>
                      </a:r>
                      <a:endParaRPr>
                        <a:latin typeface="Open Sans Light"/>
                        <a:ea typeface="Open Sans Light"/>
                        <a:cs typeface="Open Sans Light"/>
                        <a:sym typeface="Open Sans Light"/>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a:latin typeface="Open Sans Light"/>
                          <a:ea typeface="Open Sans Light"/>
                          <a:cs typeface="Open Sans Light"/>
                          <a:sym typeface="Open Sans Light"/>
                        </a:rPr>
                        <a:t>100%</a:t>
                      </a:r>
                      <a:endParaRPr>
                        <a:latin typeface="Open Sans Light"/>
                        <a:ea typeface="Open Sans Light"/>
                        <a:cs typeface="Open Sans Light"/>
                        <a:sym typeface="Open Sans Light"/>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6"/>
          <p:cNvSpPr txBox="1"/>
          <p:nvPr>
            <p:ph idx="1" type="body"/>
          </p:nvPr>
        </p:nvSpPr>
        <p:spPr>
          <a:xfrm>
            <a:off x="1788319" y="617935"/>
            <a:ext cx="4412400" cy="484500"/>
          </a:xfrm>
          <a:prstGeom prst="rect">
            <a:avLst/>
          </a:prstGeom>
        </p:spPr>
        <p:txBody>
          <a:bodyPr anchorCtr="0" anchor="ctr" bIns="34275" lIns="34275" spcFirstLastPara="1" rIns="34275" wrap="square" tIns="34275">
            <a:normAutofit/>
          </a:bodyPr>
          <a:lstStyle/>
          <a:p>
            <a:pPr indent="0" lvl="0" marL="0" rtl="0" algn="l">
              <a:lnSpc>
                <a:spcPct val="100000"/>
              </a:lnSpc>
              <a:spcBef>
                <a:spcPts val="0"/>
              </a:spcBef>
              <a:spcAft>
                <a:spcPts val="0"/>
              </a:spcAft>
              <a:buNone/>
            </a:pPr>
            <a:r>
              <a:rPr lang="en" sz="2000"/>
              <a:t>Results</a:t>
            </a:r>
            <a:endParaRPr sz="3300"/>
          </a:p>
        </p:txBody>
      </p:sp>
      <p:sp>
        <p:nvSpPr>
          <p:cNvPr id="241" name="Google Shape;241;p26"/>
          <p:cNvSpPr txBox="1"/>
          <p:nvPr>
            <p:ph idx="3" type="body"/>
          </p:nvPr>
        </p:nvSpPr>
        <p:spPr>
          <a:xfrm>
            <a:off x="1835524" y="1363450"/>
            <a:ext cx="4010700" cy="276300"/>
          </a:xfrm>
          <a:prstGeom prst="rect">
            <a:avLst/>
          </a:prstGeom>
        </p:spPr>
        <p:txBody>
          <a:bodyPr anchorCtr="0" anchor="t" bIns="34275" lIns="34275" spcFirstLastPara="1" rIns="34275" wrap="square" tIns="34275">
            <a:noAutofit/>
          </a:bodyPr>
          <a:lstStyle/>
          <a:p>
            <a:pPr indent="0" lvl="0" marL="0" rtl="0" algn="l">
              <a:spcBef>
                <a:spcPts val="0"/>
              </a:spcBef>
              <a:spcAft>
                <a:spcPts val="0"/>
              </a:spcAft>
              <a:buNone/>
            </a:pPr>
            <a:r>
              <a:rPr lang="en"/>
              <a:t>Venn Diagram of top 30 genes biomarker</a:t>
            </a:r>
            <a:endParaRPr/>
          </a:p>
        </p:txBody>
      </p:sp>
      <p:pic>
        <p:nvPicPr>
          <p:cNvPr id="242" name="Google Shape;242;p26"/>
          <p:cNvPicPr preferRelativeResize="0"/>
          <p:nvPr/>
        </p:nvPicPr>
        <p:blipFill rotWithShape="1">
          <a:blip r:embed="rId3">
            <a:alphaModFix/>
          </a:blip>
          <a:srcRect b="0" l="0" r="0" t="7842"/>
          <a:stretch/>
        </p:blipFill>
        <p:spPr>
          <a:xfrm>
            <a:off x="3298250" y="1639750"/>
            <a:ext cx="3351753" cy="3059200"/>
          </a:xfrm>
          <a:prstGeom prst="rect">
            <a:avLst/>
          </a:prstGeom>
          <a:noFill/>
          <a:ln>
            <a:noFill/>
          </a:ln>
        </p:spPr>
      </p:pic>
      <p:sp>
        <p:nvSpPr>
          <p:cNvPr id="243" name="Google Shape;243;p26"/>
          <p:cNvSpPr txBox="1"/>
          <p:nvPr>
            <p:ph idx="3" type="body"/>
          </p:nvPr>
        </p:nvSpPr>
        <p:spPr>
          <a:xfrm>
            <a:off x="1788323" y="2192025"/>
            <a:ext cx="998100" cy="276300"/>
          </a:xfrm>
          <a:prstGeom prst="rect">
            <a:avLst/>
          </a:prstGeom>
        </p:spPr>
        <p:txBody>
          <a:bodyPr anchorCtr="0" anchor="t" bIns="34275" lIns="34275" spcFirstLastPara="1" rIns="34275" wrap="square" tIns="34275">
            <a:normAutofit lnSpcReduction="10000"/>
          </a:bodyPr>
          <a:lstStyle/>
          <a:p>
            <a:pPr indent="0" lvl="0" marL="0" rtl="0" algn="l">
              <a:spcBef>
                <a:spcPts val="0"/>
              </a:spcBef>
              <a:spcAft>
                <a:spcPts val="0"/>
              </a:spcAft>
              <a:buNone/>
            </a:pPr>
            <a:r>
              <a:rPr lang="en"/>
              <a:t>IGKV2D-29</a:t>
            </a:r>
            <a:endParaRPr/>
          </a:p>
        </p:txBody>
      </p:sp>
      <p:sp>
        <p:nvSpPr>
          <p:cNvPr id="244" name="Google Shape;244;p26"/>
          <p:cNvSpPr txBox="1"/>
          <p:nvPr>
            <p:ph idx="3" type="body"/>
          </p:nvPr>
        </p:nvSpPr>
        <p:spPr>
          <a:xfrm>
            <a:off x="7114073" y="2192025"/>
            <a:ext cx="998100" cy="276300"/>
          </a:xfrm>
          <a:prstGeom prst="rect">
            <a:avLst/>
          </a:prstGeom>
        </p:spPr>
        <p:txBody>
          <a:bodyPr anchorCtr="0" anchor="t" bIns="34275" lIns="34275" spcFirstLastPara="1" rIns="34275" wrap="square" tIns="34275">
            <a:normAutofit lnSpcReduction="10000"/>
          </a:bodyPr>
          <a:lstStyle/>
          <a:p>
            <a:pPr indent="0" lvl="0" marL="0" rtl="0" algn="l">
              <a:spcBef>
                <a:spcPts val="0"/>
              </a:spcBef>
              <a:spcAft>
                <a:spcPts val="0"/>
              </a:spcAft>
              <a:buNone/>
            </a:pPr>
            <a:r>
              <a:rPr lang="en"/>
              <a:t>FAM118A</a:t>
            </a:r>
            <a:endParaRPr/>
          </a:p>
        </p:txBody>
      </p:sp>
      <p:sp>
        <p:nvSpPr>
          <p:cNvPr id="245" name="Google Shape;245;p26"/>
          <p:cNvSpPr txBox="1"/>
          <p:nvPr/>
        </p:nvSpPr>
        <p:spPr>
          <a:xfrm>
            <a:off x="1157275" y="2571750"/>
            <a:ext cx="2372100" cy="1477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pen Sans Light"/>
                <a:ea typeface="Open Sans Light"/>
                <a:cs typeface="Open Sans Light"/>
                <a:sym typeface="Open Sans Light"/>
              </a:rPr>
              <a:t>Predicted to be involved in the immune response, which is in the extracellular region and plasma membrane as a part of the immunoglobulin complex.</a:t>
            </a:r>
            <a:endParaRPr>
              <a:latin typeface="Open Sans Light"/>
              <a:ea typeface="Open Sans Light"/>
              <a:cs typeface="Open Sans Light"/>
              <a:sym typeface="Open Sans Light"/>
            </a:endParaRPr>
          </a:p>
        </p:txBody>
      </p:sp>
      <p:sp>
        <p:nvSpPr>
          <p:cNvPr id="246" name="Google Shape;246;p26"/>
          <p:cNvSpPr txBox="1"/>
          <p:nvPr/>
        </p:nvSpPr>
        <p:spPr>
          <a:xfrm>
            <a:off x="6534025" y="2571750"/>
            <a:ext cx="21582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pen Sans Light"/>
                <a:ea typeface="Open Sans Light"/>
                <a:cs typeface="Open Sans Light"/>
                <a:sym typeface="Open Sans Light"/>
              </a:rPr>
              <a:t>Predicted to be located in the membrane to enable identical protein binding activity.</a:t>
            </a:r>
            <a:endParaRPr>
              <a:latin typeface="Open Sans Light"/>
              <a:ea typeface="Open Sans Light"/>
              <a:cs typeface="Open Sans Light"/>
              <a:sym typeface="Open Sans Light"/>
            </a:endParaRPr>
          </a:p>
        </p:txBody>
      </p:sp>
      <p:sp>
        <p:nvSpPr>
          <p:cNvPr id="247" name="Google Shape;247;p26"/>
          <p:cNvSpPr/>
          <p:nvPr/>
        </p:nvSpPr>
        <p:spPr>
          <a:xfrm>
            <a:off x="4875149" y="2847258"/>
            <a:ext cx="266400" cy="2664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Light"/>
              <a:ea typeface="Open Sans Light"/>
              <a:cs typeface="Open Sans Light"/>
              <a:sym typeface="Open Sans Light"/>
            </a:endParaRPr>
          </a:p>
        </p:txBody>
      </p:sp>
      <p:cxnSp>
        <p:nvCxnSpPr>
          <p:cNvPr id="248" name="Google Shape;248;p26"/>
          <p:cNvCxnSpPr>
            <a:stCxn id="247" idx="0"/>
          </p:cNvCxnSpPr>
          <p:nvPr/>
        </p:nvCxnSpPr>
        <p:spPr>
          <a:xfrm rot="10800000">
            <a:off x="3215849" y="2150658"/>
            <a:ext cx="1792500" cy="696600"/>
          </a:xfrm>
          <a:prstGeom prst="straightConnector1">
            <a:avLst/>
          </a:prstGeom>
          <a:noFill/>
          <a:ln cap="flat" cmpd="sng" w="19050">
            <a:solidFill>
              <a:schemeClr val="accent4"/>
            </a:solidFill>
            <a:prstDash val="solid"/>
            <a:round/>
            <a:headEnd len="med" w="med" type="none"/>
            <a:tailEnd len="med" w="med" type="none"/>
          </a:ln>
        </p:spPr>
      </p:cxnSp>
      <p:cxnSp>
        <p:nvCxnSpPr>
          <p:cNvPr id="249" name="Google Shape;249;p26"/>
          <p:cNvCxnSpPr/>
          <p:nvPr/>
        </p:nvCxnSpPr>
        <p:spPr>
          <a:xfrm rot="10800000">
            <a:off x="5008349" y="3113658"/>
            <a:ext cx="1792500" cy="696600"/>
          </a:xfrm>
          <a:prstGeom prst="straightConnector1">
            <a:avLst/>
          </a:prstGeom>
          <a:noFill/>
          <a:ln cap="flat" cmpd="sng" w="19050">
            <a:solidFill>
              <a:schemeClr val="accent4"/>
            </a:solidFill>
            <a:prstDash val="solid"/>
            <a:round/>
            <a:headEnd len="med" w="med" type="none"/>
            <a:tailEnd len="med" w="med" type="none"/>
          </a:ln>
        </p:spPr>
      </p:cxnSp>
      <p:cxnSp>
        <p:nvCxnSpPr>
          <p:cNvPr id="250" name="Google Shape;250;p26"/>
          <p:cNvCxnSpPr>
            <a:endCxn id="247" idx="5"/>
          </p:cNvCxnSpPr>
          <p:nvPr/>
        </p:nvCxnSpPr>
        <p:spPr>
          <a:xfrm flipH="1" rot="10800000">
            <a:off x="3277336" y="3074645"/>
            <a:ext cx="1825200" cy="1134900"/>
          </a:xfrm>
          <a:prstGeom prst="straightConnector1">
            <a:avLst/>
          </a:prstGeom>
          <a:noFill/>
          <a:ln cap="flat" cmpd="sng" w="19050">
            <a:solidFill>
              <a:schemeClr val="accent4"/>
            </a:solidFill>
            <a:prstDash val="solid"/>
            <a:round/>
            <a:headEnd len="med" w="med" type="none"/>
            <a:tailEnd len="med" w="med" type="none"/>
          </a:ln>
        </p:spPr>
      </p:cxnSp>
      <p:cxnSp>
        <p:nvCxnSpPr>
          <p:cNvPr id="251" name="Google Shape;251;p26"/>
          <p:cNvCxnSpPr>
            <a:stCxn id="247" idx="1"/>
          </p:cNvCxnSpPr>
          <p:nvPr/>
        </p:nvCxnSpPr>
        <p:spPr>
          <a:xfrm flipH="1" rot="10800000">
            <a:off x="4914163" y="2099671"/>
            <a:ext cx="1937700" cy="786600"/>
          </a:xfrm>
          <a:prstGeom prst="straightConnector1">
            <a:avLst/>
          </a:prstGeom>
          <a:noFill/>
          <a:ln cap="flat" cmpd="sng" w="19050">
            <a:solidFill>
              <a:schemeClr val="accent4"/>
            </a:solidFill>
            <a:prstDash val="solid"/>
            <a:round/>
            <a:headEnd len="med" w="med" type="none"/>
            <a:tailEnd len="med" w="med" type="none"/>
          </a:ln>
        </p:spPr>
      </p:cxnSp>
      <p:sp>
        <p:nvSpPr>
          <p:cNvPr id="252" name="Google Shape;252;p26"/>
          <p:cNvSpPr txBox="1"/>
          <p:nvPr/>
        </p:nvSpPr>
        <p:spPr>
          <a:xfrm>
            <a:off x="3569224" y="1728848"/>
            <a:ext cx="543300" cy="332700"/>
          </a:xfrm>
          <a:prstGeom prst="rect">
            <a:avLst/>
          </a:prstGeom>
          <a:solidFill>
            <a:srgbClr val="FFF2CC"/>
          </a:solidFill>
          <a:ln cap="flat" cmpd="sng" w="19050">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accent5"/>
                </a:solidFill>
                <a:latin typeface="Open Sans"/>
                <a:ea typeface="Open Sans"/>
                <a:cs typeface="Open Sans"/>
                <a:sym typeface="Open Sans"/>
              </a:rPr>
              <a:t>SVM</a:t>
            </a:r>
            <a:endParaRPr b="1" sz="1200">
              <a:solidFill>
                <a:schemeClr val="accent5"/>
              </a:solidFill>
              <a:latin typeface="Open Sans"/>
              <a:ea typeface="Open Sans"/>
              <a:cs typeface="Open Sans"/>
              <a:sym typeface="Open Sans"/>
            </a:endParaRPr>
          </a:p>
          <a:p>
            <a:pPr indent="0" lvl="0" marL="0" rtl="0" algn="l">
              <a:spcBef>
                <a:spcPts val="0"/>
              </a:spcBef>
              <a:spcAft>
                <a:spcPts val="0"/>
              </a:spcAft>
              <a:buNone/>
            </a:pPr>
            <a:r>
              <a:t/>
            </a:r>
            <a:endParaRPr b="1" sz="1200">
              <a:solidFill>
                <a:schemeClr val="accent5"/>
              </a:solidFill>
              <a:latin typeface="Open Sans"/>
              <a:ea typeface="Open Sans"/>
              <a:cs typeface="Open Sans"/>
              <a:sym typeface="Open Sans"/>
            </a:endParaRPr>
          </a:p>
        </p:txBody>
      </p:sp>
      <p:sp>
        <p:nvSpPr>
          <p:cNvPr id="253" name="Google Shape;253;p26"/>
          <p:cNvSpPr txBox="1"/>
          <p:nvPr/>
        </p:nvSpPr>
        <p:spPr>
          <a:xfrm>
            <a:off x="5846225" y="1728850"/>
            <a:ext cx="826500" cy="332700"/>
          </a:xfrm>
          <a:prstGeom prst="rect">
            <a:avLst/>
          </a:prstGeom>
          <a:solidFill>
            <a:srgbClr val="B6D7A8"/>
          </a:solidFill>
          <a:ln cap="flat" cmpd="sng" w="19050">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accent6"/>
                </a:solidFill>
                <a:latin typeface="Open Sans"/>
                <a:ea typeface="Open Sans"/>
                <a:cs typeface="Open Sans"/>
                <a:sym typeface="Open Sans"/>
              </a:rPr>
              <a:t>1D-CNN</a:t>
            </a:r>
            <a:endParaRPr b="1" sz="1200">
              <a:solidFill>
                <a:schemeClr val="accent6"/>
              </a:solidFill>
              <a:latin typeface="Open Sans"/>
              <a:ea typeface="Open Sans"/>
              <a:cs typeface="Open Sans"/>
              <a:sym typeface="Open Sans"/>
            </a:endParaRPr>
          </a:p>
        </p:txBody>
      </p:sp>
      <p:sp>
        <p:nvSpPr>
          <p:cNvPr id="254" name="Google Shape;254;p26"/>
          <p:cNvSpPr txBox="1"/>
          <p:nvPr/>
        </p:nvSpPr>
        <p:spPr>
          <a:xfrm>
            <a:off x="4875150" y="4321150"/>
            <a:ext cx="826500" cy="332700"/>
          </a:xfrm>
          <a:prstGeom prst="rect">
            <a:avLst/>
          </a:prstGeom>
          <a:solidFill>
            <a:srgbClr val="B6D7A8"/>
          </a:solidFill>
          <a:ln cap="flat" cmpd="sng" w="19050">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accent6"/>
                </a:solidFill>
                <a:latin typeface="Open Sans"/>
                <a:ea typeface="Open Sans"/>
                <a:cs typeface="Open Sans"/>
                <a:sym typeface="Open Sans"/>
              </a:rPr>
              <a:t>2</a:t>
            </a:r>
            <a:r>
              <a:rPr b="1" lang="en" sz="1200">
                <a:solidFill>
                  <a:schemeClr val="accent6"/>
                </a:solidFill>
                <a:latin typeface="Open Sans"/>
                <a:ea typeface="Open Sans"/>
                <a:cs typeface="Open Sans"/>
                <a:sym typeface="Open Sans"/>
              </a:rPr>
              <a:t>D-CNN</a:t>
            </a:r>
            <a:endParaRPr b="1" sz="1200">
              <a:solidFill>
                <a:schemeClr val="accent6"/>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7"/>
          <p:cNvSpPr txBox="1"/>
          <p:nvPr>
            <p:ph idx="1" type="body"/>
          </p:nvPr>
        </p:nvSpPr>
        <p:spPr>
          <a:xfrm>
            <a:off x="1788319" y="617935"/>
            <a:ext cx="4412400" cy="484500"/>
          </a:xfrm>
          <a:prstGeom prst="rect">
            <a:avLst/>
          </a:prstGeom>
        </p:spPr>
        <p:txBody>
          <a:bodyPr anchorCtr="0" anchor="ctr" bIns="34275" lIns="34275" spcFirstLastPara="1" rIns="34275" wrap="square" tIns="34275">
            <a:normAutofit/>
          </a:bodyPr>
          <a:lstStyle/>
          <a:p>
            <a:pPr indent="0" lvl="0" marL="0" rtl="0" algn="l">
              <a:lnSpc>
                <a:spcPct val="100000"/>
              </a:lnSpc>
              <a:spcBef>
                <a:spcPts val="0"/>
              </a:spcBef>
              <a:spcAft>
                <a:spcPts val="0"/>
              </a:spcAft>
              <a:buNone/>
            </a:pPr>
            <a:r>
              <a:rPr lang="en" sz="2000"/>
              <a:t>Results</a:t>
            </a:r>
            <a:endParaRPr sz="3300"/>
          </a:p>
        </p:txBody>
      </p:sp>
      <p:sp>
        <p:nvSpPr>
          <p:cNvPr id="260" name="Google Shape;260;p27"/>
          <p:cNvSpPr txBox="1"/>
          <p:nvPr>
            <p:ph idx="3" type="body"/>
          </p:nvPr>
        </p:nvSpPr>
        <p:spPr>
          <a:xfrm>
            <a:off x="1788327" y="1342600"/>
            <a:ext cx="2352900" cy="276300"/>
          </a:xfrm>
          <a:prstGeom prst="rect">
            <a:avLst/>
          </a:prstGeom>
        </p:spPr>
        <p:txBody>
          <a:bodyPr anchorCtr="0" anchor="t" bIns="34275" lIns="34275" spcFirstLastPara="1" rIns="34275" wrap="square" tIns="34275">
            <a:noAutofit/>
          </a:bodyPr>
          <a:lstStyle/>
          <a:p>
            <a:pPr indent="0" lvl="0" marL="0" rtl="0" algn="l">
              <a:spcBef>
                <a:spcPts val="0"/>
              </a:spcBef>
              <a:spcAft>
                <a:spcPts val="0"/>
              </a:spcAft>
              <a:buSzPts val="770"/>
              <a:buNone/>
            </a:pPr>
            <a:r>
              <a:rPr lang="en"/>
              <a:t>GSEA with top 30 genes</a:t>
            </a:r>
            <a:endParaRPr/>
          </a:p>
        </p:txBody>
      </p:sp>
      <p:pic>
        <p:nvPicPr>
          <p:cNvPr id="261" name="Google Shape;261;p27"/>
          <p:cNvPicPr preferRelativeResize="0"/>
          <p:nvPr/>
        </p:nvPicPr>
        <p:blipFill>
          <a:blip r:embed="rId3">
            <a:alphaModFix/>
          </a:blip>
          <a:stretch>
            <a:fillRect/>
          </a:stretch>
        </p:blipFill>
        <p:spPr>
          <a:xfrm>
            <a:off x="1444050" y="1679675"/>
            <a:ext cx="2510100" cy="2189599"/>
          </a:xfrm>
          <a:prstGeom prst="rect">
            <a:avLst/>
          </a:prstGeom>
          <a:noFill/>
          <a:ln>
            <a:noFill/>
          </a:ln>
        </p:spPr>
      </p:pic>
      <p:pic>
        <p:nvPicPr>
          <p:cNvPr id="262" name="Google Shape;262;p27"/>
          <p:cNvPicPr preferRelativeResize="0"/>
          <p:nvPr/>
        </p:nvPicPr>
        <p:blipFill>
          <a:blip r:embed="rId4">
            <a:alphaModFix/>
          </a:blip>
          <a:stretch>
            <a:fillRect/>
          </a:stretch>
        </p:blipFill>
        <p:spPr>
          <a:xfrm>
            <a:off x="3954143" y="1563563"/>
            <a:ext cx="2434684" cy="2305724"/>
          </a:xfrm>
          <a:prstGeom prst="rect">
            <a:avLst/>
          </a:prstGeom>
          <a:noFill/>
          <a:ln>
            <a:noFill/>
          </a:ln>
        </p:spPr>
      </p:pic>
      <p:pic>
        <p:nvPicPr>
          <p:cNvPr id="263" name="Google Shape;263;p27"/>
          <p:cNvPicPr preferRelativeResize="0"/>
          <p:nvPr/>
        </p:nvPicPr>
        <p:blipFill>
          <a:blip r:embed="rId5">
            <a:alphaModFix/>
          </a:blip>
          <a:stretch>
            <a:fillRect/>
          </a:stretch>
        </p:blipFill>
        <p:spPr>
          <a:xfrm>
            <a:off x="6472300" y="1563575"/>
            <a:ext cx="2434676" cy="2334814"/>
          </a:xfrm>
          <a:prstGeom prst="rect">
            <a:avLst/>
          </a:prstGeom>
          <a:noFill/>
          <a:ln>
            <a:noFill/>
          </a:ln>
        </p:spPr>
      </p:pic>
      <p:sp>
        <p:nvSpPr>
          <p:cNvPr id="264" name="Google Shape;264;p27"/>
          <p:cNvSpPr txBox="1"/>
          <p:nvPr/>
        </p:nvSpPr>
        <p:spPr>
          <a:xfrm>
            <a:off x="2391288" y="4034200"/>
            <a:ext cx="615600" cy="406800"/>
          </a:xfrm>
          <a:prstGeom prst="rect">
            <a:avLst/>
          </a:prstGeom>
          <a:noFill/>
          <a:ln cap="flat" cmpd="sng" w="19050">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accent5"/>
                </a:solidFill>
                <a:latin typeface="Open Sans"/>
                <a:ea typeface="Open Sans"/>
                <a:cs typeface="Open Sans"/>
                <a:sym typeface="Open Sans"/>
              </a:rPr>
              <a:t>SVM</a:t>
            </a:r>
            <a:endParaRPr b="1" sz="1500">
              <a:solidFill>
                <a:schemeClr val="accent5"/>
              </a:solidFill>
              <a:latin typeface="Open Sans"/>
              <a:ea typeface="Open Sans"/>
              <a:cs typeface="Open Sans"/>
              <a:sym typeface="Open Sans"/>
            </a:endParaRPr>
          </a:p>
          <a:p>
            <a:pPr indent="0" lvl="0" marL="0" rtl="0" algn="l">
              <a:spcBef>
                <a:spcPts val="0"/>
              </a:spcBef>
              <a:spcAft>
                <a:spcPts val="0"/>
              </a:spcAft>
              <a:buNone/>
            </a:pPr>
            <a:r>
              <a:t/>
            </a:r>
            <a:endParaRPr b="1" sz="1500">
              <a:solidFill>
                <a:schemeClr val="accent5"/>
              </a:solidFill>
              <a:latin typeface="Open Sans"/>
              <a:ea typeface="Open Sans"/>
              <a:cs typeface="Open Sans"/>
              <a:sym typeface="Open Sans"/>
            </a:endParaRPr>
          </a:p>
        </p:txBody>
      </p:sp>
      <p:sp>
        <p:nvSpPr>
          <p:cNvPr id="265" name="Google Shape;265;p27"/>
          <p:cNvSpPr txBox="1"/>
          <p:nvPr/>
        </p:nvSpPr>
        <p:spPr>
          <a:xfrm>
            <a:off x="4691788" y="4034200"/>
            <a:ext cx="959400" cy="406800"/>
          </a:xfrm>
          <a:prstGeom prst="rect">
            <a:avLst/>
          </a:prstGeom>
          <a:noFill/>
          <a:ln cap="flat" cmpd="sng" w="19050">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accent6"/>
                </a:solidFill>
                <a:latin typeface="Open Sans"/>
                <a:ea typeface="Open Sans"/>
                <a:cs typeface="Open Sans"/>
                <a:sym typeface="Open Sans"/>
              </a:rPr>
              <a:t>1D-CNN</a:t>
            </a:r>
            <a:endParaRPr b="1" sz="1500">
              <a:solidFill>
                <a:schemeClr val="accent6"/>
              </a:solidFill>
              <a:latin typeface="Open Sans"/>
              <a:ea typeface="Open Sans"/>
              <a:cs typeface="Open Sans"/>
              <a:sym typeface="Open Sans"/>
            </a:endParaRPr>
          </a:p>
        </p:txBody>
      </p:sp>
      <p:sp>
        <p:nvSpPr>
          <p:cNvPr id="266" name="Google Shape;266;p27"/>
          <p:cNvSpPr txBox="1"/>
          <p:nvPr/>
        </p:nvSpPr>
        <p:spPr>
          <a:xfrm>
            <a:off x="7209938" y="4034200"/>
            <a:ext cx="959400" cy="406800"/>
          </a:xfrm>
          <a:prstGeom prst="rect">
            <a:avLst/>
          </a:prstGeom>
          <a:noFill/>
          <a:ln cap="flat" cmpd="sng" w="19050">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accent6"/>
                </a:solidFill>
                <a:latin typeface="Open Sans"/>
                <a:ea typeface="Open Sans"/>
                <a:cs typeface="Open Sans"/>
                <a:sym typeface="Open Sans"/>
              </a:rPr>
              <a:t>2D-CNN</a:t>
            </a:r>
            <a:endParaRPr b="1" sz="1500">
              <a:solidFill>
                <a:schemeClr val="accent6"/>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8"/>
          <p:cNvSpPr txBox="1"/>
          <p:nvPr>
            <p:ph idx="1" type="body"/>
          </p:nvPr>
        </p:nvSpPr>
        <p:spPr>
          <a:xfrm>
            <a:off x="1788319" y="617935"/>
            <a:ext cx="4412400" cy="484500"/>
          </a:xfrm>
          <a:prstGeom prst="rect">
            <a:avLst/>
          </a:prstGeom>
        </p:spPr>
        <p:txBody>
          <a:bodyPr anchorCtr="0" anchor="ctr" bIns="34275" lIns="34275" spcFirstLastPara="1" rIns="34275" wrap="square" tIns="34275">
            <a:normAutofit/>
          </a:bodyPr>
          <a:lstStyle/>
          <a:p>
            <a:pPr indent="0" lvl="0" marL="0" rtl="0" algn="l">
              <a:lnSpc>
                <a:spcPct val="100000"/>
              </a:lnSpc>
              <a:spcBef>
                <a:spcPts val="0"/>
              </a:spcBef>
              <a:spcAft>
                <a:spcPts val="0"/>
              </a:spcAft>
              <a:buNone/>
            </a:pPr>
            <a:r>
              <a:rPr lang="en" sz="2000"/>
              <a:t>Conclusion</a:t>
            </a:r>
            <a:endParaRPr sz="3300"/>
          </a:p>
        </p:txBody>
      </p:sp>
      <p:sp>
        <p:nvSpPr>
          <p:cNvPr id="272" name="Google Shape;272;p28"/>
          <p:cNvSpPr/>
          <p:nvPr>
            <p:ph idx="2" type="chart"/>
          </p:nvPr>
        </p:nvSpPr>
        <p:spPr>
          <a:xfrm>
            <a:off x="1788325" y="1389350"/>
            <a:ext cx="6886800" cy="1041600"/>
          </a:xfrm>
          <a:prstGeom prst="rect">
            <a:avLst/>
          </a:prstGeom>
        </p:spPr>
        <p:txBody>
          <a:bodyPr anchorCtr="0" anchor="t" bIns="34275" lIns="34275" spcFirstLastPara="1" rIns="34275" wrap="square" tIns="34275">
            <a:noAutofit/>
          </a:bodyPr>
          <a:lstStyle/>
          <a:p>
            <a:pPr indent="0" lvl="0" marL="0" rtl="0" algn="l">
              <a:spcBef>
                <a:spcPts val="800"/>
              </a:spcBef>
              <a:spcAft>
                <a:spcPts val="0"/>
              </a:spcAft>
              <a:buNone/>
            </a:pPr>
            <a:r>
              <a:rPr b="1" lang="en">
                <a:latin typeface="Open Sans"/>
                <a:ea typeface="Open Sans"/>
                <a:cs typeface="Open Sans"/>
                <a:sym typeface="Open Sans"/>
              </a:rPr>
              <a:t>A</a:t>
            </a:r>
            <a:r>
              <a:rPr b="1" lang="en">
                <a:latin typeface="Open Sans"/>
                <a:ea typeface="Open Sans"/>
                <a:cs typeface="Open Sans"/>
                <a:sym typeface="Open Sans"/>
              </a:rPr>
              <a:t>im 1:</a:t>
            </a:r>
            <a:r>
              <a:rPr lang="en"/>
              <a:t> </a:t>
            </a:r>
            <a:r>
              <a:rPr b="1" lang="en">
                <a:latin typeface="Open Sans"/>
                <a:ea typeface="Open Sans"/>
                <a:cs typeface="Open Sans"/>
                <a:sym typeface="Open Sans"/>
              </a:rPr>
              <a:t>Identify a set of </a:t>
            </a:r>
            <a:r>
              <a:rPr b="1" lang="en">
                <a:latin typeface="Open Sans"/>
                <a:ea typeface="Open Sans"/>
                <a:cs typeface="Open Sans"/>
                <a:sym typeface="Open Sans"/>
              </a:rPr>
              <a:t>gene expression biomarkers for high-risk and low-risk MCI to AD dementia prognosis</a:t>
            </a:r>
            <a:endParaRPr b="1">
              <a:latin typeface="Open Sans"/>
              <a:ea typeface="Open Sans"/>
              <a:cs typeface="Open Sans"/>
              <a:sym typeface="Open Sans"/>
            </a:endParaRPr>
          </a:p>
          <a:p>
            <a:pPr indent="0" lvl="0" marL="0" rtl="0" algn="l">
              <a:spcBef>
                <a:spcPts val="800"/>
              </a:spcBef>
              <a:spcAft>
                <a:spcPts val="0"/>
              </a:spcAft>
              <a:buNone/>
            </a:pPr>
            <a:r>
              <a:rPr lang="en"/>
              <a:t>What we found: Fam118A and IGKV2D-29 are two biomarkers that we can use to </a:t>
            </a:r>
            <a:r>
              <a:rPr lang="en"/>
              <a:t>categorize</a:t>
            </a:r>
            <a:r>
              <a:rPr lang="en"/>
              <a:t> MCI to AD dementia prognosis</a:t>
            </a:r>
            <a:endParaRPr/>
          </a:p>
        </p:txBody>
      </p:sp>
      <p:sp>
        <p:nvSpPr>
          <p:cNvPr id="273" name="Google Shape;273;p28"/>
          <p:cNvSpPr txBox="1"/>
          <p:nvPr/>
        </p:nvSpPr>
        <p:spPr>
          <a:xfrm>
            <a:off x="1717950" y="2571750"/>
            <a:ext cx="6886800" cy="1326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800"/>
              </a:spcBef>
              <a:spcAft>
                <a:spcPts val="0"/>
              </a:spcAft>
              <a:buNone/>
            </a:pPr>
            <a:r>
              <a:rPr b="1" lang="en" sz="1500">
                <a:solidFill>
                  <a:srgbClr val="5D5D5D"/>
                </a:solidFill>
                <a:latin typeface="Open Sans"/>
                <a:ea typeface="Open Sans"/>
                <a:cs typeface="Open Sans"/>
                <a:sym typeface="Open Sans"/>
              </a:rPr>
              <a:t>Aim 2: Compare the performance of predictive models between machine learning and deep learning approaches</a:t>
            </a:r>
            <a:endParaRPr b="1" sz="1500">
              <a:solidFill>
                <a:srgbClr val="5D5D5D"/>
              </a:solidFill>
              <a:latin typeface="Open Sans"/>
              <a:ea typeface="Open Sans"/>
              <a:cs typeface="Open Sans"/>
              <a:sym typeface="Open Sans"/>
            </a:endParaRPr>
          </a:p>
          <a:p>
            <a:pPr indent="0" lvl="0" marL="0" rtl="0" algn="l">
              <a:lnSpc>
                <a:spcPct val="90000"/>
              </a:lnSpc>
              <a:spcBef>
                <a:spcPts val="800"/>
              </a:spcBef>
              <a:spcAft>
                <a:spcPts val="0"/>
              </a:spcAft>
              <a:buNone/>
            </a:pPr>
            <a:r>
              <a:rPr lang="en" sz="1500">
                <a:solidFill>
                  <a:srgbClr val="5D5D5D"/>
                </a:solidFill>
                <a:latin typeface="Open Sans Light"/>
                <a:ea typeface="Open Sans Light"/>
                <a:cs typeface="Open Sans Light"/>
                <a:sym typeface="Open Sans Light"/>
              </a:rPr>
              <a:t>What</a:t>
            </a:r>
            <a:r>
              <a:rPr lang="en" sz="1500">
                <a:solidFill>
                  <a:srgbClr val="5D5D5D"/>
                </a:solidFill>
                <a:latin typeface="Open Sans Light"/>
                <a:ea typeface="Open Sans Light"/>
                <a:cs typeface="Open Sans Light"/>
                <a:sym typeface="Open Sans Light"/>
              </a:rPr>
              <a:t> we found: After comparing evaluation performances, 1D-CNN is likely the best model to use, but features from the SVM and 2D-CNN models can be </a:t>
            </a:r>
            <a:r>
              <a:rPr lang="en" sz="1500">
                <a:solidFill>
                  <a:srgbClr val="5D5D5D"/>
                </a:solidFill>
                <a:latin typeface="Open Sans Light"/>
                <a:ea typeface="Open Sans Light"/>
                <a:cs typeface="Open Sans Light"/>
                <a:sym typeface="Open Sans Light"/>
              </a:rPr>
              <a:t>incorporated</a:t>
            </a:r>
            <a:r>
              <a:rPr lang="en" sz="1500">
                <a:solidFill>
                  <a:srgbClr val="5D5D5D"/>
                </a:solidFill>
                <a:latin typeface="Open Sans Light"/>
                <a:ea typeface="Open Sans Light"/>
                <a:cs typeface="Open Sans Light"/>
                <a:sym typeface="Open Sans Light"/>
              </a:rPr>
              <a:t> to improve model accuracy, </a:t>
            </a:r>
            <a:r>
              <a:rPr lang="en" sz="1500">
                <a:solidFill>
                  <a:srgbClr val="5D5D5D"/>
                </a:solidFill>
                <a:latin typeface="Open Sans Light"/>
                <a:ea typeface="Open Sans Light"/>
                <a:cs typeface="Open Sans Light"/>
                <a:sym typeface="Open Sans Light"/>
              </a:rPr>
              <a:t>sensitivity</a:t>
            </a:r>
            <a:r>
              <a:rPr lang="en" sz="1500">
                <a:solidFill>
                  <a:srgbClr val="5D5D5D"/>
                </a:solidFill>
                <a:latin typeface="Open Sans Light"/>
                <a:ea typeface="Open Sans Light"/>
                <a:cs typeface="Open Sans Light"/>
                <a:sym typeface="Open Sans Light"/>
              </a:rPr>
              <a:t>, and </a:t>
            </a:r>
            <a:r>
              <a:rPr lang="en" sz="1500">
                <a:solidFill>
                  <a:srgbClr val="5D5D5D"/>
                </a:solidFill>
                <a:latin typeface="Open Sans Light"/>
                <a:ea typeface="Open Sans Light"/>
                <a:cs typeface="Open Sans Light"/>
                <a:sym typeface="Open Sans Light"/>
              </a:rPr>
              <a:t>specificity</a:t>
            </a:r>
            <a:r>
              <a:rPr lang="en" sz="1500">
                <a:solidFill>
                  <a:srgbClr val="5D5D5D"/>
                </a:solidFill>
                <a:latin typeface="Open Sans Light"/>
                <a:ea typeface="Open Sans Light"/>
                <a:cs typeface="Open Sans Light"/>
                <a:sym typeface="Open Sans Light"/>
              </a:rPr>
              <a:t> </a:t>
            </a:r>
            <a:endParaRPr sz="1500">
              <a:solidFill>
                <a:srgbClr val="5D5D5D"/>
              </a:solidFill>
              <a:latin typeface="Open Sans Light"/>
              <a:ea typeface="Open Sans Light"/>
              <a:cs typeface="Open Sans Light"/>
              <a:sym typeface="Open Sans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9"/>
          <p:cNvSpPr/>
          <p:nvPr>
            <p:ph idx="2" type="chart"/>
          </p:nvPr>
        </p:nvSpPr>
        <p:spPr>
          <a:xfrm>
            <a:off x="1722375" y="1312300"/>
            <a:ext cx="6873600" cy="2519400"/>
          </a:xfrm>
          <a:prstGeom prst="rect">
            <a:avLst/>
          </a:prstGeom>
        </p:spPr>
        <p:txBody>
          <a:bodyPr anchorCtr="0" anchor="t" bIns="34275" lIns="34275" spcFirstLastPara="1" rIns="34275" wrap="square" tIns="34275">
            <a:noAutofit/>
          </a:bodyPr>
          <a:lstStyle/>
          <a:p>
            <a:pPr indent="-273050" lvl="0" marL="457200" rtl="0" algn="l">
              <a:lnSpc>
                <a:spcPct val="150000"/>
              </a:lnSpc>
              <a:spcBef>
                <a:spcPts val="0"/>
              </a:spcBef>
              <a:spcAft>
                <a:spcPts val="0"/>
              </a:spcAft>
              <a:buClr>
                <a:srgbClr val="1B1C1D"/>
              </a:buClr>
              <a:buSzPts val="700"/>
              <a:buFont typeface="Open Sans"/>
              <a:buAutoNum type="arabicPeriod"/>
            </a:pPr>
            <a:r>
              <a:rPr lang="en" sz="700">
                <a:solidFill>
                  <a:srgbClr val="1B1C1D"/>
                </a:solidFill>
                <a:highlight>
                  <a:srgbClr val="FFFFFF"/>
                </a:highlight>
                <a:latin typeface="Open Sans"/>
                <a:ea typeface="Open Sans"/>
                <a:cs typeface="Open Sans"/>
                <a:sym typeface="Open Sans"/>
              </a:rPr>
              <a:t>Mian M, Tahiri J, Eldin R, Altabaa M, Sehar U, Reddy PH. Overlooked cases of mild cognitive impairment: Implications to early Alzheimer's disease. Ageing Res Rev. 2024 Jul;98:102335. doi: 10.1016/j.arr.2024.102335. Epub 2024 May 12. PMID: 38744405; PMCID: PMC11180381.</a:t>
            </a:r>
            <a:endParaRPr sz="700">
              <a:solidFill>
                <a:srgbClr val="1B1C1D"/>
              </a:solidFill>
              <a:highlight>
                <a:srgbClr val="FFFFFF"/>
              </a:highlight>
              <a:latin typeface="Open Sans"/>
              <a:ea typeface="Open Sans"/>
              <a:cs typeface="Open Sans"/>
              <a:sym typeface="Open Sans"/>
            </a:endParaRPr>
          </a:p>
          <a:p>
            <a:pPr indent="-273050" lvl="0" marL="457200" rtl="0" algn="l">
              <a:lnSpc>
                <a:spcPct val="150000"/>
              </a:lnSpc>
              <a:spcBef>
                <a:spcPts val="0"/>
              </a:spcBef>
              <a:spcAft>
                <a:spcPts val="0"/>
              </a:spcAft>
              <a:buClr>
                <a:srgbClr val="1B1C1D"/>
              </a:buClr>
              <a:buSzPts val="700"/>
              <a:buFont typeface="Open Sans"/>
              <a:buAutoNum type="arabicPeriod"/>
            </a:pPr>
            <a:r>
              <a:rPr lang="en" sz="700">
                <a:solidFill>
                  <a:srgbClr val="1B1C1D"/>
                </a:solidFill>
                <a:highlight>
                  <a:srgbClr val="FFFFFF"/>
                </a:highlight>
                <a:latin typeface="Open Sans"/>
                <a:ea typeface="Open Sans"/>
                <a:cs typeface="Open Sans"/>
                <a:sym typeface="Open Sans"/>
              </a:rPr>
              <a:t>Petersen RC. Mild cognitive impairment as a diagnostic entity. J Intern Med. 2004 Sep;256(3):183-94. doi: 10.1111/j.1365-2796.2004.01388.x. PMID: 15324362.</a:t>
            </a:r>
            <a:endParaRPr sz="700">
              <a:solidFill>
                <a:srgbClr val="1B1C1D"/>
              </a:solidFill>
              <a:highlight>
                <a:srgbClr val="FFFFFF"/>
              </a:highlight>
              <a:latin typeface="Open Sans"/>
              <a:ea typeface="Open Sans"/>
              <a:cs typeface="Open Sans"/>
              <a:sym typeface="Open Sans"/>
            </a:endParaRPr>
          </a:p>
          <a:p>
            <a:pPr indent="-273050" lvl="0" marL="457200" rtl="0" algn="l">
              <a:lnSpc>
                <a:spcPct val="150000"/>
              </a:lnSpc>
              <a:spcBef>
                <a:spcPts val="0"/>
              </a:spcBef>
              <a:spcAft>
                <a:spcPts val="0"/>
              </a:spcAft>
              <a:buClr>
                <a:srgbClr val="1B1C1D"/>
              </a:buClr>
              <a:buSzPts val="700"/>
              <a:buFont typeface="Open Sans"/>
              <a:buAutoNum type="arabicPeriod"/>
            </a:pPr>
            <a:r>
              <a:rPr lang="en" sz="700">
                <a:solidFill>
                  <a:srgbClr val="1B1C1D"/>
                </a:solidFill>
                <a:highlight>
                  <a:srgbClr val="FFFFFF"/>
                </a:highlight>
                <a:latin typeface="Open Sans"/>
                <a:ea typeface="Open Sans"/>
                <a:cs typeface="Open Sans"/>
                <a:sym typeface="Open Sans"/>
              </a:rPr>
              <a:t>Di Costanzo A, Paris D, Melck D, Angiolillo A, Corso G, Maniscalco M, et al. Blood biomarkers indicate that the preclinical stages of Alzheimer’s disease present overlapping molecular features. Sci Rep. 2020;10:15612.</a:t>
            </a:r>
            <a:endParaRPr sz="700">
              <a:solidFill>
                <a:srgbClr val="1B1C1D"/>
              </a:solidFill>
              <a:highlight>
                <a:srgbClr val="FFFFFF"/>
              </a:highlight>
              <a:latin typeface="Open Sans"/>
              <a:ea typeface="Open Sans"/>
              <a:cs typeface="Open Sans"/>
              <a:sym typeface="Open Sans"/>
            </a:endParaRPr>
          </a:p>
          <a:p>
            <a:pPr indent="-273050" lvl="0" marL="457200" rtl="0" algn="l">
              <a:lnSpc>
                <a:spcPct val="150000"/>
              </a:lnSpc>
              <a:spcBef>
                <a:spcPts val="0"/>
              </a:spcBef>
              <a:spcAft>
                <a:spcPts val="0"/>
              </a:spcAft>
              <a:buClr>
                <a:srgbClr val="1B1C1D"/>
              </a:buClr>
              <a:buSzPts val="700"/>
              <a:buFont typeface="Open Sans"/>
              <a:buAutoNum type="arabicPeriod"/>
            </a:pPr>
            <a:r>
              <a:rPr lang="en" sz="700">
                <a:solidFill>
                  <a:srgbClr val="1B1C1D"/>
                </a:solidFill>
                <a:highlight>
                  <a:srgbClr val="FFFFFF"/>
                </a:highlight>
                <a:latin typeface="Open Sans"/>
                <a:ea typeface="Open Sans"/>
                <a:cs typeface="Open Sans"/>
                <a:sym typeface="Open Sans"/>
              </a:rPr>
              <a:t>Li X, Wang H, Long J, Pan G, He T, Anichtchik O, et al. Systematic analysis and biomarker study for Alzheimer’s disease. Sci Rep. 2018;8:17394.</a:t>
            </a:r>
            <a:endParaRPr sz="700">
              <a:solidFill>
                <a:srgbClr val="1B1C1D"/>
              </a:solidFill>
              <a:highlight>
                <a:srgbClr val="FFFFFF"/>
              </a:highlight>
              <a:latin typeface="Open Sans"/>
              <a:ea typeface="Open Sans"/>
              <a:cs typeface="Open Sans"/>
              <a:sym typeface="Open Sans"/>
            </a:endParaRPr>
          </a:p>
          <a:p>
            <a:pPr indent="-273050" lvl="0" marL="457200" rtl="0" algn="l">
              <a:lnSpc>
                <a:spcPct val="150000"/>
              </a:lnSpc>
              <a:spcBef>
                <a:spcPts val="0"/>
              </a:spcBef>
              <a:spcAft>
                <a:spcPts val="0"/>
              </a:spcAft>
              <a:buClr>
                <a:srgbClr val="1B1C1D"/>
              </a:buClr>
              <a:buSzPts val="700"/>
              <a:buFont typeface="Open Sans"/>
              <a:buAutoNum type="arabicPeriod"/>
            </a:pPr>
            <a:r>
              <a:rPr lang="en" sz="700">
                <a:solidFill>
                  <a:srgbClr val="1B1C1D"/>
                </a:solidFill>
                <a:highlight>
                  <a:srgbClr val="FFFFFF"/>
                </a:highlight>
                <a:latin typeface="Open Sans"/>
                <a:ea typeface="Open Sans"/>
                <a:cs typeface="Open Sans"/>
                <a:sym typeface="Open Sans"/>
              </a:rPr>
              <a:t>Karaman BK, Mormino EC, Sabuncu MR. Machine learning based multi-modal prediction of future decline toward Alzheimer’s disease: an empirical study. PLoS ONE. 2022;17:e0277322.</a:t>
            </a:r>
            <a:endParaRPr sz="700">
              <a:solidFill>
                <a:srgbClr val="1B1C1D"/>
              </a:solidFill>
              <a:highlight>
                <a:srgbClr val="FFFFFF"/>
              </a:highlight>
              <a:latin typeface="Open Sans"/>
              <a:ea typeface="Open Sans"/>
              <a:cs typeface="Open Sans"/>
              <a:sym typeface="Open Sans"/>
            </a:endParaRPr>
          </a:p>
          <a:p>
            <a:pPr indent="-273050" lvl="0" marL="457200" rtl="0" algn="l">
              <a:lnSpc>
                <a:spcPct val="150000"/>
              </a:lnSpc>
              <a:spcBef>
                <a:spcPts val="0"/>
              </a:spcBef>
              <a:spcAft>
                <a:spcPts val="0"/>
              </a:spcAft>
              <a:buClr>
                <a:srgbClr val="1B1C1D"/>
              </a:buClr>
              <a:buSzPts val="700"/>
              <a:buFont typeface="Open Sans"/>
              <a:buAutoNum type="arabicPeriod"/>
            </a:pPr>
            <a:r>
              <a:rPr lang="en" sz="700">
                <a:solidFill>
                  <a:srgbClr val="1B1C1D"/>
                </a:solidFill>
                <a:highlight>
                  <a:srgbClr val="FFFFFF"/>
                </a:highlight>
                <a:latin typeface="Open Sans"/>
                <a:ea typeface="Open Sans"/>
                <a:cs typeface="Open Sans"/>
                <a:sym typeface="Open Sans"/>
              </a:rPr>
              <a:t>Mian M, Tahiri J, Eldin R, Altabaa M, Sehar U, Reddy PH. Overlooked cases of mild cognitive impairment: Implications to early Alzheimer's disease. Ageing Res Rev. 2024 Jul;98:102335. doi: 10.1016/j.arr.2024.102335. Epub 2024 May 12. PMID: 38744405; PMCID: PMC11180381.</a:t>
            </a:r>
            <a:endParaRPr sz="700">
              <a:solidFill>
                <a:srgbClr val="1B1C1D"/>
              </a:solidFill>
              <a:highlight>
                <a:srgbClr val="FFFFFF"/>
              </a:highlight>
              <a:latin typeface="Open Sans"/>
              <a:ea typeface="Open Sans"/>
              <a:cs typeface="Open Sans"/>
              <a:sym typeface="Open Sans"/>
            </a:endParaRPr>
          </a:p>
          <a:p>
            <a:pPr indent="-273050" lvl="0" marL="457200" rtl="0" algn="l">
              <a:lnSpc>
                <a:spcPct val="150000"/>
              </a:lnSpc>
              <a:spcBef>
                <a:spcPts val="0"/>
              </a:spcBef>
              <a:spcAft>
                <a:spcPts val="0"/>
              </a:spcAft>
              <a:buClr>
                <a:srgbClr val="1B1C1D"/>
              </a:buClr>
              <a:buSzPts val="700"/>
              <a:buFont typeface="Open Sans"/>
              <a:buAutoNum type="arabicPeriod"/>
            </a:pPr>
            <a:r>
              <a:rPr lang="en" sz="700">
                <a:solidFill>
                  <a:srgbClr val="1B1C1D"/>
                </a:solidFill>
                <a:highlight>
                  <a:srgbClr val="FFFFFF"/>
                </a:highlight>
                <a:latin typeface="Open Sans"/>
                <a:ea typeface="Open Sans"/>
                <a:cs typeface="Open Sans"/>
                <a:sym typeface="Open Sans"/>
              </a:rPr>
              <a:t>Huang YL, Tsai TH, Shen ZQ, Chan YH et al. Transcriptomic predictors of rapid progression from mild cognitive impairment to Alzheimer's disease. Alzheimers Res Ther 2025 Jan 3;17(1):3. PMID: 39754267</a:t>
            </a:r>
            <a:endParaRPr sz="700">
              <a:solidFill>
                <a:srgbClr val="1B1C1D"/>
              </a:solidFill>
              <a:highlight>
                <a:srgbClr val="FFFFFF"/>
              </a:highlight>
              <a:latin typeface="Open Sans"/>
              <a:ea typeface="Open Sans"/>
              <a:cs typeface="Open Sans"/>
              <a:sym typeface="Open Sans"/>
            </a:endParaRPr>
          </a:p>
          <a:p>
            <a:pPr indent="-273050" lvl="0" marL="457200" rtl="0" algn="l">
              <a:lnSpc>
                <a:spcPct val="150000"/>
              </a:lnSpc>
              <a:spcBef>
                <a:spcPts val="0"/>
              </a:spcBef>
              <a:spcAft>
                <a:spcPts val="0"/>
              </a:spcAft>
              <a:buClr>
                <a:srgbClr val="1B1C1D"/>
              </a:buClr>
              <a:buSzPts val="700"/>
              <a:buFont typeface="Open Sans"/>
              <a:buAutoNum type="arabicPeriod"/>
            </a:pPr>
            <a:r>
              <a:rPr lang="en" sz="700">
                <a:solidFill>
                  <a:srgbClr val="1B1C1D"/>
                </a:solidFill>
                <a:highlight>
                  <a:srgbClr val="FFFFFF"/>
                </a:highlight>
                <a:latin typeface="Open Sans"/>
                <a:ea typeface="Open Sans"/>
                <a:cs typeface="Open Sans"/>
                <a:sym typeface="Open Sans"/>
              </a:rPr>
              <a:t>Iga JI, Yoshino Y, Ozaki T, Tachibana A, Kumon H, Funahashi Y, Mori H, Ueno M, Ozaki Y, Yamazaki K, Ochi S, Yamashita M, Ueno SI. Blood RNA transcripts show changes in inflammation and lipid metabolism in Alzheimer's disease and mitochondrial function in mild cognitive impairment. J Alzheimers Dis Rep. 2024 Dec 23;8(1):1690-1703. doi: 10.1177/25424823241307878. PMID: 40034360; PMCID: PMC11863738.</a:t>
            </a:r>
            <a:endParaRPr sz="700">
              <a:solidFill>
                <a:srgbClr val="1B1C1D"/>
              </a:solidFill>
              <a:highlight>
                <a:srgbClr val="FFFFFF"/>
              </a:highlight>
              <a:latin typeface="Open Sans"/>
              <a:ea typeface="Open Sans"/>
              <a:cs typeface="Open Sans"/>
              <a:sym typeface="Open Sans"/>
            </a:endParaRPr>
          </a:p>
          <a:p>
            <a:pPr indent="-273050" lvl="0" marL="457200" rtl="0" algn="l">
              <a:lnSpc>
                <a:spcPct val="150000"/>
              </a:lnSpc>
              <a:spcBef>
                <a:spcPts val="0"/>
              </a:spcBef>
              <a:spcAft>
                <a:spcPts val="0"/>
              </a:spcAft>
              <a:buClr>
                <a:srgbClr val="1B1C1D"/>
              </a:buClr>
              <a:buSzPts val="700"/>
              <a:buFont typeface="Open Sans"/>
              <a:buAutoNum type="arabicPeriod"/>
            </a:pPr>
            <a:r>
              <a:rPr lang="en" sz="700">
                <a:solidFill>
                  <a:srgbClr val="1B1C1D"/>
                </a:solidFill>
                <a:highlight>
                  <a:srgbClr val="FFFFFF"/>
                </a:highlight>
                <a:latin typeface="Open Sans"/>
                <a:ea typeface="Open Sans"/>
                <a:cs typeface="Open Sans"/>
                <a:sym typeface="Open Sans"/>
              </a:rPr>
              <a:t>T. Khorshed, M. N. Moustafa and A. Rafea, "Deep Learning for Multi-Tissue Cancer Classification of Gene Expressions (GeneXNet)," in IEEE Access, vol. 8, pp. 90615-90629, 2020, doi: 10.1109/ACCESS.2020.2992907</a:t>
            </a:r>
            <a:endParaRPr sz="700">
              <a:solidFill>
                <a:srgbClr val="1B1C1D"/>
              </a:solidFill>
              <a:highlight>
                <a:srgbClr val="FFFFFF"/>
              </a:highlight>
              <a:latin typeface="Open Sans"/>
              <a:ea typeface="Open Sans"/>
              <a:cs typeface="Open Sans"/>
              <a:sym typeface="Open Sans"/>
            </a:endParaRPr>
          </a:p>
          <a:p>
            <a:pPr indent="-273050" lvl="0" marL="457200" rtl="0" algn="l">
              <a:lnSpc>
                <a:spcPct val="150000"/>
              </a:lnSpc>
              <a:spcBef>
                <a:spcPts val="0"/>
              </a:spcBef>
              <a:spcAft>
                <a:spcPts val="0"/>
              </a:spcAft>
              <a:buClr>
                <a:srgbClr val="1B1C1D"/>
              </a:buClr>
              <a:buSzPts val="700"/>
              <a:buFont typeface="Open Sans"/>
              <a:buAutoNum type="arabicPeriod"/>
            </a:pPr>
            <a:r>
              <a:rPr lang="en" sz="700">
                <a:solidFill>
                  <a:srgbClr val="1B1C1D"/>
                </a:solidFill>
                <a:highlight>
                  <a:srgbClr val="FFFFFF"/>
                </a:highlight>
                <a:latin typeface="Open Sans"/>
                <a:ea typeface="Open Sans"/>
                <a:cs typeface="Open Sans"/>
                <a:sym typeface="Open Sans"/>
              </a:rPr>
              <a:t>Mostavi M, Chiu YC, Huang Y, Chen Y. Convolutional neural network models for cancer type prediction based on gene expression. BMC Med Genomics. 2020 Apr 3;13(Suppl 5):44. doi: 10.1186/s12920-020-0677-2. PMID: 32241303; PMCID: PMC7119277.</a:t>
            </a:r>
            <a:endParaRPr sz="700"/>
          </a:p>
        </p:txBody>
      </p:sp>
      <p:sp>
        <p:nvSpPr>
          <p:cNvPr id="279" name="Google Shape;279;p29"/>
          <p:cNvSpPr txBox="1"/>
          <p:nvPr>
            <p:ph idx="1" type="body"/>
          </p:nvPr>
        </p:nvSpPr>
        <p:spPr>
          <a:xfrm>
            <a:off x="1788319" y="617935"/>
            <a:ext cx="4412400" cy="484500"/>
          </a:xfrm>
          <a:prstGeom prst="rect">
            <a:avLst/>
          </a:prstGeom>
        </p:spPr>
        <p:txBody>
          <a:bodyPr anchorCtr="0" anchor="ctr" bIns="34275" lIns="34275" spcFirstLastPara="1" rIns="34275" wrap="square" tIns="34275">
            <a:normAutofit/>
          </a:bodyPr>
          <a:lstStyle/>
          <a:p>
            <a:pPr indent="0" lvl="0" marL="0" rtl="0" algn="l">
              <a:spcBef>
                <a:spcPts val="800"/>
              </a:spcBef>
              <a:spcAft>
                <a:spcPts val="0"/>
              </a:spcAft>
              <a:buNone/>
            </a:pPr>
            <a:r>
              <a:rPr lang="en" sz="2000"/>
              <a:t>References</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MU">
      <a:dk1>
        <a:srgbClr val="404040"/>
      </a:dk1>
      <a:lt1>
        <a:srgbClr val="FFFFFF"/>
      </a:lt1>
      <a:dk2>
        <a:srgbClr val="898989"/>
      </a:dk2>
      <a:lt2>
        <a:srgbClr val="BABABA"/>
      </a:lt2>
      <a:accent1>
        <a:srgbClr val="BB0000"/>
      </a:accent1>
      <a:accent2>
        <a:srgbClr val="404040"/>
      </a:accent2>
      <a:accent3>
        <a:srgbClr val="BABABA"/>
      </a:accent3>
      <a:accent4>
        <a:srgbClr val="00337F"/>
      </a:accent4>
      <a:accent5>
        <a:srgbClr val="AA6600"/>
      </a:accent5>
      <a:accent6>
        <a:srgbClr val="006677"/>
      </a:accent6>
      <a:hlink>
        <a:srgbClr val="00337F"/>
      </a:hlink>
      <a:folHlink>
        <a:srgbClr val="AA66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